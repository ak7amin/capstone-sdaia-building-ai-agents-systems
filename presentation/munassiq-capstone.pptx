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 · 25ث] السلام عليكم. مشروعي «المُنسِّق»: مساعد مكتب جمعية — مشرف يوزع على ثلاثة عمال متخصصين، بذاكرة تعيش عبر المحادثات، وبوابة موافقة بشرية قبل أي فعل لا يرتد. كل رقم في هذا العرض وراءه تشغيلة حقيقية ملتقطة في المستودع.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[00:25 · 8ث] أعرض على بنية STAR: الوضع، فالمهمة، فالبناء، فالنتيجة.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[00:33 · 40ث] مكتب الجمعية يستقبل ثلاثة أنواع طلبات يوميًا: أسئلة سياسات، وحجوزات، ومراسلات. كلها يدوية، لا شيء يتذكر تفضيلات أحد، وأخطر خطوة — الإرسال باسم الجمعية — هي الأقل حراسة.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[01:13 · 30ث] روبوت محادثة ساذج يزيد الطين بلة: يجيب عن السياسات من خياله، وينسى كل شيء بين محادثة وأخرى، ويرسل بلا إذن. من هنا جاءت القرارات المعمارية الثلاثة المقابلة.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[01:43 · 6ث] المهمة والقيود التي التزمناها.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[01:49 · 35ث] الروبرك نفسه صار معيار القبول: ثمانية أقسام ولا قسم تحت 40%. وكتبنا خمسة قيود قبل أول سطر كود — أهمها: التوجيه قرار النموذج لا مطابقة كلمات، والذاكرة الطويلة مخزن منفصل يُثبَت عبر المحادثات، ووثائق تركيبية بالكامل التزامًا بخصوصية الجمعية.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[02:24 · 6ث] البناء: الغراف، العمال، الذاكرة، البوابة.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[02:30 · 45ث] المعمارية: نقطة دخول وظيفية واحدة تملك الحالة — checkpointer للسياق القصير وStore دائم للحقائق. جسمها غراء نقي: كل نداء نموذج داخل @task وإلا أعيد تنفيذه عند الاستئناف. التصنيف مخرج مهيكل، والمراسلات تمر بحلقة تقييم قبل بوابة الموافقة، وبقية الطلبات لمشرف Orchestrator-Worker بثلاثة عمال.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[03:15 · 25ث] التوجيه قرار نموذج بمخرج Pydantic يقرؤه الكود. والدليل المطبوع: نداء التحويل ورجوعه — الرحلتان متوقعتان، وهذا حرفيًا ما يطلبه المقيم.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[03:40 · 35ث] خط RAG يقرأ العربية فعلًا — الموديل الافتراضي فشل بصمت واصطدناه باختبار حقيقة مزروعة: سؤال المدة يسترجع «ثلاثة أيام عمل» حرفيًا من وثيقة السياسة. والتبرير المكتوب اختار Agentic RAG لأن العامل هو من يقرر متى يبحث.</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[04:15 · 25ث] الذاكرة الطويلة مخزن SQLite منفصل: نكتب الحقيقة في محادثة، ونقرؤها من محادثة أخرى مختلفة تمامًا — والـtrace يعرض الحقن في memories_used. الاختبار يفحص المخزن نفسه لا صياغة النموذج.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[04:40 · 30ث] بوابة الإنسان: قبل أي إرسال يقف الغراف بـinterrupt عارضًا المسودة، ونص المعتمد البشري يصل الصادر حرفيًا بلا مرور على أي نموذج. الشقان — التوقف والاستئناف — ملتقطان بمخرجيهما.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[05:10 · 30ث] الموثوقية: أربع فئات خطأ لكلٍّ علاجها — وأهم درس حي: المزودون أنفسهم يرمون نزوات مخرج مهيكل؛ رصدنا ثلاثة أشكال فعلية ولففناها بمعيد محاولة واحد موثق.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[05:40 · 25ث] النمط المسمى: Evaluator-Optimizer — صياغة فتقييم بحكم مهيكل فتحسين، بجولتين كحد أقصى وقبل بوابة الموافقة دائمًا. والـtrace كشف مفاجأة: الحَكم أبطأ من الكاتب سبع مرات.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[06:05 · 25ث] التتبع: الاسم الصحيح للمتغير محروس باختبار لأن الخطأ فيه صامت. والقيمة الحقيقية: الـtrace أعطانا قياسات — عنق الزجاجة في التقييم لا الصياغة.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[06:30 · 5ث] النتيجة بالأرقام الموثقة.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[06:35 · 30ث] الأرقام: أربعون اختبارًا، النوتبوك كامل التنفيذ بلا أخطاء، حزمة الإغلاق 14 ناجحًا، والتكلفة صفر تقريبًا. كل ادعاء في العمود الأيسر يقابله ملف أو سجل أو اختبار في الأيمن.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[07:05 · 40ث] أصدق شريحة في العرض: ما علمتنا إياه البيئة الحقيقية. نموذج الدورة 404 فاصطاده سبايك مبكر؛ الحصة المجانية نفدت منتصف البناء ففصلنا الاختبارات الحية وأثبتنا الآليات بلا نماذج؛ النماذج الأصغر سقطت نوعيًا بالدليل؛ ومستضيف بديل ذبذب السلوك فعالجناه بقاعدة توقف وبالتقاط الدليل النهائي على المزود الأصلي. كل حادثة موثقة في سجل التشغيل.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[07:45 · 30ث] طريقة البناء نفسها قابلة للنقل: سبايكات قبل الخطة، نقد رباعي قبل الكود أسقط ثمانية عوائق على الورق، عشر شرائح رأسية لكل منها اختبار أحمر فأخضر، وبوابة فحص تسرب قبل كل دفع — أمسكت مرة اسمي أنا.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[08:15 · 20ث] كل قسم روبرك له صف: ملفه واختباره وخليته في النوتبوك. والمستودع يعمل عندكم: الاختبارات المحلية بلا مفاتيح، ثم الحية، ثم النوتبوك.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[08:35 · 20ث] وما لم نبنه نعلنه: لا خدمة ولا واجهة ولا بريد حقيقي — الروبرك لا يطلبها، وخطتها التالية موثقة. الفجوة الصادقة أرخص من ادعاء يكذّبه مخرجك.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[08:55 · 5ث] شكرًا لكم — أسئلتكم.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A45"/>
        </a:solidFill>
      </p:bgPr>
    </p:bg>
    <p:spTree>
      <p:nvGrpSpPr>
        <p:cNvPr id="1" name=""/>
        <p:cNvGrpSpPr/>
        <p:nvPr/>
      </p:nvGrpSpPr>
      <p:grpSpPr>
        <a:xfrm>
          <a:off x="0" y="0"/>
          <a:ext cx="0" cy="0"/>
          <a:chOff x="0" y="0"/>
          <a:chExt cx="0" cy="0"/>
        </a:xfrm>
      </p:grpSpPr>
      <p:sp>
        <p:nvSpPr>
          <p:cNvPr id="2" name="Text 0"/>
          <p:cNvSpPr/>
          <p:nvPr/>
        </p:nvSpPr>
        <p:spPr>
          <a:xfrm>
            <a:off x="502920" y="457200"/>
            <a:ext cx="8229600" cy="365760"/>
          </a:xfrm>
          <a:prstGeom prst="rect">
            <a:avLst/>
          </a:prstGeom>
          <a:noFill/>
          <a:ln/>
        </p:spPr>
        <p:txBody>
          <a:bodyPr wrap="square" lIns="0" tIns="0" rIns="0" bIns="0" rtlCol="0" anchor="ctr"/>
          <a:lstStyle/>
          <a:p>
            <a:pPr indent="0" marL="0">
              <a:buNone/>
            </a:pPr>
            <a:r>
              <a:rPr lang="en-US" sz="1200" b="1" spc="200" kern="0" dirty="0">
                <a:solidFill>
                  <a:srgbClr val="F2A900"/>
                </a:solidFill>
                <a:latin typeface="Arial" pitchFamily="34" charset="0"/>
                <a:ea typeface="Arial" pitchFamily="34" charset="-122"/>
                <a:cs typeface="Arial" pitchFamily="34" charset="-120"/>
              </a:rPr>
              <a:t>CAPSTONE · TRACK A · SUPERVISOR + WORKERS</a:t>
            </a:r>
            <a:endParaRPr lang="en-US" sz="1200" dirty="0"/>
          </a:p>
        </p:txBody>
      </p:sp>
      <p:sp>
        <p:nvSpPr>
          <p:cNvPr id="3" name="Text 1"/>
          <p:cNvSpPr/>
          <p:nvPr/>
        </p:nvSpPr>
        <p:spPr>
          <a:xfrm>
            <a:off x="502920" y="914400"/>
            <a:ext cx="10515600" cy="17373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Munassiq (المُنسِّق)</a:t>
            </a:r>
            <a:endParaRPr lang="en-US" sz="4200" dirty="0"/>
          </a:p>
          <a:p>
            <a:pPr indent="0" marL="0">
              <a:buNone/>
            </a:pPr>
            <a:r>
              <a:rPr lang="en-US" sz="4200" b="1" dirty="0">
                <a:solidFill>
                  <a:srgbClr val="FFFFFF"/>
                </a:solidFill>
                <a:latin typeface="Arial" pitchFamily="34" charset="0"/>
                <a:ea typeface="Arial" pitchFamily="34" charset="-122"/>
                <a:cs typeface="Arial" pitchFamily="34" charset="-120"/>
              </a:rPr>
              <a:t>Association Office Assistant</a:t>
            </a:r>
            <a:endParaRPr lang="en-US" sz="4200" dirty="0"/>
          </a:p>
        </p:txBody>
      </p:sp>
      <p:sp>
        <p:nvSpPr>
          <p:cNvPr id="4" name="Text 2"/>
          <p:cNvSpPr/>
          <p:nvPr/>
        </p:nvSpPr>
        <p:spPr>
          <a:xfrm>
            <a:off x="502920" y="2743200"/>
            <a:ext cx="9875520" cy="914400"/>
          </a:xfrm>
          <a:prstGeom prst="rect">
            <a:avLst/>
          </a:prstGeom>
          <a:noFill/>
          <a:ln/>
        </p:spPr>
        <p:txBody>
          <a:bodyPr wrap="square" lIns="0" tIns="0" rIns="0" bIns="0" rtlCol="0" anchor="ctr"/>
          <a:lstStyle/>
          <a:p>
            <a:pPr indent="0" marL="0">
              <a:buNone/>
            </a:pPr>
            <a:r>
              <a:rPr lang="en-US" sz="1600" dirty="0">
                <a:solidFill>
                  <a:srgbClr val="C9D3E8"/>
                </a:solidFill>
                <a:latin typeface="Calibri" pitchFamily="34" charset="0"/>
                <a:ea typeface="Calibri" pitchFamily="34" charset="-122"/>
                <a:cs typeface="Calibri" pitchFamily="34" charset="-120"/>
              </a:rPr>
              <a:t>A supervisor and three specialist agents on a LangGraph Functional API core.</a:t>
            </a:r>
            <a:endParaRPr lang="en-US" sz="1600" dirty="0"/>
          </a:p>
          <a:p>
            <a:pPr indent="0" marL="0">
              <a:buNone/>
            </a:pPr>
            <a:r>
              <a:rPr lang="en-US" sz="1600" dirty="0">
                <a:solidFill>
                  <a:srgbClr val="C9D3E8"/>
                </a:solidFill>
                <a:latin typeface="Calibri" pitchFamily="34" charset="0"/>
                <a:ea typeface="Calibri" pitchFamily="34" charset="-122"/>
                <a:cs typeface="Calibri" pitchFamily="34" charset="-120"/>
              </a:rPr>
              <a:t>Every irreversible act waits for a human. Every claim has a captured run behind it.</a:t>
            </a:r>
            <a:endParaRPr lang="en-US" sz="1600" dirty="0"/>
          </a:p>
        </p:txBody>
      </p:sp>
      <p:sp>
        <p:nvSpPr>
          <p:cNvPr id="5" name="Text 3"/>
          <p:cNvSpPr/>
          <p:nvPr/>
        </p:nvSpPr>
        <p:spPr>
          <a:xfrm>
            <a:off x="502920" y="3977640"/>
            <a:ext cx="9144000" cy="457200"/>
          </a:xfrm>
          <a:prstGeom prst="rect">
            <a:avLst/>
          </a:prstGeom>
          <a:noFill/>
          <a:ln/>
        </p:spPr>
        <p:txBody>
          <a:bodyPr wrap="square" lIns="0" tIns="0" rIns="0" bIns="0" rtlCol="0" anchor="ctr"/>
          <a:lstStyle/>
          <a:p>
            <a:pPr indent="0" marL="0">
              <a:buNone/>
            </a:pPr>
            <a:r>
              <a:rPr lang="en-US" sz="1600" b="1" dirty="0">
                <a:solidFill>
                  <a:srgbClr val="F2A900"/>
                </a:solidFill>
                <a:latin typeface="Arial" pitchFamily="34" charset="0"/>
                <a:ea typeface="Arial" pitchFamily="34" charset="-122"/>
                <a:cs typeface="Arial" pitchFamily="34" charset="-120"/>
              </a:rPr>
              <a:t>Abdulaziz Khalid Mulia (leader) — github.com/AK7Amin</a:t>
            </a:r>
            <a:endParaRPr lang="en-US" sz="1600" dirty="0"/>
          </a:p>
        </p:txBody>
      </p:sp>
      <p:sp>
        <p:nvSpPr>
          <p:cNvPr id="6" name="Text 4"/>
          <p:cNvSpPr/>
          <p:nvPr/>
        </p:nvSpPr>
        <p:spPr>
          <a:xfrm>
            <a:off x="502920" y="4526280"/>
            <a:ext cx="10972800" cy="411480"/>
          </a:xfrm>
          <a:prstGeom prst="rect">
            <a:avLst/>
          </a:prstGeom>
          <a:noFill/>
          <a:ln/>
        </p:spPr>
        <p:txBody>
          <a:bodyPr wrap="square" lIns="0" tIns="0" rIns="0" bIns="0" rtlCol="0" anchor="ctr"/>
          <a:lstStyle/>
          <a:p>
            <a:pPr indent="0" marL="0">
              <a:buNone/>
            </a:pPr>
            <a:r>
              <a:rPr lang="en-US" sz="1300" dirty="0">
                <a:solidFill>
                  <a:srgbClr val="C9D3E8"/>
                </a:solidFill>
                <a:latin typeface="Calibri" pitchFamily="34" charset="0"/>
                <a:ea typeface="Calibri" pitchFamily="34" charset="-122"/>
                <a:cs typeface="Calibri" pitchFamily="34" charset="-120"/>
              </a:rPr>
              <a:t>Team: Ali Asiri · Faisal Abdullah Alhaqbani · Moayad Abdullah Badahdah · Ali Taha Alsahad · Zaid Al-Dowsari</a:t>
            </a:r>
            <a:endParaRPr lang="en-US" sz="1300" dirty="0"/>
          </a:p>
        </p:txBody>
      </p:sp>
      <p:sp>
        <p:nvSpPr>
          <p:cNvPr id="7" name="Text 5"/>
          <p:cNvSpPr/>
          <p:nvPr/>
        </p:nvSpPr>
        <p:spPr>
          <a:xfrm>
            <a:off x="502920" y="6035040"/>
            <a:ext cx="10058400" cy="365760"/>
          </a:xfrm>
          <a:prstGeom prst="rect">
            <a:avLst/>
          </a:prstGeom>
          <a:noFill/>
          <a:ln/>
        </p:spPr>
        <p:txBody>
          <a:bodyPr wrap="square" lIns="0" tIns="0" rIns="0" bIns="0" rtlCol="0" anchor="ctr"/>
          <a:lstStyle/>
          <a:p>
            <a:pPr indent="0" marL="0">
              <a:buNone/>
            </a:pPr>
            <a:r>
              <a:rPr lang="en-US" sz="1200" dirty="0">
                <a:solidFill>
                  <a:srgbClr val="9FB0CE"/>
                </a:solidFill>
                <a:latin typeface="Calibri" pitchFamily="34" charset="0"/>
                <a:ea typeface="Calibri" pitchFamily="34" charset="-122"/>
                <a:cs typeface="Calibri" pitchFamily="34" charset="-120"/>
              </a:rPr>
              <a:t>SDAIA Academy — Building AI Agent Systems · Cohort 16–20 August 2026 · Riyadh</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E2A45"/>
        </a:solidFill>
      </p:bgPr>
    </p:bg>
    <p:spTree>
      <p:nvGrpSpPr>
        <p:cNvPr id="1" name=""/>
        <p:cNvGrpSpPr/>
        <p:nvPr/>
      </p:nvGrpSpPr>
      <p:grpSpPr>
        <a:xfrm>
          <a:off x="0" y="0"/>
          <a:ext cx="0" cy="0"/>
          <a:chOff x="0" y="0"/>
          <a:chExt cx="0" cy="0"/>
        </a:xfrm>
      </p:grpSpPr>
      <p:sp>
        <p:nvSpPr>
          <p:cNvPr id="2" name="Text 0"/>
          <p:cNvSpPr/>
          <p:nvPr/>
        </p:nvSpPr>
        <p:spPr>
          <a:xfrm>
            <a:off x="822960" y="1051560"/>
            <a:ext cx="4023360" cy="3108960"/>
          </a:xfrm>
          <a:prstGeom prst="rect">
            <a:avLst/>
          </a:prstGeom>
          <a:noFill/>
          <a:ln/>
        </p:spPr>
        <p:txBody>
          <a:bodyPr wrap="square" lIns="0" tIns="0" rIns="0" bIns="0" rtlCol="0" anchor="ctr"/>
          <a:lstStyle/>
          <a:p>
            <a:pPr indent="0" marL="0">
              <a:buNone/>
            </a:pPr>
            <a:r>
              <a:rPr lang="en-US" sz="22000" b="1" dirty="0">
                <a:solidFill>
                  <a:srgbClr val="F2A900"/>
                </a:solidFill>
                <a:latin typeface="Arial" pitchFamily="34" charset="0"/>
                <a:ea typeface="Arial" pitchFamily="34" charset="-122"/>
                <a:cs typeface="Arial" pitchFamily="34" charset="-120"/>
              </a:rPr>
              <a:t>S</a:t>
            </a:r>
            <a:endParaRPr lang="en-US" sz="22000" dirty="0"/>
          </a:p>
        </p:txBody>
      </p:sp>
      <p:sp>
        <p:nvSpPr>
          <p:cNvPr id="3" name="Text 1"/>
          <p:cNvSpPr/>
          <p:nvPr/>
        </p:nvSpPr>
        <p:spPr>
          <a:xfrm>
            <a:off x="914400" y="4206240"/>
            <a:ext cx="7315200" cy="82296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Situation</a:t>
            </a:r>
            <a:endParaRPr lang="en-US" sz="4000" dirty="0"/>
          </a:p>
        </p:txBody>
      </p:sp>
      <p:sp>
        <p:nvSpPr>
          <p:cNvPr id="4" name="Text 2"/>
          <p:cNvSpPr/>
          <p:nvPr/>
        </p:nvSpPr>
        <p:spPr>
          <a:xfrm>
            <a:off x="914400" y="5029200"/>
            <a:ext cx="9601200" cy="822960"/>
          </a:xfrm>
          <a:prstGeom prst="rect">
            <a:avLst/>
          </a:prstGeom>
          <a:noFill/>
          <a:ln/>
        </p:spPr>
        <p:txBody>
          <a:bodyPr wrap="square" lIns="0" tIns="0" rIns="0" bIns="0" rtlCol="0" anchor="ctr"/>
          <a:lstStyle/>
          <a:p>
            <a:pPr indent="0" marL="0">
              <a:buNone/>
            </a:pPr>
            <a:r>
              <a:rPr lang="en-US" sz="1600" dirty="0">
                <a:solidFill>
                  <a:srgbClr val="C9D3E8"/>
                </a:solidFill>
                <a:latin typeface="Calibri" pitchFamily="34" charset="0"/>
                <a:ea typeface="Calibri" pitchFamily="34" charset="-122"/>
                <a:cs typeface="Calibri" pitchFamily="34" charset="-120"/>
              </a:rPr>
              <a:t>What the office lives today, and why it does not scale.</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02920" y="292608"/>
            <a:ext cx="11183112" cy="777240"/>
          </a:xfrm>
          <a:prstGeom prst="rect">
            <a:avLst/>
          </a:prstGeom>
          <a:noFill/>
          <a:ln/>
        </p:spPr>
        <p:txBody>
          <a:bodyPr wrap="square" lIns="0" tIns="0" rIns="0" bIns="0" rtlCol="0" anchor="ctr"/>
          <a:lstStyle/>
          <a:p>
            <a:pPr algn="l" indent="0" marL="0">
              <a:buNone/>
            </a:pPr>
            <a:r>
              <a:rPr lang="en-US" sz="2700" b="1" dirty="0">
                <a:solidFill>
                  <a:srgbClr val="1E2A45"/>
                </a:solidFill>
                <a:latin typeface="Arial" pitchFamily="34" charset="0"/>
                <a:ea typeface="Arial" pitchFamily="34" charset="-122"/>
                <a:cs typeface="Arial" pitchFamily="34" charset="-120"/>
              </a:rPr>
              <a:t>The office inbox is scattered, manual, and unforgiving</a:t>
            </a:r>
            <a:endParaRPr lang="en-US" sz="27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02920" y="1143000"/>
          <a:ext cx="6492240" cy="914400"/>
        </p:xfrm>
        <a:graphic>
          <a:graphicData uri="http://schemas.openxmlformats.org/drawingml/2006/table">
            <a:tbl>
              <a:tblPr/>
              <a:tblGrid>
                <a:gridCol w="2377440"/>
                <a:gridCol w="2194560"/>
                <a:gridCol w="1920240"/>
              </a:tblGrid>
              <a:tr h="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What arrives daily</a:t>
                      </a:r>
                      <a:endParaRPr lang="en-US" sz="1200" dirty="0">
                        <a:latin typeface="Calibri" charset="0"/>
                        <a:ea typeface="Calibri" charset="0"/>
                        <a:cs typeface="Calibri" charset="0"/>
                      </a:endParaRPr>
                    </a:p>
                  </a:txBody>
                  <a:tcPr marL="36576" marR="36576" marT="36576" marB="36576" anchor="ctr">
                    <a:lnL w="9525" cap="flat" cmpd="sng" algn="ctr">
                      <a:solidFill>
                        <a:srgbClr val="D8DEE9"/>
                      </a:solidFill>
                      <a:prstDash val="solid"/>
                      <a:round/>
                      <a:headEnd type="none" w="med" len="med"/>
                      <a:tailEnd type="none" w="med" len="med"/>
                    </a:lnL>
                    <a:lnR w="9525" cap="flat" cmpd="sng" algn="ctr">
                      <a:solidFill>
                        <a:srgbClr val="D8DEE9"/>
                      </a:solidFill>
                      <a:prstDash val="solid"/>
                      <a:round/>
                      <a:headEnd type="none" w="med" len="med"/>
                      <a:tailEnd type="none" w="med" len="med"/>
                    </a:lnR>
                    <a:lnT w="9525" cap="flat" cmpd="sng" algn="ctr">
                      <a:solidFill>
                        <a:srgbClr val="D8DEE9"/>
                      </a:solidFill>
                      <a:prstDash val="solid"/>
                      <a:round/>
                      <a:headEnd type="none" w="med" len="med"/>
                      <a:tailEnd type="none" w="med" len="med"/>
                    </a:lnT>
                    <a:lnB w="9525" cap="flat" cmpd="sng" algn="ctr">
                      <a:solidFill>
                        <a:srgbClr val="D8DEE9"/>
                      </a:solidFill>
                      <a:prstDash val="solid"/>
                      <a:round/>
                      <a:headEnd type="none" w="med" len="med"/>
                      <a:tailEnd type="none" w="med" len="med"/>
                    </a:lnB>
                    <a:solidFill>
                      <a:srgbClr val="1E2A45"/>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What happens today</a:t>
                      </a:r>
                      <a:endParaRPr lang="en-US" sz="1200" dirty="0">
                        <a:latin typeface="Calibri" charset="0"/>
                        <a:ea typeface="Calibri" charset="0"/>
                        <a:cs typeface="Calibri" charset="0"/>
                      </a:endParaRPr>
                    </a:p>
                  </a:txBody>
                  <a:tcPr marL="36576" marR="36576" marT="36576" marB="36576" anchor="ctr">
                    <a:lnL w="9525" cap="flat" cmpd="sng" algn="ctr">
                      <a:solidFill>
                        <a:srgbClr val="D8DEE9"/>
                      </a:solidFill>
                      <a:prstDash val="solid"/>
                      <a:round/>
                      <a:headEnd type="none" w="med" len="med"/>
                      <a:tailEnd type="none" w="med" len="med"/>
                    </a:lnL>
                    <a:lnR w="9525" cap="flat" cmpd="sng" algn="ctr">
                      <a:solidFill>
                        <a:srgbClr val="D8DEE9"/>
                      </a:solidFill>
                      <a:prstDash val="solid"/>
                      <a:round/>
                      <a:headEnd type="none" w="med" len="med"/>
                      <a:tailEnd type="none" w="med" len="med"/>
                    </a:lnR>
                    <a:lnT w="9525" cap="flat" cmpd="sng" algn="ctr">
                      <a:solidFill>
                        <a:srgbClr val="D8DEE9"/>
                      </a:solidFill>
                      <a:prstDash val="solid"/>
                      <a:round/>
                      <a:headEnd type="none" w="med" len="med"/>
                      <a:tailEnd type="none" w="med" len="med"/>
                    </a:lnT>
                    <a:lnB w="9525" cap="flat" cmpd="sng" algn="ctr">
                      <a:solidFill>
                        <a:srgbClr val="D8DEE9"/>
                      </a:solidFill>
                      <a:prstDash val="solid"/>
                      <a:round/>
                      <a:headEnd type="none" w="med" len="med"/>
                      <a:tailEnd type="none" w="med" len="med"/>
                    </a:lnB>
                    <a:solidFill>
                      <a:srgbClr val="1E2A45"/>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The cost</a:t>
                      </a:r>
                      <a:endParaRPr lang="en-US" sz="1200" dirty="0">
                        <a:latin typeface="Calibri" charset="0"/>
                        <a:ea typeface="Calibri" charset="0"/>
                        <a:cs typeface="Calibri" charset="0"/>
                      </a:endParaRPr>
                    </a:p>
                  </a:txBody>
                  <a:tcPr marL="36576" marR="36576" marT="36576" marB="36576" anchor="ctr">
                    <a:lnL w="9525" cap="flat" cmpd="sng" algn="ctr">
                      <a:solidFill>
                        <a:srgbClr val="D8DEE9"/>
                      </a:solidFill>
                      <a:prstDash val="solid"/>
                      <a:round/>
                      <a:headEnd type="none" w="med" len="med"/>
                      <a:tailEnd type="none" w="med" len="med"/>
                    </a:lnL>
                    <a:lnR w="9525" cap="flat" cmpd="sng" algn="ctr">
                      <a:solidFill>
                        <a:srgbClr val="D8DEE9"/>
                      </a:solidFill>
                      <a:prstDash val="solid"/>
                      <a:round/>
                      <a:headEnd type="none" w="med" len="med"/>
                      <a:tailEnd type="none" w="med" len="med"/>
                    </a:lnR>
                    <a:lnT w="9525" cap="flat" cmpd="sng" algn="ctr">
                      <a:solidFill>
                        <a:srgbClr val="D8DEE9"/>
                      </a:solidFill>
                      <a:prstDash val="solid"/>
                      <a:round/>
                      <a:headEnd type="none" w="med" len="med"/>
                      <a:tailEnd type="none" w="med" len="med"/>
                    </a:lnT>
                    <a:lnB w="9525" cap="flat" cmpd="sng" algn="ctr">
                      <a:solidFill>
                        <a:srgbClr val="D8DEE9"/>
                      </a:solidFill>
                      <a:prstDash val="solid"/>
                      <a:round/>
                      <a:headEnd type="none" w="med" len="med"/>
                      <a:tailEnd type="none" w="med" len="med"/>
                    </a:lnB>
                    <a:solidFill>
                      <a:srgbClr val="1E2A45"/>
                    </a:solidFill>
                  </a:tcPr>
                </a:tc>
              </a:tr>
              <a:tr h="0">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سؤال سياسة: «كم مدة مراجعة المحتوى؟»</a:t>
                      </a:r>
                      <a:endParaRPr lang="en-US" sz="1150" dirty="0">
                        <a:latin typeface="Calibri" charset="0"/>
                        <a:ea typeface="Calibri" charset="0"/>
                        <a:cs typeface="Calibri" charset="0"/>
                      </a:endParaRPr>
                    </a:p>
                  </a:txBody>
                  <a:tcPr marL="36576" marR="36576" marT="36576" marB="36576" anchor="ctr">
                    <a:lnL w="9525" cap="flat" cmpd="sng" algn="ctr">
                      <a:solidFill>
                        <a:srgbClr val="D8DEE9"/>
                      </a:solidFill>
                      <a:prstDash val="solid"/>
                      <a:round/>
                      <a:headEnd type="none" w="med" len="med"/>
                      <a:tailEnd type="none" w="med" len="med"/>
                    </a:lnL>
                    <a:lnR w="9525" cap="flat" cmpd="sng" algn="ctr">
                      <a:solidFill>
                        <a:srgbClr val="D8DEE9"/>
                      </a:solidFill>
                      <a:prstDash val="solid"/>
                      <a:round/>
                      <a:headEnd type="none" w="med" len="med"/>
                      <a:tailEnd type="none" w="med" len="med"/>
                    </a:lnR>
                    <a:lnT w="9525" cap="flat" cmpd="sng" algn="ctr">
                      <a:solidFill>
                        <a:srgbClr val="D8DEE9"/>
                      </a:solidFill>
                      <a:prstDash val="solid"/>
                      <a:round/>
                      <a:headEnd type="none" w="med" len="med"/>
                      <a:tailEnd type="none" w="med" len="med"/>
                    </a:lnT>
                    <a:lnB w="9525" cap="flat" cmpd="sng" algn="ctr">
                      <a:solidFill>
                        <a:srgbClr val="D8DEE9"/>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an employee digs through documents</a:t>
                      </a:r>
                      <a:endParaRPr lang="en-US" sz="1150" dirty="0">
                        <a:latin typeface="Calibri" charset="0"/>
                        <a:ea typeface="Calibri" charset="0"/>
                        <a:cs typeface="Calibri" charset="0"/>
                      </a:endParaRPr>
                    </a:p>
                  </a:txBody>
                  <a:tcPr marL="36576" marR="36576" marT="36576" marB="36576" anchor="ctr">
                    <a:lnL w="9525" cap="flat" cmpd="sng" algn="ctr">
                      <a:solidFill>
                        <a:srgbClr val="D8DEE9"/>
                      </a:solidFill>
                      <a:prstDash val="solid"/>
                      <a:round/>
                      <a:headEnd type="none" w="med" len="med"/>
                      <a:tailEnd type="none" w="med" len="med"/>
                    </a:lnL>
                    <a:lnR w="9525" cap="flat" cmpd="sng" algn="ctr">
                      <a:solidFill>
                        <a:srgbClr val="D8DEE9"/>
                      </a:solidFill>
                      <a:prstDash val="solid"/>
                      <a:round/>
                      <a:headEnd type="none" w="med" len="med"/>
                      <a:tailEnd type="none" w="med" len="med"/>
                    </a:lnR>
                    <a:lnT w="9525" cap="flat" cmpd="sng" algn="ctr">
                      <a:solidFill>
                        <a:srgbClr val="D8DEE9"/>
                      </a:solidFill>
                      <a:prstDash val="solid"/>
                      <a:round/>
                      <a:headEnd type="none" w="med" len="med"/>
                      <a:tailEnd type="none" w="med" len="med"/>
                    </a:lnT>
                    <a:lnB w="9525" cap="flat" cmpd="sng" algn="ctr">
                      <a:solidFill>
                        <a:srgbClr val="D8DEE9"/>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minutes lost; answers vary</a:t>
                      </a:r>
                      <a:endParaRPr lang="en-US" sz="1150" dirty="0">
                        <a:latin typeface="Calibri" charset="0"/>
                        <a:ea typeface="Calibri" charset="0"/>
                        <a:cs typeface="Calibri" charset="0"/>
                      </a:endParaRPr>
                    </a:p>
                  </a:txBody>
                  <a:tcPr marL="36576" marR="36576" marT="36576" marB="36576" anchor="ctr">
                    <a:lnL w="9525" cap="flat" cmpd="sng" algn="ctr">
                      <a:solidFill>
                        <a:srgbClr val="D8DEE9"/>
                      </a:solidFill>
                      <a:prstDash val="solid"/>
                      <a:round/>
                      <a:headEnd type="none" w="med" len="med"/>
                      <a:tailEnd type="none" w="med" len="med"/>
                    </a:lnL>
                    <a:lnR w="9525" cap="flat" cmpd="sng" algn="ctr">
                      <a:solidFill>
                        <a:srgbClr val="D8DEE9"/>
                      </a:solidFill>
                      <a:prstDash val="solid"/>
                      <a:round/>
                      <a:headEnd type="none" w="med" len="med"/>
                      <a:tailEnd type="none" w="med" len="med"/>
                    </a:lnR>
                    <a:lnT w="9525" cap="flat" cmpd="sng" algn="ctr">
                      <a:solidFill>
                        <a:srgbClr val="D8DEE9"/>
                      </a:solidFill>
                      <a:prstDash val="solid"/>
                      <a:round/>
                      <a:headEnd type="none" w="med" len="med"/>
                      <a:tailEnd type="none" w="med" len="med"/>
                    </a:lnT>
                    <a:lnB w="9525" cap="flat" cmpd="sng" algn="ctr">
                      <a:solidFill>
                        <a:srgbClr val="D8DEE9"/>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طلب حجز اجتماع</a:t>
                      </a:r>
                      <a:endParaRPr lang="en-US" sz="1150" dirty="0">
                        <a:latin typeface="Calibri" charset="0"/>
                        <a:ea typeface="Calibri" charset="0"/>
                        <a:cs typeface="Calibri" charset="0"/>
                      </a:endParaRPr>
                    </a:p>
                  </a:txBody>
                  <a:tcPr marL="36576" marR="36576" marT="36576" marB="36576" anchor="ctr">
                    <a:lnL w="9525" cap="flat" cmpd="sng" algn="ctr">
                      <a:solidFill>
                        <a:srgbClr val="D8DEE9"/>
                      </a:solidFill>
                      <a:prstDash val="solid"/>
                      <a:round/>
                      <a:headEnd type="none" w="med" len="med"/>
                      <a:tailEnd type="none" w="med" len="med"/>
                    </a:lnL>
                    <a:lnR w="9525" cap="flat" cmpd="sng" algn="ctr">
                      <a:solidFill>
                        <a:srgbClr val="D8DEE9"/>
                      </a:solidFill>
                      <a:prstDash val="solid"/>
                      <a:round/>
                      <a:headEnd type="none" w="med" len="med"/>
                      <a:tailEnd type="none" w="med" len="med"/>
                    </a:lnR>
                    <a:lnT w="9525" cap="flat" cmpd="sng" algn="ctr">
                      <a:solidFill>
                        <a:srgbClr val="D8DEE9"/>
                      </a:solidFill>
                      <a:prstDash val="solid"/>
                      <a:round/>
                      <a:headEnd type="none" w="med" len="med"/>
                      <a:tailEnd type="none" w="med" len="med"/>
                    </a:lnT>
                    <a:lnB w="9525" cap="flat" cmpd="sng" algn="ctr">
                      <a:solidFill>
                        <a:srgbClr val="D8DEE9"/>
                      </a:solidFill>
                      <a:prstDash val="solid"/>
                      <a:round/>
                      <a:headEnd type="none" w="med" len="med"/>
                      <a:tailEnd type="none" w="med" len="med"/>
                    </a:lnB>
                    <a:solidFill>
                      <a:srgbClr val="F4F6FA"/>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a calendar updated by hand</a:t>
                      </a:r>
                      <a:endParaRPr lang="en-US" sz="1150" dirty="0">
                        <a:latin typeface="Calibri" charset="0"/>
                        <a:ea typeface="Calibri" charset="0"/>
                        <a:cs typeface="Calibri" charset="0"/>
                      </a:endParaRPr>
                    </a:p>
                  </a:txBody>
                  <a:tcPr marL="36576" marR="36576" marT="36576" marB="36576" anchor="ctr">
                    <a:lnL w="9525" cap="flat" cmpd="sng" algn="ctr">
                      <a:solidFill>
                        <a:srgbClr val="D8DEE9"/>
                      </a:solidFill>
                      <a:prstDash val="solid"/>
                      <a:round/>
                      <a:headEnd type="none" w="med" len="med"/>
                      <a:tailEnd type="none" w="med" len="med"/>
                    </a:lnL>
                    <a:lnR w="9525" cap="flat" cmpd="sng" algn="ctr">
                      <a:solidFill>
                        <a:srgbClr val="D8DEE9"/>
                      </a:solidFill>
                      <a:prstDash val="solid"/>
                      <a:round/>
                      <a:headEnd type="none" w="med" len="med"/>
                      <a:tailEnd type="none" w="med" len="med"/>
                    </a:lnR>
                    <a:lnT w="9525" cap="flat" cmpd="sng" algn="ctr">
                      <a:solidFill>
                        <a:srgbClr val="D8DEE9"/>
                      </a:solidFill>
                      <a:prstDash val="solid"/>
                      <a:round/>
                      <a:headEnd type="none" w="med" len="med"/>
                      <a:tailEnd type="none" w="med" len="med"/>
                    </a:lnT>
                    <a:lnB w="9525" cap="flat" cmpd="sng" algn="ctr">
                      <a:solidFill>
                        <a:srgbClr val="D8DEE9"/>
                      </a:solidFill>
                      <a:prstDash val="solid"/>
                      <a:round/>
                      <a:headEnd type="none" w="med" len="med"/>
                      <a:tailEnd type="none" w="med" len="med"/>
                    </a:lnB>
                    <a:solidFill>
                      <a:srgbClr val="F4F6FA"/>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conflicts and forgetting</a:t>
                      </a:r>
                      <a:endParaRPr lang="en-US" sz="1150" dirty="0">
                        <a:latin typeface="Calibri" charset="0"/>
                        <a:ea typeface="Calibri" charset="0"/>
                        <a:cs typeface="Calibri" charset="0"/>
                      </a:endParaRPr>
                    </a:p>
                  </a:txBody>
                  <a:tcPr marL="36576" marR="36576" marT="36576" marB="36576" anchor="ctr">
                    <a:lnL w="9525" cap="flat" cmpd="sng" algn="ctr">
                      <a:solidFill>
                        <a:srgbClr val="D8DEE9"/>
                      </a:solidFill>
                      <a:prstDash val="solid"/>
                      <a:round/>
                      <a:headEnd type="none" w="med" len="med"/>
                      <a:tailEnd type="none" w="med" len="med"/>
                    </a:lnL>
                    <a:lnR w="9525" cap="flat" cmpd="sng" algn="ctr">
                      <a:solidFill>
                        <a:srgbClr val="D8DEE9"/>
                      </a:solidFill>
                      <a:prstDash val="solid"/>
                      <a:round/>
                      <a:headEnd type="none" w="med" len="med"/>
                      <a:tailEnd type="none" w="med" len="med"/>
                    </a:lnR>
                    <a:lnT w="9525" cap="flat" cmpd="sng" algn="ctr">
                      <a:solidFill>
                        <a:srgbClr val="D8DEE9"/>
                      </a:solidFill>
                      <a:prstDash val="solid"/>
                      <a:round/>
                      <a:headEnd type="none" w="med" len="med"/>
                      <a:tailEnd type="none" w="med" len="med"/>
                    </a:lnT>
                    <a:lnB w="9525" cap="flat" cmpd="sng" algn="ctr">
                      <a:solidFill>
                        <a:srgbClr val="D8DEE9"/>
                      </a:solidFill>
                      <a:prstDash val="solid"/>
                      <a:round/>
                      <a:headEnd type="none" w="med" len="med"/>
                      <a:tailEnd type="none" w="med" len="med"/>
                    </a:lnB>
                    <a:solidFill>
                      <a:srgbClr val="F4F6FA"/>
                    </a:solidFill>
                  </a:tcPr>
                </a:tc>
              </a:tr>
              <a:tr h="0">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بريد إلى المتطوعين</a:t>
                      </a:r>
                      <a:endParaRPr lang="en-US" sz="1150" dirty="0">
                        <a:latin typeface="Calibri" charset="0"/>
                        <a:ea typeface="Calibri" charset="0"/>
                        <a:cs typeface="Calibri" charset="0"/>
                      </a:endParaRPr>
                    </a:p>
                  </a:txBody>
                  <a:tcPr marL="36576" marR="36576" marT="36576" marB="36576" anchor="ctr">
                    <a:lnL w="9525" cap="flat" cmpd="sng" algn="ctr">
                      <a:solidFill>
                        <a:srgbClr val="D8DEE9"/>
                      </a:solidFill>
                      <a:prstDash val="solid"/>
                      <a:round/>
                      <a:headEnd type="none" w="med" len="med"/>
                      <a:tailEnd type="none" w="med" len="med"/>
                    </a:lnL>
                    <a:lnR w="9525" cap="flat" cmpd="sng" algn="ctr">
                      <a:solidFill>
                        <a:srgbClr val="D8DEE9"/>
                      </a:solidFill>
                      <a:prstDash val="solid"/>
                      <a:round/>
                      <a:headEnd type="none" w="med" len="med"/>
                      <a:tailEnd type="none" w="med" len="med"/>
                    </a:lnR>
                    <a:lnT w="9525" cap="flat" cmpd="sng" algn="ctr">
                      <a:solidFill>
                        <a:srgbClr val="D8DEE9"/>
                      </a:solidFill>
                      <a:prstDash val="solid"/>
                      <a:round/>
                      <a:headEnd type="none" w="med" len="med"/>
                      <a:tailEnd type="none" w="med" len="med"/>
                    </a:lnT>
                    <a:lnB w="9525" cap="flat" cmpd="sng" algn="ctr">
                      <a:solidFill>
                        <a:srgbClr val="D8DEE9"/>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drafted and sent directly</a:t>
                      </a:r>
                      <a:endParaRPr lang="en-US" sz="1150" dirty="0">
                        <a:latin typeface="Calibri" charset="0"/>
                        <a:ea typeface="Calibri" charset="0"/>
                        <a:cs typeface="Calibri" charset="0"/>
                      </a:endParaRPr>
                    </a:p>
                  </a:txBody>
                  <a:tcPr marL="36576" marR="36576" marT="36576" marB="36576" anchor="ctr">
                    <a:lnL w="9525" cap="flat" cmpd="sng" algn="ctr">
                      <a:solidFill>
                        <a:srgbClr val="D8DEE9"/>
                      </a:solidFill>
                      <a:prstDash val="solid"/>
                      <a:round/>
                      <a:headEnd type="none" w="med" len="med"/>
                      <a:tailEnd type="none" w="med" len="med"/>
                    </a:lnL>
                    <a:lnR w="9525" cap="flat" cmpd="sng" algn="ctr">
                      <a:solidFill>
                        <a:srgbClr val="D8DEE9"/>
                      </a:solidFill>
                      <a:prstDash val="solid"/>
                      <a:round/>
                      <a:headEnd type="none" w="med" len="med"/>
                      <a:tailEnd type="none" w="med" len="med"/>
                    </a:lnR>
                    <a:lnT w="9525" cap="flat" cmpd="sng" algn="ctr">
                      <a:solidFill>
                        <a:srgbClr val="D8DEE9"/>
                      </a:solidFill>
                      <a:prstDash val="solid"/>
                      <a:round/>
                      <a:headEnd type="none" w="med" len="med"/>
                      <a:tailEnd type="none" w="med" len="med"/>
                    </a:lnT>
                    <a:lnB w="9525" cap="flat" cmpd="sng" algn="ctr">
                      <a:solidFill>
                        <a:srgbClr val="D8DEE9"/>
                      </a:solidFill>
                      <a:prstDash val="solid"/>
                      <a:round/>
                      <a:headEnd type="none" w="med" len="med"/>
                      <a:tailEnd type="none" w="med" len="med"/>
                    </a:lnB>
                    <a:solidFill>
                      <a:srgbClr val="FFFFFF"/>
                    </a:solidFill>
                  </a:tcPr>
                </a:tc>
                <a:tc>
                  <a:txBody>
                    <a:bodyPr/>
                    <a:lstStyle/>
                    <a:p>
                      <a:pPr indent="0" marL="0">
                        <a:buNone/>
                      </a:pPr>
                      <a:r>
                        <a:rPr lang="en-US" sz="1150" b="1" dirty="0">
                          <a:solidFill>
                            <a:srgbClr val="8E2620"/>
                          </a:solidFill>
                          <a:latin typeface="Calibri" pitchFamily="34" charset="0"/>
                          <a:ea typeface="Calibri" pitchFamily="34" charset="-122"/>
                          <a:cs typeface="Calibri" pitchFamily="34" charset="-120"/>
                        </a:rPr>
                        <a:t>a wrong send cannot be recalled</a:t>
                      </a:r>
                      <a:endParaRPr lang="en-US" sz="1150" dirty="0">
                        <a:latin typeface="Calibri" charset="0"/>
                        <a:ea typeface="Calibri" charset="0"/>
                        <a:cs typeface="Calibri" charset="0"/>
                      </a:endParaRPr>
                    </a:p>
                  </a:txBody>
                  <a:tcPr marL="36576" marR="36576" marT="36576" marB="36576" anchor="ctr">
                    <a:lnL w="9525" cap="flat" cmpd="sng" algn="ctr">
                      <a:solidFill>
                        <a:srgbClr val="D8DEE9"/>
                      </a:solidFill>
                      <a:prstDash val="solid"/>
                      <a:round/>
                      <a:headEnd type="none" w="med" len="med"/>
                      <a:tailEnd type="none" w="med" len="med"/>
                    </a:lnL>
                    <a:lnR w="9525" cap="flat" cmpd="sng" algn="ctr">
                      <a:solidFill>
                        <a:srgbClr val="D8DEE9"/>
                      </a:solidFill>
                      <a:prstDash val="solid"/>
                      <a:round/>
                      <a:headEnd type="none" w="med" len="med"/>
                      <a:tailEnd type="none" w="med" len="med"/>
                    </a:lnR>
                    <a:lnT w="9525" cap="flat" cmpd="sng" algn="ctr">
                      <a:solidFill>
                        <a:srgbClr val="D8DEE9"/>
                      </a:solidFill>
                      <a:prstDash val="solid"/>
                      <a:round/>
                      <a:headEnd type="none" w="med" len="med"/>
                      <a:tailEnd type="none" w="med" len="med"/>
                    </a:lnT>
                    <a:lnB w="9525" cap="flat" cmpd="sng" algn="ctr">
                      <a:solidFill>
                        <a:srgbClr val="D8DEE9"/>
                      </a:solidFill>
                      <a:prstDash val="solid"/>
                      <a:round/>
                      <a:headEnd type="none" w="med" len="med"/>
                      <a:tailEnd type="none" w="med" len="med"/>
                    </a:lnB>
                    <a:solidFill>
                      <a:srgbClr val="FDECEA"/>
                    </a:solidFill>
                  </a:tcPr>
                </a:tc>
              </a:tr>
            </a:tbl>
          </a:graphicData>
        </a:graphic>
      </p:graphicFrame>
      <p:sp>
        <p:nvSpPr>
          <p:cNvPr id="4" name="Text 1"/>
          <p:cNvSpPr/>
          <p:nvPr/>
        </p:nvSpPr>
        <p:spPr>
          <a:xfrm>
            <a:off x="7315200" y="1143000"/>
            <a:ext cx="4297680" cy="365760"/>
          </a:xfrm>
          <a:prstGeom prst="rect">
            <a:avLst/>
          </a:prstGeom>
          <a:noFill/>
          <a:ln/>
        </p:spPr>
        <p:txBody>
          <a:bodyPr wrap="square" lIns="0" tIns="0" rIns="0" bIns="0" rtlCol="0" anchor="ctr"/>
          <a:lstStyle/>
          <a:p>
            <a:pPr indent="0" marL="0">
              <a:buNone/>
            </a:pPr>
            <a:r>
              <a:rPr lang="en-US" sz="1500" b="1" dirty="0">
                <a:solidFill>
                  <a:srgbClr val="1E2A45"/>
                </a:solidFill>
                <a:latin typeface="Arial" pitchFamily="34" charset="0"/>
                <a:ea typeface="Arial" pitchFamily="34" charset="-122"/>
                <a:cs typeface="Arial" pitchFamily="34" charset="-120"/>
              </a:rPr>
              <a:t>What breaks in practice</a:t>
            </a:r>
            <a:endParaRPr lang="en-US" sz="1500" dirty="0"/>
          </a:p>
        </p:txBody>
      </p:sp>
      <p:sp>
        <p:nvSpPr>
          <p:cNvPr id="5" name="Text 2"/>
          <p:cNvSpPr/>
          <p:nvPr/>
        </p:nvSpPr>
        <p:spPr>
          <a:xfrm>
            <a:off x="7315200" y="1554480"/>
            <a:ext cx="4343400" cy="2377440"/>
          </a:xfrm>
          <a:prstGeom prst="rect">
            <a:avLst/>
          </a:prstGeom>
          <a:noFill/>
          <a:ln/>
        </p:spPr>
        <p:txBody>
          <a:bodyPr wrap="square" lIns="0" tIns="0" rIns="0" bIns="0" rtlCol="0" anchor="t"/>
          <a:lstStyle/>
          <a:p>
            <a:pPr algn="l" marL="127000" indent="-127000">
              <a:spcAft>
                <a:spcPts val="800"/>
              </a:spcAft>
              <a:buSzPct val="100000"/>
              <a:buChar char="•"/>
            </a:pPr>
            <a:r>
              <a:rPr lang="en-US" sz="1300" dirty="0">
                <a:solidFill>
                  <a:srgbClr val="1A2233"/>
                </a:solidFill>
                <a:latin typeface="Calibri" pitchFamily="34" charset="0"/>
                <a:ea typeface="Calibri" pitchFamily="34" charset="-122"/>
                <a:cs typeface="Calibri" pitchFamily="34" charset="-120"/>
              </a:rPr>
              <a:t>The knowledge lives in documents nobody re-reads.</a:t>
            </a:r>
            <a:endParaRPr lang="en-US" sz="1300" dirty="0"/>
          </a:p>
          <a:p>
            <a:pPr algn="l" marL="127000" indent="-127000">
              <a:spcAft>
                <a:spcPts val="800"/>
              </a:spcAft>
              <a:buSzPct val="100000"/>
              <a:buChar char="•"/>
            </a:pPr>
            <a:r>
              <a:rPr lang="en-US" sz="1300" dirty="0">
                <a:solidFill>
                  <a:srgbClr val="1A2233"/>
                </a:solidFill>
                <a:latin typeface="Calibri" pitchFamily="34" charset="0"/>
                <a:ea typeface="Calibri" pitchFamily="34" charset="-122"/>
                <a:cs typeface="Calibri" pitchFamily="34" charset="-120"/>
              </a:rPr>
              <a:t>Preferences repeat in every conversation — nothing remembers.</a:t>
            </a:r>
            <a:endParaRPr lang="en-US" sz="1300" dirty="0"/>
          </a:p>
          <a:p>
            <a:pPr algn="l" marL="127000" indent="-127000">
              <a:spcAft>
                <a:spcPts val="800"/>
              </a:spcAft>
              <a:buSzPct val="100000"/>
              <a:buChar char="•"/>
            </a:pPr>
            <a:r>
              <a:rPr lang="en-US" sz="1300" dirty="0">
                <a:solidFill>
                  <a:srgbClr val="1A2233"/>
                </a:solidFill>
                <a:latin typeface="Calibri" pitchFamily="34" charset="0"/>
                <a:ea typeface="Calibri" pitchFamily="34" charset="-122"/>
                <a:cs typeface="Calibri" pitchFamily="34" charset="-120"/>
              </a:rPr>
              <a:t>The riskiest step (sending) is the least guarded.</a:t>
            </a:r>
            <a:endParaRPr lang="en-US" sz="1300" dirty="0"/>
          </a:p>
        </p:txBody>
      </p:sp>
      <p:sp>
        <p:nvSpPr>
          <p:cNvPr id="6" name="Shape 3"/>
          <p:cNvSpPr/>
          <p:nvPr/>
        </p:nvSpPr>
        <p:spPr>
          <a:xfrm>
            <a:off x="502920" y="5394960"/>
            <a:ext cx="11183112" cy="731520"/>
          </a:xfrm>
          <a:prstGeom prst="roundRect">
            <a:avLst>
              <a:gd name="adj" fmla="val 7500"/>
            </a:avLst>
          </a:prstGeom>
          <a:solidFill>
            <a:srgbClr val="FDECEA"/>
          </a:solidFill>
          <a:ln w="12700">
            <a:solidFill>
              <a:srgbClr val="C0392B"/>
            </a:solidFill>
            <a:prstDash val="solid"/>
          </a:ln>
        </p:spPr>
      </p:sp>
      <p:sp>
        <p:nvSpPr>
          <p:cNvPr id="7" name="Text 4"/>
          <p:cNvSpPr/>
          <p:nvPr/>
        </p:nvSpPr>
        <p:spPr>
          <a:xfrm>
            <a:off x="630936" y="5449824"/>
            <a:ext cx="10927080" cy="621792"/>
          </a:xfrm>
          <a:prstGeom prst="rect">
            <a:avLst/>
          </a:prstGeom>
          <a:noFill/>
          <a:ln/>
        </p:spPr>
        <p:txBody>
          <a:bodyPr wrap="square" lIns="0" tIns="0" rIns="0" bIns="0" rtlCol="0" anchor="ctr"/>
          <a:lstStyle/>
          <a:p>
            <a:pPr indent="0" marL="0">
              <a:buNone/>
            </a:pPr>
            <a:r>
              <a:rPr lang="en-US" sz="1400" b="1" dirty="0">
                <a:solidFill>
                  <a:srgbClr val="8E2620"/>
                </a:solidFill>
                <a:latin typeface="Calibri" pitchFamily="34" charset="0"/>
                <a:ea typeface="Calibri" pitchFamily="34" charset="-122"/>
                <a:cs typeface="Calibri" pitchFamily="34" charset="-120"/>
              </a:rPr>
              <a:t>الإرسال الخاطئ باسم الجمعية هو الخطأ الذي لا تصلحه معذرة.</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02920" y="292608"/>
            <a:ext cx="11183112" cy="777240"/>
          </a:xfrm>
          <a:prstGeom prst="rect">
            <a:avLst/>
          </a:prstGeom>
          <a:noFill/>
          <a:ln/>
        </p:spPr>
        <p:txBody>
          <a:bodyPr wrap="square" lIns="0" tIns="0" rIns="0" bIns="0" rtlCol="0" anchor="ctr"/>
          <a:lstStyle/>
          <a:p>
            <a:pPr algn="l" indent="0" marL="0">
              <a:buNone/>
            </a:pPr>
            <a:r>
              <a:rPr lang="en-US" sz="2700" b="1" dirty="0">
                <a:solidFill>
                  <a:srgbClr val="1E2A45"/>
                </a:solidFill>
                <a:latin typeface="Arial" pitchFamily="34" charset="0"/>
                <a:ea typeface="Arial" pitchFamily="34" charset="-122"/>
                <a:cs typeface="Arial" pitchFamily="34" charset="-120"/>
              </a:rPr>
              <a:t>Why a plain chatbot makes it worse</a:t>
            </a:r>
            <a:endParaRPr lang="en-US" sz="2700" dirty="0"/>
          </a:p>
        </p:txBody>
      </p:sp>
      <p:sp>
        <p:nvSpPr>
          <p:cNvPr id="3" name="Shape 1"/>
          <p:cNvSpPr/>
          <p:nvPr/>
        </p:nvSpPr>
        <p:spPr>
          <a:xfrm>
            <a:off x="502920" y="1307592"/>
            <a:ext cx="502920" cy="502920"/>
          </a:xfrm>
          <a:prstGeom prst="ellipse">
            <a:avLst/>
          </a:prstGeom>
          <a:solidFill>
            <a:srgbClr val="1E2A45"/>
          </a:solidFill>
          <a:ln w="12700">
            <a:solidFill>
              <a:srgbClr val="1E2A45"/>
            </a:solidFill>
            <a:prstDash val="solid"/>
          </a:ln>
        </p:spPr>
      </p:sp>
      <p:sp>
        <p:nvSpPr>
          <p:cNvPr id="4" name="Text 2"/>
          <p:cNvSpPr/>
          <p:nvPr/>
        </p:nvSpPr>
        <p:spPr>
          <a:xfrm>
            <a:off x="502920" y="1307592"/>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1</a:t>
            </a:r>
            <a:endParaRPr lang="en-US" sz="1800" dirty="0"/>
          </a:p>
        </p:txBody>
      </p:sp>
      <p:sp>
        <p:nvSpPr>
          <p:cNvPr id="5" name="Text 3"/>
          <p:cNvSpPr/>
          <p:nvPr/>
        </p:nvSpPr>
        <p:spPr>
          <a:xfrm>
            <a:off x="1188720" y="1234440"/>
            <a:ext cx="6035040" cy="365760"/>
          </a:xfrm>
          <a:prstGeom prst="rect">
            <a:avLst/>
          </a:prstGeom>
          <a:noFill/>
          <a:ln/>
        </p:spPr>
        <p:txBody>
          <a:bodyPr wrap="square" lIns="0" tIns="0" rIns="0" bIns="0" rtlCol="0" anchor="ctr"/>
          <a:lstStyle/>
          <a:p>
            <a:pPr indent="0" marL="0">
              <a:buNone/>
            </a:pPr>
            <a:r>
              <a:rPr lang="en-US" sz="1550" b="1" dirty="0">
                <a:solidFill>
                  <a:srgbClr val="1A2233"/>
                </a:solidFill>
                <a:latin typeface="Arial" pitchFamily="34" charset="0"/>
                <a:ea typeface="Arial" pitchFamily="34" charset="-122"/>
                <a:cs typeface="Arial" pitchFamily="34" charset="-120"/>
              </a:rPr>
              <a:t>It answers policy from its imagination.</a:t>
            </a:r>
            <a:endParaRPr lang="en-US" sz="1550" dirty="0"/>
          </a:p>
        </p:txBody>
      </p:sp>
      <p:sp>
        <p:nvSpPr>
          <p:cNvPr id="6" name="Text 4"/>
          <p:cNvSpPr/>
          <p:nvPr/>
        </p:nvSpPr>
        <p:spPr>
          <a:xfrm>
            <a:off x="1188720" y="1600200"/>
            <a:ext cx="6035040" cy="548640"/>
          </a:xfrm>
          <a:prstGeom prst="rect">
            <a:avLst/>
          </a:prstGeom>
          <a:noFill/>
          <a:ln/>
        </p:spPr>
        <p:txBody>
          <a:bodyPr wrap="square" lIns="0" tIns="0" rIns="0" bIns="0" rtlCol="0" anchor="ctr"/>
          <a:lstStyle/>
          <a:p>
            <a:pPr indent="0" marL="0">
              <a:buNone/>
            </a:pPr>
            <a:r>
              <a:rPr lang="en-US" sz="1250" dirty="0">
                <a:solidFill>
                  <a:srgbClr val="5A6478"/>
                </a:solidFill>
                <a:latin typeface="Calibri" pitchFamily="34" charset="0"/>
                <a:ea typeface="Calibri" pitchFamily="34" charset="-122"/>
                <a:cs typeface="Calibri" pitchFamily="34" charset="-120"/>
              </a:rPr>
              <a:t>No retrieval means confident, wrong, unattributable answers about real procedures.</a:t>
            </a:r>
            <a:endParaRPr lang="en-US" sz="1250" dirty="0"/>
          </a:p>
        </p:txBody>
      </p:sp>
      <p:sp>
        <p:nvSpPr>
          <p:cNvPr id="7" name="Shape 5"/>
          <p:cNvSpPr/>
          <p:nvPr/>
        </p:nvSpPr>
        <p:spPr>
          <a:xfrm>
            <a:off x="502920" y="2359152"/>
            <a:ext cx="502920" cy="502920"/>
          </a:xfrm>
          <a:prstGeom prst="ellipse">
            <a:avLst/>
          </a:prstGeom>
          <a:solidFill>
            <a:srgbClr val="1E2A45"/>
          </a:solidFill>
          <a:ln w="12700">
            <a:solidFill>
              <a:srgbClr val="1E2A45"/>
            </a:solidFill>
            <a:prstDash val="solid"/>
          </a:ln>
        </p:spPr>
      </p:sp>
      <p:sp>
        <p:nvSpPr>
          <p:cNvPr id="8" name="Text 6"/>
          <p:cNvSpPr/>
          <p:nvPr/>
        </p:nvSpPr>
        <p:spPr>
          <a:xfrm>
            <a:off x="502920" y="2359152"/>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2</a:t>
            </a:r>
            <a:endParaRPr lang="en-US" sz="1800" dirty="0"/>
          </a:p>
        </p:txBody>
      </p:sp>
      <p:sp>
        <p:nvSpPr>
          <p:cNvPr id="9" name="Text 7"/>
          <p:cNvSpPr/>
          <p:nvPr/>
        </p:nvSpPr>
        <p:spPr>
          <a:xfrm>
            <a:off x="1188720" y="2286000"/>
            <a:ext cx="6035040" cy="365760"/>
          </a:xfrm>
          <a:prstGeom prst="rect">
            <a:avLst/>
          </a:prstGeom>
          <a:noFill/>
          <a:ln/>
        </p:spPr>
        <p:txBody>
          <a:bodyPr wrap="square" lIns="0" tIns="0" rIns="0" bIns="0" rtlCol="0" anchor="ctr"/>
          <a:lstStyle/>
          <a:p>
            <a:pPr indent="0" marL="0">
              <a:buNone/>
            </a:pPr>
            <a:r>
              <a:rPr lang="en-US" sz="1550" b="1" dirty="0">
                <a:solidFill>
                  <a:srgbClr val="1A2233"/>
                </a:solidFill>
                <a:latin typeface="Arial" pitchFamily="34" charset="0"/>
                <a:ea typeface="Arial" pitchFamily="34" charset="-122"/>
                <a:cs typeface="Arial" pitchFamily="34" charset="-120"/>
              </a:rPr>
              <a:t>It forgets across threads.</a:t>
            </a:r>
            <a:endParaRPr lang="en-US" sz="1550" dirty="0"/>
          </a:p>
        </p:txBody>
      </p:sp>
      <p:sp>
        <p:nvSpPr>
          <p:cNvPr id="10" name="Text 8"/>
          <p:cNvSpPr/>
          <p:nvPr/>
        </p:nvSpPr>
        <p:spPr>
          <a:xfrm>
            <a:off x="1188720" y="2651760"/>
            <a:ext cx="6035040" cy="548640"/>
          </a:xfrm>
          <a:prstGeom prst="rect">
            <a:avLst/>
          </a:prstGeom>
          <a:noFill/>
          <a:ln/>
        </p:spPr>
        <p:txBody>
          <a:bodyPr wrap="square" lIns="0" tIns="0" rIns="0" bIns="0" rtlCol="0" anchor="ctr"/>
          <a:lstStyle/>
          <a:p>
            <a:pPr indent="0" marL="0">
              <a:buNone/>
            </a:pPr>
            <a:r>
              <a:rPr lang="en-US" sz="1250" dirty="0">
                <a:solidFill>
                  <a:srgbClr val="5A6478"/>
                </a:solidFill>
                <a:latin typeface="Calibri" pitchFamily="34" charset="0"/>
                <a:ea typeface="Calibri" pitchFamily="34" charset="-122"/>
                <a:cs typeface="Calibri" pitchFamily="34" charset="-120"/>
              </a:rPr>
              <a:t>State dies with the tab; “our preferred day” gets re-asked forever.</a:t>
            </a:r>
            <a:endParaRPr lang="en-US" sz="1250" dirty="0"/>
          </a:p>
        </p:txBody>
      </p:sp>
      <p:sp>
        <p:nvSpPr>
          <p:cNvPr id="11" name="Shape 9"/>
          <p:cNvSpPr/>
          <p:nvPr/>
        </p:nvSpPr>
        <p:spPr>
          <a:xfrm>
            <a:off x="502920" y="3410712"/>
            <a:ext cx="502920" cy="502920"/>
          </a:xfrm>
          <a:prstGeom prst="ellipse">
            <a:avLst/>
          </a:prstGeom>
          <a:solidFill>
            <a:srgbClr val="1E2A45"/>
          </a:solidFill>
          <a:ln w="12700">
            <a:solidFill>
              <a:srgbClr val="1E2A45"/>
            </a:solidFill>
            <a:prstDash val="solid"/>
          </a:ln>
        </p:spPr>
      </p:sp>
      <p:sp>
        <p:nvSpPr>
          <p:cNvPr id="12" name="Text 10"/>
          <p:cNvSpPr/>
          <p:nvPr/>
        </p:nvSpPr>
        <p:spPr>
          <a:xfrm>
            <a:off x="502920" y="3410712"/>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3</a:t>
            </a:r>
            <a:endParaRPr lang="en-US" sz="1800" dirty="0"/>
          </a:p>
        </p:txBody>
      </p:sp>
      <p:sp>
        <p:nvSpPr>
          <p:cNvPr id="13" name="Text 11"/>
          <p:cNvSpPr/>
          <p:nvPr/>
        </p:nvSpPr>
        <p:spPr>
          <a:xfrm>
            <a:off x="1188720" y="3337560"/>
            <a:ext cx="6035040" cy="365760"/>
          </a:xfrm>
          <a:prstGeom prst="rect">
            <a:avLst/>
          </a:prstGeom>
          <a:noFill/>
          <a:ln/>
        </p:spPr>
        <p:txBody>
          <a:bodyPr wrap="square" lIns="0" tIns="0" rIns="0" bIns="0" rtlCol="0" anchor="ctr"/>
          <a:lstStyle/>
          <a:p>
            <a:pPr indent="0" marL="0">
              <a:buNone/>
            </a:pPr>
            <a:r>
              <a:rPr lang="en-US" sz="1550" b="1" dirty="0">
                <a:solidFill>
                  <a:srgbClr val="1A2233"/>
                </a:solidFill>
                <a:latin typeface="Arial" pitchFamily="34" charset="0"/>
                <a:ea typeface="Arial" pitchFamily="34" charset="-122"/>
                <a:cs typeface="Arial" pitchFamily="34" charset="-120"/>
              </a:rPr>
              <a:t>It acts without a gate.</a:t>
            </a:r>
            <a:endParaRPr lang="en-US" sz="1550" dirty="0"/>
          </a:p>
        </p:txBody>
      </p:sp>
      <p:sp>
        <p:nvSpPr>
          <p:cNvPr id="14" name="Text 12"/>
          <p:cNvSpPr/>
          <p:nvPr/>
        </p:nvSpPr>
        <p:spPr>
          <a:xfrm>
            <a:off x="1188720" y="3703320"/>
            <a:ext cx="6035040" cy="548640"/>
          </a:xfrm>
          <a:prstGeom prst="rect">
            <a:avLst/>
          </a:prstGeom>
          <a:noFill/>
          <a:ln/>
        </p:spPr>
        <p:txBody>
          <a:bodyPr wrap="square" lIns="0" tIns="0" rIns="0" bIns="0" rtlCol="0" anchor="ctr"/>
          <a:lstStyle/>
          <a:p>
            <a:pPr indent="0" marL="0">
              <a:buNone/>
            </a:pPr>
            <a:r>
              <a:rPr lang="en-US" sz="1250" dirty="0">
                <a:solidFill>
                  <a:srgbClr val="5A6478"/>
                </a:solidFill>
                <a:latin typeface="Calibri" pitchFamily="34" charset="0"/>
                <a:ea typeface="Calibri" pitchFamily="34" charset="-122"/>
                <a:cs typeface="Calibri" pitchFamily="34" charset="-120"/>
              </a:rPr>
              <a:t>A model that can draft can send — and sending is irreversible.</a:t>
            </a:r>
            <a:endParaRPr lang="en-US" sz="1250" dirty="0"/>
          </a:p>
        </p:txBody>
      </p:sp>
      <p:sp>
        <p:nvSpPr>
          <p:cNvPr id="15" name="Text 13"/>
          <p:cNvSpPr/>
          <p:nvPr/>
        </p:nvSpPr>
        <p:spPr>
          <a:xfrm>
            <a:off x="7635240" y="1188720"/>
            <a:ext cx="4023360" cy="365760"/>
          </a:xfrm>
          <a:prstGeom prst="rect">
            <a:avLst/>
          </a:prstGeom>
          <a:noFill/>
          <a:ln/>
        </p:spPr>
        <p:txBody>
          <a:bodyPr wrap="square" lIns="0" tIns="0" rIns="0" bIns="0" rtlCol="0" anchor="ctr"/>
          <a:lstStyle/>
          <a:p>
            <a:pPr indent="0" marL="0">
              <a:buNone/>
            </a:pPr>
            <a:r>
              <a:rPr lang="en-US" sz="1400" b="1" dirty="0">
                <a:solidFill>
                  <a:srgbClr val="1E2A45"/>
                </a:solidFill>
                <a:latin typeface="Arial" pitchFamily="34" charset="0"/>
                <a:ea typeface="Arial" pitchFamily="34" charset="-122"/>
                <a:cs typeface="Arial" pitchFamily="34" charset="-120"/>
              </a:rPr>
              <a:t>Design consequences</a:t>
            </a:r>
            <a:endParaRPr lang="en-US" sz="1400" dirty="0"/>
          </a:p>
        </p:txBody>
      </p:sp>
      <p:sp>
        <p:nvSpPr>
          <p:cNvPr id="16" name="Shape 14"/>
          <p:cNvSpPr/>
          <p:nvPr/>
        </p:nvSpPr>
        <p:spPr>
          <a:xfrm>
            <a:off x="7635240" y="1600200"/>
            <a:ext cx="4023360" cy="868680"/>
          </a:xfrm>
          <a:prstGeom prst="roundRect">
            <a:avLst>
              <a:gd name="adj" fmla="val 6316"/>
            </a:avLst>
          </a:prstGeom>
          <a:solidFill>
            <a:srgbClr val="EDF2FB"/>
          </a:solidFill>
          <a:ln w="12700">
            <a:solidFill>
              <a:srgbClr val="3457A0"/>
            </a:solidFill>
            <a:prstDash val="solid"/>
          </a:ln>
        </p:spPr>
      </p:sp>
      <p:sp>
        <p:nvSpPr>
          <p:cNvPr id="17" name="Text 15"/>
          <p:cNvSpPr/>
          <p:nvPr/>
        </p:nvSpPr>
        <p:spPr>
          <a:xfrm>
            <a:off x="7763256" y="1655064"/>
            <a:ext cx="3767328" cy="758952"/>
          </a:xfrm>
          <a:prstGeom prst="rect">
            <a:avLst/>
          </a:prstGeom>
          <a:noFill/>
          <a:ln/>
        </p:spPr>
        <p:txBody>
          <a:bodyPr wrap="square" lIns="0" tIns="0" rIns="0" bIns="0" rtlCol="0" anchor="ctr"/>
          <a:lstStyle/>
          <a:p>
            <a:pPr indent="0" marL="0">
              <a:buNone/>
            </a:pPr>
            <a:r>
              <a:rPr lang="en-US" sz="1250" dirty="0">
                <a:solidFill>
                  <a:srgbClr val="24406E"/>
                </a:solidFill>
                <a:latin typeface="Calibri" pitchFamily="34" charset="0"/>
                <a:ea typeface="Calibri" pitchFamily="34" charset="-122"/>
                <a:cs typeface="Calibri" pitchFamily="34" charset="-120"/>
              </a:rPr>
              <a:t>Retrieval before answering — a real RAG pipeline over the policy corpus.</a:t>
            </a:r>
            <a:endParaRPr lang="en-US" sz="1250" dirty="0"/>
          </a:p>
        </p:txBody>
      </p:sp>
      <p:sp>
        <p:nvSpPr>
          <p:cNvPr id="18" name="Shape 16"/>
          <p:cNvSpPr/>
          <p:nvPr/>
        </p:nvSpPr>
        <p:spPr>
          <a:xfrm>
            <a:off x="7635240" y="2606040"/>
            <a:ext cx="4023360" cy="868680"/>
          </a:xfrm>
          <a:prstGeom prst="roundRect">
            <a:avLst>
              <a:gd name="adj" fmla="val 6316"/>
            </a:avLst>
          </a:prstGeom>
          <a:solidFill>
            <a:srgbClr val="EDF2FB"/>
          </a:solidFill>
          <a:ln w="12700">
            <a:solidFill>
              <a:srgbClr val="3457A0"/>
            </a:solidFill>
            <a:prstDash val="solid"/>
          </a:ln>
        </p:spPr>
      </p:sp>
      <p:sp>
        <p:nvSpPr>
          <p:cNvPr id="19" name="Text 17"/>
          <p:cNvSpPr/>
          <p:nvPr/>
        </p:nvSpPr>
        <p:spPr>
          <a:xfrm>
            <a:off x="7763256" y="2660904"/>
            <a:ext cx="3767328" cy="758952"/>
          </a:xfrm>
          <a:prstGeom prst="rect">
            <a:avLst/>
          </a:prstGeom>
          <a:noFill/>
          <a:ln/>
        </p:spPr>
        <p:txBody>
          <a:bodyPr wrap="square" lIns="0" tIns="0" rIns="0" bIns="0" rtlCol="0" anchor="ctr"/>
          <a:lstStyle/>
          <a:p>
            <a:pPr indent="0" marL="0">
              <a:buNone/>
            </a:pPr>
            <a:r>
              <a:rPr lang="en-US" sz="1250" dirty="0">
                <a:solidFill>
                  <a:srgbClr val="24406E"/>
                </a:solidFill>
                <a:latin typeface="Calibri" pitchFamily="34" charset="0"/>
                <a:ea typeface="Calibri" pitchFamily="34" charset="-122"/>
                <a:cs typeface="Calibri" pitchFamily="34" charset="-120"/>
              </a:rPr>
              <a:t>Memory must outlive the thread — a separate durable Store, not chat history.</a:t>
            </a:r>
            <a:endParaRPr lang="en-US" sz="1250" dirty="0"/>
          </a:p>
        </p:txBody>
      </p:sp>
      <p:sp>
        <p:nvSpPr>
          <p:cNvPr id="20" name="Shape 18"/>
          <p:cNvSpPr/>
          <p:nvPr/>
        </p:nvSpPr>
        <p:spPr>
          <a:xfrm>
            <a:off x="7635240" y="3611880"/>
            <a:ext cx="4023360" cy="868680"/>
          </a:xfrm>
          <a:prstGeom prst="roundRect">
            <a:avLst>
              <a:gd name="adj" fmla="val 6316"/>
            </a:avLst>
          </a:prstGeom>
          <a:solidFill>
            <a:srgbClr val="EDF2FB"/>
          </a:solidFill>
          <a:ln w="12700">
            <a:solidFill>
              <a:srgbClr val="3457A0"/>
            </a:solidFill>
            <a:prstDash val="solid"/>
          </a:ln>
        </p:spPr>
      </p:sp>
      <p:sp>
        <p:nvSpPr>
          <p:cNvPr id="21" name="Text 19"/>
          <p:cNvSpPr/>
          <p:nvPr/>
        </p:nvSpPr>
        <p:spPr>
          <a:xfrm>
            <a:off x="7763256" y="3666744"/>
            <a:ext cx="3767328" cy="758952"/>
          </a:xfrm>
          <a:prstGeom prst="rect">
            <a:avLst/>
          </a:prstGeom>
          <a:noFill/>
          <a:ln/>
        </p:spPr>
        <p:txBody>
          <a:bodyPr wrap="square" lIns="0" tIns="0" rIns="0" bIns="0" rtlCol="0" anchor="ctr"/>
          <a:lstStyle/>
          <a:p>
            <a:pPr indent="0" marL="0">
              <a:buNone/>
            </a:pPr>
            <a:r>
              <a:rPr lang="en-US" sz="1250" dirty="0">
                <a:solidFill>
                  <a:srgbClr val="24406E"/>
                </a:solidFill>
                <a:latin typeface="Calibri" pitchFamily="34" charset="0"/>
                <a:ea typeface="Calibri" pitchFamily="34" charset="-122"/>
                <a:cs typeface="Calibri" pitchFamily="34" charset="-120"/>
              </a:rPr>
              <a:t>interrupt() before anything irreversible — a human owns the send.</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E2A45"/>
        </a:solidFill>
      </p:bgPr>
    </p:bg>
    <p:spTree>
      <p:nvGrpSpPr>
        <p:cNvPr id="1" name=""/>
        <p:cNvGrpSpPr/>
        <p:nvPr/>
      </p:nvGrpSpPr>
      <p:grpSpPr>
        <a:xfrm>
          <a:off x="0" y="0"/>
          <a:ext cx="0" cy="0"/>
          <a:chOff x="0" y="0"/>
          <a:chExt cx="0" cy="0"/>
        </a:xfrm>
      </p:grpSpPr>
      <p:sp>
        <p:nvSpPr>
          <p:cNvPr id="2" name="Text 0"/>
          <p:cNvSpPr/>
          <p:nvPr/>
        </p:nvSpPr>
        <p:spPr>
          <a:xfrm>
            <a:off x="822960" y="1051560"/>
            <a:ext cx="4023360" cy="3108960"/>
          </a:xfrm>
          <a:prstGeom prst="rect">
            <a:avLst/>
          </a:prstGeom>
          <a:noFill/>
          <a:ln/>
        </p:spPr>
        <p:txBody>
          <a:bodyPr wrap="square" lIns="0" tIns="0" rIns="0" bIns="0" rtlCol="0" anchor="ctr"/>
          <a:lstStyle/>
          <a:p>
            <a:pPr indent="0" marL="0">
              <a:buNone/>
            </a:pPr>
            <a:r>
              <a:rPr lang="en-US" sz="22000" b="1" dirty="0">
                <a:solidFill>
                  <a:srgbClr val="F2A900"/>
                </a:solidFill>
                <a:latin typeface="Arial" pitchFamily="34" charset="0"/>
                <a:ea typeface="Arial" pitchFamily="34" charset="-122"/>
                <a:cs typeface="Arial" pitchFamily="34" charset="-120"/>
              </a:rPr>
              <a:t>T</a:t>
            </a:r>
            <a:endParaRPr lang="en-US" sz="22000" dirty="0"/>
          </a:p>
        </p:txBody>
      </p:sp>
      <p:sp>
        <p:nvSpPr>
          <p:cNvPr id="3" name="Text 1"/>
          <p:cNvSpPr/>
          <p:nvPr/>
        </p:nvSpPr>
        <p:spPr>
          <a:xfrm>
            <a:off x="914400" y="4206240"/>
            <a:ext cx="7315200" cy="82296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Task</a:t>
            </a:r>
            <a:endParaRPr lang="en-US" sz="4000" dirty="0"/>
          </a:p>
        </p:txBody>
      </p:sp>
      <p:sp>
        <p:nvSpPr>
          <p:cNvPr id="4" name="Text 2"/>
          <p:cNvSpPr/>
          <p:nvPr/>
        </p:nvSpPr>
        <p:spPr>
          <a:xfrm>
            <a:off x="914400" y="5029200"/>
            <a:ext cx="9601200" cy="822960"/>
          </a:xfrm>
          <a:prstGeom prst="rect">
            <a:avLst/>
          </a:prstGeom>
          <a:noFill/>
          <a:ln/>
        </p:spPr>
        <p:txBody>
          <a:bodyPr wrap="square" lIns="0" tIns="0" rIns="0" bIns="0" rtlCol="0" anchor="ctr"/>
          <a:lstStyle/>
          <a:p>
            <a:pPr indent="0" marL="0">
              <a:buNone/>
            </a:pPr>
            <a:r>
              <a:rPr lang="en-US" sz="1600" dirty="0">
                <a:solidFill>
                  <a:srgbClr val="C9D3E8"/>
                </a:solidFill>
                <a:latin typeface="Calibri" pitchFamily="34" charset="0"/>
                <a:ea typeface="Calibri" pitchFamily="34" charset="-122"/>
                <a:cs typeface="Calibri" pitchFamily="34" charset="-120"/>
              </a:rPr>
              <a:t>What we set out to build — and the constraints we refused to relax.</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02920" y="292608"/>
            <a:ext cx="11183112" cy="777240"/>
          </a:xfrm>
          <a:prstGeom prst="rect">
            <a:avLst/>
          </a:prstGeom>
          <a:noFill/>
          <a:ln/>
        </p:spPr>
        <p:txBody>
          <a:bodyPr wrap="square" lIns="0" tIns="0" rIns="0" bIns="0" rtlCol="0" anchor="ctr"/>
          <a:lstStyle/>
          <a:p>
            <a:pPr algn="l" indent="0" marL="0">
              <a:buNone/>
            </a:pPr>
            <a:r>
              <a:rPr lang="en-US" sz="2700" b="1" dirty="0">
                <a:solidFill>
                  <a:srgbClr val="1E2A45"/>
                </a:solidFill>
                <a:latin typeface="Arial" pitchFamily="34" charset="0"/>
                <a:ea typeface="Arial" pitchFamily="34" charset="-122"/>
                <a:cs typeface="Arial" pitchFamily="34" charset="-120"/>
              </a:rPr>
              <a:t>The brief, and the constraints we refused to relax</a:t>
            </a:r>
            <a:endParaRPr lang="en-US" sz="2700" dirty="0"/>
          </a:p>
        </p:txBody>
      </p:sp>
      <p:sp>
        <p:nvSpPr>
          <p:cNvPr id="3" name="Text 1"/>
          <p:cNvSpPr/>
          <p:nvPr/>
        </p:nvSpPr>
        <p:spPr>
          <a:xfrm>
            <a:off x="502920" y="1097280"/>
            <a:ext cx="5486400" cy="365760"/>
          </a:xfrm>
          <a:prstGeom prst="rect">
            <a:avLst/>
          </a:prstGeom>
          <a:noFill/>
          <a:ln/>
        </p:spPr>
        <p:txBody>
          <a:bodyPr wrap="square" lIns="0" tIns="0" rIns="0" bIns="0" rtlCol="0" anchor="ctr"/>
          <a:lstStyle/>
          <a:p>
            <a:pPr indent="0" marL="0">
              <a:buNone/>
            </a:pPr>
            <a:r>
              <a:rPr lang="en-US" sz="1400" b="1" dirty="0">
                <a:solidFill>
                  <a:srgbClr val="1E2A45"/>
                </a:solidFill>
                <a:latin typeface="Arial" pitchFamily="34" charset="0"/>
                <a:ea typeface="Arial" pitchFamily="34" charset="-122"/>
                <a:cs typeface="Arial" pitchFamily="34" charset="-120"/>
              </a:rPr>
              <a:t>The rubric became the acceptance criteria</a:t>
            </a:r>
            <a:endParaRPr lang="en-US" sz="14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02920" y="1508760"/>
          <a:ext cx="5212080" cy="914400"/>
        </p:xfrm>
        <a:graphic>
          <a:graphicData uri="http://schemas.openxmlformats.org/drawingml/2006/table">
            <a:tbl>
              <a:tblPr/>
              <a:tblGrid>
                <a:gridCol w="411480"/>
                <a:gridCol w="4069080"/>
                <a:gridCol w="731520"/>
              </a:tblGrid>
              <a:tr h="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36576" marR="36576" marT="36576" marB="36576" anchor="ctr">
                    <a:lnL w="9525" cap="flat" cmpd="sng" algn="ctr">
                      <a:solidFill>
                        <a:srgbClr val="D8DEE9"/>
                      </a:solidFill>
                      <a:prstDash val="solid"/>
                      <a:round/>
                      <a:headEnd type="none" w="med" len="med"/>
                      <a:tailEnd type="none" w="med" len="med"/>
                    </a:lnL>
                    <a:lnR w="9525" cap="flat" cmpd="sng" algn="ctr">
                      <a:solidFill>
                        <a:srgbClr val="D8DEE9"/>
                      </a:solidFill>
                      <a:prstDash val="solid"/>
                      <a:round/>
                      <a:headEnd type="none" w="med" len="med"/>
                      <a:tailEnd type="none" w="med" len="med"/>
                    </a:lnR>
                    <a:lnT w="9525" cap="flat" cmpd="sng" algn="ctr">
                      <a:solidFill>
                        <a:srgbClr val="D8DEE9"/>
                      </a:solidFill>
                      <a:prstDash val="solid"/>
                      <a:round/>
                      <a:headEnd type="none" w="med" len="med"/>
                      <a:tailEnd type="none" w="med" len="med"/>
                    </a:lnT>
                    <a:lnB w="9525" cap="flat" cmpd="sng" algn="ctr">
                      <a:solidFill>
                        <a:srgbClr val="D8DEE9"/>
                      </a:solidFill>
                      <a:prstDash val="solid"/>
                      <a:round/>
                      <a:headEnd type="none" w="med" len="med"/>
                      <a:tailEnd type="none" w="med" len="med"/>
                    </a:lnB>
                    <a:solidFill>
                      <a:srgbClr val="1E2A45"/>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Section</a:t>
                      </a:r>
                      <a:endParaRPr lang="en-US" sz="1100" dirty="0">
                        <a:latin typeface="Calibri" charset="0"/>
                        <a:ea typeface="Calibri" charset="0"/>
                        <a:cs typeface="Calibri" charset="0"/>
                      </a:endParaRPr>
                    </a:p>
                  </a:txBody>
                  <a:tcPr marL="36576" marR="36576" marT="36576" marB="36576" anchor="ctr">
                    <a:lnL w="9525" cap="flat" cmpd="sng" algn="ctr">
                      <a:solidFill>
                        <a:srgbClr val="D8DEE9"/>
                      </a:solidFill>
                      <a:prstDash val="solid"/>
                      <a:round/>
                      <a:headEnd type="none" w="med" len="med"/>
                      <a:tailEnd type="none" w="med" len="med"/>
                    </a:lnL>
                    <a:lnR w="9525" cap="flat" cmpd="sng" algn="ctr">
                      <a:solidFill>
                        <a:srgbClr val="D8DEE9"/>
                      </a:solidFill>
                      <a:prstDash val="solid"/>
                      <a:round/>
                      <a:headEnd type="none" w="med" len="med"/>
                      <a:tailEnd type="none" w="med" len="med"/>
                    </a:lnR>
                    <a:lnT w="9525" cap="flat" cmpd="sng" algn="ctr">
                      <a:solidFill>
                        <a:srgbClr val="D8DEE9"/>
                      </a:solidFill>
                      <a:prstDash val="solid"/>
                      <a:round/>
                      <a:headEnd type="none" w="med" len="med"/>
                      <a:tailEnd type="none" w="med" len="med"/>
                    </a:lnT>
                    <a:lnB w="9525" cap="flat" cmpd="sng" algn="ctr">
                      <a:solidFill>
                        <a:srgbClr val="D8DEE9"/>
                      </a:solidFill>
                      <a:prstDash val="solid"/>
                      <a:round/>
                      <a:headEnd type="none" w="med" len="med"/>
                      <a:tailEnd type="none" w="med" len="med"/>
                    </a:lnB>
                    <a:solidFill>
                      <a:srgbClr val="1E2A45"/>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Pts</a:t>
                      </a:r>
                      <a:endParaRPr lang="en-US" sz="1100" dirty="0">
                        <a:latin typeface="Calibri" charset="0"/>
                        <a:ea typeface="Calibri" charset="0"/>
                        <a:cs typeface="Calibri" charset="0"/>
                      </a:endParaRPr>
                    </a:p>
                  </a:txBody>
                  <a:tcPr marL="36576" marR="36576" marT="36576" marB="36576" anchor="ctr">
                    <a:lnL w="9525" cap="flat" cmpd="sng" algn="ctr">
                      <a:solidFill>
                        <a:srgbClr val="D8DEE9"/>
                      </a:solidFill>
                      <a:prstDash val="solid"/>
                      <a:round/>
                      <a:headEnd type="none" w="med" len="med"/>
                      <a:tailEnd type="none" w="med" len="med"/>
                    </a:lnL>
                    <a:lnR w="9525" cap="flat" cmpd="sng" algn="ctr">
                      <a:solidFill>
                        <a:srgbClr val="D8DEE9"/>
                      </a:solidFill>
                      <a:prstDash val="solid"/>
                      <a:round/>
                      <a:headEnd type="none" w="med" len="med"/>
                      <a:tailEnd type="none" w="med" len="med"/>
                    </a:lnR>
                    <a:lnT w="9525" cap="flat" cmpd="sng" algn="ctr">
                      <a:solidFill>
                        <a:srgbClr val="D8DEE9"/>
                      </a:solidFill>
                      <a:prstDash val="solid"/>
                      <a:round/>
                      <a:headEnd type="none" w="med" len="med"/>
                      <a:tailEnd type="none" w="med" len="med"/>
                    </a:lnT>
                    <a:lnB w="9525" cap="flat" cmpd="sng" algn="ctr">
                      <a:solidFill>
                        <a:srgbClr val="D8DEE9"/>
                      </a:solidFill>
                      <a:prstDash val="solid"/>
                      <a:round/>
                      <a:headEnd type="none" w="med" len="med"/>
                      <a:tailEnd type="none" w="med" len="med"/>
                    </a:lnB>
                    <a:solidFill>
                      <a:srgbClr val="1E2A45"/>
                    </a:solidFill>
                  </a:tcPr>
                </a:tc>
              </a:tr>
              <a:tr h="0">
                <a:tc>
                  <a:txBody>
                    <a:bodyPr/>
                    <a:lstStyle/>
                    <a:p>
                      <a:pPr indent="0" marL="0">
                        <a:buNone/>
                      </a:pPr>
                      <a:r>
                        <a:rPr lang="en-US" sz="1050" dirty="0">
                          <a:solidFill>
                            <a:srgbClr val="1A2233"/>
                          </a:solidFill>
                          <a:latin typeface="Calibri" pitchFamily="34" charset="0"/>
                          <a:ea typeface="Calibri" pitchFamily="34" charset="-122"/>
                          <a:cs typeface="Calibri" pitchFamily="34" charset="-120"/>
                        </a:rPr>
                        <a:t>1</a:t>
                      </a:r>
                      <a:endParaRPr lang="en-US" sz="1050" dirty="0">
                        <a:latin typeface="Calibri" charset="0"/>
                        <a:ea typeface="Calibri" charset="0"/>
                        <a:cs typeface="Calibri" charset="0"/>
                      </a:endParaRPr>
                    </a:p>
                  </a:txBody>
                  <a:tcPr marL="36576" marR="36576" marT="36576" marB="36576" anchor="ctr">
                    <a:lnL w="9525" cap="flat" cmpd="sng" algn="ctr">
                      <a:solidFill>
                        <a:srgbClr val="D8DEE9"/>
                      </a:solidFill>
                      <a:prstDash val="solid"/>
                      <a:round/>
                      <a:headEnd type="none" w="med" len="med"/>
                      <a:tailEnd type="none" w="med" len="med"/>
                    </a:lnL>
                    <a:lnR w="9525" cap="flat" cmpd="sng" algn="ctr">
                      <a:solidFill>
                        <a:srgbClr val="D8DEE9"/>
                      </a:solidFill>
                      <a:prstDash val="solid"/>
                      <a:round/>
                      <a:headEnd type="none" w="med" len="med"/>
                      <a:tailEnd type="none" w="med" len="med"/>
                    </a:lnR>
                    <a:lnT w="9525" cap="flat" cmpd="sng" algn="ctr">
                      <a:solidFill>
                        <a:srgbClr val="D8DEE9"/>
                      </a:solidFill>
                      <a:prstDash val="solid"/>
                      <a:round/>
                      <a:headEnd type="none" w="med" len="med"/>
                      <a:tailEnd type="none" w="med" len="med"/>
                    </a:lnT>
                    <a:lnB w="9525" cap="flat" cmpd="sng" algn="ctr">
                      <a:solidFill>
                        <a:srgbClr val="D8DEE9"/>
                      </a:solidFill>
                      <a:prstDash val="solid"/>
                      <a:round/>
                      <a:headEnd type="none" w="med" len="med"/>
                      <a:tailEnd type="none" w="med" len="med"/>
                    </a:lnB>
                    <a:solidFill>
                      <a:srgbClr val="FFFFFF"/>
                    </a:solidFill>
                  </a:tcPr>
                </a:tc>
                <a:tc>
                  <a:txBody>
                    <a:bodyPr/>
                    <a:lstStyle/>
                    <a:p>
                      <a:pPr indent="0" marL="0">
                        <a:buNone/>
                      </a:pPr>
                      <a:r>
                        <a:rPr lang="en-US" sz="1050" dirty="0">
                          <a:solidFill>
                            <a:srgbClr val="1A2233"/>
                          </a:solidFill>
                          <a:latin typeface="Calibri" pitchFamily="34" charset="0"/>
                          <a:ea typeface="Calibri" pitchFamily="34" charset="-122"/>
                          <a:cs typeface="Calibri" pitchFamily="34" charset="-120"/>
                        </a:rPr>
                        <a:t>Agent fundamentals — real tools + structured output</a:t>
                      </a:r>
                      <a:endParaRPr lang="en-US" sz="1050" dirty="0">
                        <a:latin typeface="Calibri" charset="0"/>
                        <a:ea typeface="Calibri" charset="0"/>
                        <a:cs typeface="Calibri" charset="0"/>
                      </a:endParaRPr>
                    </a:p>
                  </a:txBody>
                  <a:tcPr marL="36576" marR="36576" marT="36576" marB="36576" anchor="ctr">
                    <a:lnL w="9525" cap="flat" cmpd="sng" algn="ctr">
                      <a:solidFill>
                        <a:srgbClr val="D8DEE9"/>
                      </a:solidFill>
                      <a:prstDash val="solid"/>
                      <a:round/>
                      <a:headEnd type="none" w="med" len="med"/>
                      <a:tailEnd type="none" w="med" len="med"/>
                    </a:lnL>
                    <a:lnR w="9525" cap="flat" cmpd="sng" algn="ctr">
                      <a:solidFill>
                        <a:srgbClr val="D8DEE9"/>
                      </a:solidFill>
                      <a:prstDash val="solid"/>
                      <a:round/>
                      <a:headEnd type="none" w="med" len="med"/>
                      <a:tailEnd type="none" w="med" len="med"/>
                    </a:lnR>
                    <a:lnT w="9525" cap="flat" cmpd="sng" algn="ctr">
                      <a:solidFill>
                        <a:srgbClr val="D8DEE9"/>
                      </a:solidFill>
                      <a:prstDash val="solid"/>
                      <a:round/>
                      <a:headEnd type="none" w="med" len="med"/>
                      <a:tailEnd type="none" w="med" len="med"/>
                    </a:lnT>
                    <a:lnB w="9525" cap="flat" cmpd="sng" algn="ctr">
                      <a:solidFill>
                        <a:srgbClr val="D8DEE9"/>
                      </a:solidFill>
                      <a:prstDash val="solid"/>
                      <a:round/>
                      <a:headEnd type="none" w="med" len="med"/>
                      <a:tailEnd type="none" w="med" len="med"/>
                    </a:lnB>
                    <a:solidFill>
                      <a:srgbClr val="FFFFFF"/>
                    </a:solidFill>
                  </a:tcPr>
                </a:tc>
                <a:tc>
                  <a:txBody>
                    <a:bodyPr/>
                    <a:lstStyle/>
                    <a:p>
                      <a:pPr indent="0" marL="0">
                        <a:buNone/>
                      </a:pPr>
                      <a:r>
                        <a:rPr lang="en-US" sz="1050" dirty="0">
                          <a:solidFill>
                            <a:srgbClr val="1A2233"/>
                          </a:solidFill>
                          <a:latin typeface="Calibri" pitchFamily="34" charset="0"/>
                          <a:ea typeface="Calibri" pitchFamily="34" charset="-122"/>
                          <a:cs typeface="Calibri" pitchFamily="34" charset="-120"/>
                        </a:rPr>
                        <a:t>15</a:t>
                      </a:r>
                      <a:endParaRPr lang="en-US" sz="1050" dirty="0">
                        <a:latin typeface="Calibri" charset="0"/>
                        <a:ea typeface="Calibri" charset="0"/>
                        <a:cs typeface="Calibri" charset="0"/>
                      </a:endParaRPr>
                    </a:p>
                  </a:txBody>
                  <a:tcPr marL="36576" marR="36576" marT="36576" marB="36576" anchor="ctr">
                    <a:lnL w="9525" cap="flat" cmpd="sng" algn="ctr">
                      <a:solidFill>
                        <a:srgbClr val="D8DEE9"/>
                      </a:solidFill>
                      <a:prstDash val="solid"/>
                      <a:round/>
                      <a:headEnd type="none" w="med" len="med"/>
                      <a:tailEnd type="none" w="med" len="med"/>
                    </a:lnL>
                    <a:lnR w="9525" cap="flat" cmpd="sng" algn="ctr">
                      <a:solidFill>
                        <a:srgbClr val="D8DEE9"/>
                      </a:solidFill>
                      <a:prstDash val="solid"/>
                      <a:round/>
                      <a:headEnd type="none" w="med" len="med"/>
                      <a:tailEnd type="none" w="med" len="med"/>
                    </a:lnR>
                    <a:lnT w="9525" cap="flat" cmpd="sng" algn="ctr">
                      <a:solidFill>
                        <a:srgbClr val="D8DEE9"/>
                      </a:solidFill>
                      <a:prstDash val="solid"/>
                      <a:round/>
                      <a:headEnd type="none" w="med" len="med"/>
                      <a:tailEnd type="none" w="med" len="med"/>
                    </a:lnT>
                    <a:lnB w="9525" cap="flat" cmpd="sng" algn="ctr">
                      <a:solidFill>
                        <a:srgbClr val="D8DEE9"/>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A2233"/>
                          </a:solidFill>
                          <a:latin typeface="Calibri" pitchFamily="34" charset="0"/>
                          <a:ea typeface="Calibri" pitchFamily="34" charset="-122"/>
                          <a:cs typeface="Calibri" pitchFamily="34" charset="-120"/>
                        </a:rPr>
                        <a:t>2</a:t>
                      </a:r>
                      <a:endParaRPr lang="en-US" sz="1050" dirty="0">
                        <a:latin typeface="Calibri" charset="0"/>
                        <a:ea typeface="Calibri" charset="0"/>
                        <a:cs typeface="Calibri" charset="0"/>
                      </a:endParaRPr>
                    </a:p>
                  </a:txBody>
                  <a:tcPr marL="36576" marR="36576" marT="36576" marB="36576" anchor="ctr">
                    <a:lnL w="9525" cap="flat" cmpd="sng" algn="ctr">
                      <a:solidFill>
                        <a:srgbClr val="D8DEE9"/>
                      </a:solidFill>
                      <a:prstDash val="solid"/>
                      <a:round/>
                      <a:headEnd type="none" w="med" len="med"/>
                      <a:tailEnd type="none" w="med" len="med"/>
                    </a:lnL>
                    <a:lnR w="9525" cap="flat" cmpd="sng" algn="ctr">
                      <a:solidFill>
                        <a:srgbClr val="D8DEE9"/>
                      </a:solidFill>
                      <a:prstDash val="solid"/>
                      <a:round/>
                      <a:headEnd type="none" w="med" len="med"/>
                      <a:tailEnd type="none" w="med" len="med"/>
                    </a:lnR>
                    <a:lnT w="9525" cap="flat" cmpd="sng" algn="ctr">
                      <a:solidFill>
                        <a:srgbClr val="D8DEE9"/>
                      </a:solidFill>
                      <a:prstDash val="solid"/>
                      <a:round/>
                      <a:headEnd type="none" w="med" len="med"/>
                      <a:tailEnd type="none" w="med" len="med"/>
                    </a:lnT>
                    <a:lnB w="9525" cap="flat" cmpd="sng" algn="ctr">
                      <a:solidFill>
                        <a:srgbClr val="D8DEE9"/>
                      </a:solidFill>
                      <a:prstDash val="solid"/>
                      <a:round/>
                      <a:headEnd type="none" w="med" len="med"/>
                      <a:tailEnd type="none" w="med" len="med"/>
                    </a:lnB>
                    <a:solidFill>
                      <a:srgbClr val="F4F6FA"/>
                    </a:solidFill>
                  </a:tcPr>
                </a:tc>
                <a:tc>
                  <a:txBody>
                    <a:bodyPr/>
                    <a:lstStyle/>
                    <a:p>
                      <a:pPr indent="0" marL="0">
                        <a:buNone/>
                      </a:pPr>
                      <a:r>
                        <a:rPr lang="en-US" sz="1050" dirty="0">
                          <a:solidFill>
                            <a:srgbClr val="1A2233"/>
                          </a:solidFill>
                          <a:latin typeface="Calibri" pitchFamily="34" charset="0"/>
                          <a:ea typeface="Calibri" pitchFamily="34" charset="-122"/>
                          <a:cs typeface="Calibri" pitchFamily="34" charset="-120"/>
                        </a:rPr>
                        <a:t>Multi-agent routing (LLM decides)</a:t>
                      </a:r>
                      <a:endParaRPr lang="en-US" sz="1050" dirty="0">
                        <a:latin typeface="Calibri" charset="0"/>
                        <a:ea typeface="Calibri" charset="0"/>
                        <a:cs typeface="Calibri" charset="0"/>
                      </a:endParaRPr>
                    </a:p>
                  </a:txBody>
                  <a:tcPr marL="36576" marR="36576" marT="36576" marB="36576" anchor="ctr">
                    <a:lnL w="9525" cap="flat" cmpd="sng" algn="ctr">
                      <a:solidFill>
                        <a:srgbClr val="D8DEE9"/>
                      </a:solidFill>
                      <a:prstDash val="solid"/>
                      <a:round/>
                      <a:headEnd type="none" w="med" len="med"/>
                      <a:tailEnd type="none" w="med" len="med"/>
                    </a:lnL>
                    <a:lnR w="9525" cap="flat" cmpd="sng" algn="ctr">
                      <a:solidFill>
                        <a:srgbClr val="D8DEE9"/>
                      </a:solidFill>
                      <a:prstDash val="solid"/>
                      <a:round/>
                      <a:headEnd type="none" w="med" len="med"/>
                      <a:tailEnd type="none" w="med" len="med"/>
                    </a:lnR>
                    <a:lnT w="9525" cap="flat" cmpd="sng" algn="ctr">
                      <a:solidFill>
                        <a:srgbClr val="D8DEE9"/>
                      </a:solidFill>
                      <a:prstDash val="solid"/>
                      <a:round/>
                      <a:headEnd type="none" w="med" len="med"/>
                      <a:tailEnd type="none" w="med" len="med"/>
                    </a:lnT>
                    <a:lnB w="9525" cap="flat" cmpd="sng" algn="ctr">
                      <a:solidFill>
                        <a:srgbClr val="D8DEE9"/>
                      </a:solidFill>
                      <a:prstDash val="solid"/>
                      <a:round/>
                      <a:headEnd type="none" w="med" len="med"/>
                      <a:tailEnd type="none" w="med" len="med"/>
                    </a:lnB>
                    <a:solidFill>
                      <a:srgbClr val="F4F6FA"/>
                    </a:solidFill>
                  </a:tcPr>
                </a:tc>
                <a:tc>
                  <a:txBody>
                    <a:bodyPr/>
                    <a:lstStyle/>
                    <a:p>
                      <a:pPr indent="0" marL="0">
                        <a:buNone/>
                      </a:pPr>
                      <a:r>
                        <a:rPr lang="en-US" sz="1050" dirty="0">
                          <a:solidFill>
                            <a:srgbClr val="1A2233"/>
                          </a:solidFill>
                          <a:latin typeface="Calibri" pitchFamily="34" charset="0"/>
                          <a:ea typeface="Calibri" pitchFamily="34" charset="-122"/>
                          <a:cs typeface="Calibri" pitchFamily="34" charset="-120"/>
                        </a:rPr>
                        <a:t>15</a:t>
                      </a:r>
                      <a:endParaRPr lang="en-US" sz="1050" dirty="0">
                        <a:latin typeface="Calibri" charset="0"/>
                        <a:ea typeface="Calibri" charset="0"/>
                        <a:cs typeface="Calibri" charset="0"/>
                      </a:endParaRPr>
                    </a:p>
                  </a:txBody>
                  <a:tcPr marL="36576" marR="36576" marT="36576" marB="36576" anchor="ctr">
                    <a:lnL w="9525" cap="flat" cmpd="sng" algn="ctr">
                      <a:solidFill>
                        <a:srgbClr val="D8DEE9"/>
                      </a:solidFill>
                      <a:prstDash val="solid"/>
                      <a:round/>
                      <a:headEnd type="none" w="med" len="med"/>
                      <a:tailEnd type="none" w="med" len="med"/>
                    </a:lnL>
                    <a:lnR w="9525" cap="flat" cmpd="sng" algn="ctr">
                      <a:solidFill>
                        <a:srgbClr val="D8DEE9"/>
                      </a:solidFill>
                      <a:prstDash val="solid"/>
                      <a:round/>
                      <a:headEnd type="none" w="med" len="med"/>
                      <a:tailEnd type="none" w="med" len="med"/>
                    </a:lnR>
                    <a:lnT w="9525" cap="flat" cmpd="sng" algn="ctr">
                      <a:solidFill>
                        <a:srgbClr val="D8DEE9"/>
                      </a:solidFill>
                      <a:prstDash val="solid"/>
                      <a:round/>
                      <a:headEnd type="none" w="med" len="med"/>
                      <a:tailEnd type="none" w="med" len="med"/>
                    </a:lnT>
                    <a:lnB w="9525" cap="flat" cmpd="sng" algn="ctr">
                      <a:solidFill>
                        <a:srgbClr val="D8DEE9"/>
                      </a:solidFill>
                      <a:prstDash val="solid"/>
                      <a:round/>
                      <a:headEnd type="none" w="med" len="med"/>
                      <a:tailEnd type="none" w="med" len="med"/>
                    </a:lnB>
                    <a:solidFill>
                      <a:srgbClr val="F4F6FA"/>
                    </a:solidFill>
                  </a:tcPr>
                </a:tc>
              </a:tr>
              <a:tr h="0">
                <a:tc>
                  <a:txBody>
                    <a:bodyPr/>
                    <a:lstStyle/>
                    <a:p>
                      <a:pPr indent="0" marL="0">
                        <a:buNone/>
                      </a:pPr>
                      <a:r>
                        <a:rPr lang="en-US" sz="1050" dirty="0">
                          <a:solidFill>
                            <a:srgbClr val="1A2233"/>
                          </a:solidFill>
                          <a:latin typeface="Calibri" pitchFamily="34" charset="0"/>
                          <a:ea typeface="Calibri" pitchFamily="34" charset="-122"/>
                          <a:cs typeface="Calibri" pitchFamily="34" charset="-120"/>
                        </a:rPr>
                        <a:t>3</a:t>
                      </a:r>
                      <a:endParaRPr lang="en-US" sz="1050" dirty="0">
                        <a:latin typeface="Calibri" charset="0"/>
                        <a:ea typeface="Calibri" charset="0"/>
                        <a:cs typeface="Calibri" charset="0"/>
                      </a:endParaRPr>
                    </a:p>
                  </a:txBody>
                  <a:tcPr marL="36576" marR="36576" marT="36576" marB="36576" anchor="ctr">
                    <a:lnL w="9525" cap="flat" cmpd="sng" algn="ctr">
                      <a:solidFill>
                        <a:srgbClr val="D8DEE9"/>
                      </a:solidFill>
                      <a:prstDash val="solid"/>
                      <a:round/>
                      <a:headEnd type="none" w="med" len="med"/>
                      <a:tailEnd type="none" w="med" len="med"/>
                    </a:lnL>
                    <a:lnR w="9525" cap="flat" cmpd="sng" algn="ctr">
                      <a:solidFill>
                        <a:srgbClr val="D8DEE9"/>
                      </a:solidFill>
                      <a:prstDash val="solid"/>
                      <a:round/>
                      <a:headEnd type="none" w="med" len="med"/>
                      <a:tailEnd type="none" w="med" len="med"/>
                    </a:lnR>
                    <a:lnT w="9525" cap="flat" cmpd="sng" algn="ctr">
                      <a:solidFill>
                        <a:srgbClr val="D8DEE9"/>
                      </a:solidFill>
                      <a:prstDash val="solid"/>
                      <a:round/>
                      <a:headEnd type="none" w="med" len="med"/>
                      <a:tailEnd type="none" w="med" len="med"/>
                    </a:lnT>
                    <a:lnB w="9525" cap="flat" cmpd="sng" algn="ctr">
                      <a:solidFill>
                        <a:srgbClr val="D8DEE9"/>
                      </a:solidFill>
                      <a:prstDash val="solid"/>
                      <a:round/>
                      <a:headEnd type="none" w="med" len="med"/>
                      <a:tailEnd type="none" w="med" len="med"/>
                    </a:lnB>
                    <a:solidFill>
                      <a:srgbClr val="FFFFFF"/>
                    </a:solidFill>
                  </a:tcPr>
                </a:tc>
                <a:tc>
                  <a:txBody>
                    <a:bodyPr/>
                    <a:lstStyle/>
                    <a:p>
                      <a:pPr indent="0" marL="0">
                        <a:buNone/>
                      </a:pPr>
                      <a:r>
                        <a:rPr lang="en-US" sz="1050" dirty="0">
                          <a:solidFill>
                            <a:srgbClr val="1A2233"/>
                          </a:solidFill>
                          <a:latin typeface="Calibri" pitchFamily="34" charset="0"/>
                          <a:ea typeface="Calibri" pitchFamily="34" charset="-122"/>
                          <a:cs typeface="Calibri" pitchFamily="34" charset="-120"/>
                        </a:rPr>
                        <a:t>RAG pipeline + written justification</a:t>
                      </a:r>
                      <a:endParaRPr lang="en-US" sz="1050" dirty="0">
                        <a:latin typeface="Calibri" charset="0"/>
                        <a:ea typeface="Calibri" charset="0"/>
                        <a:cs typeface="Calibri" charset="0"/>
                      </a:endParaRPr>
                    </a:p>
                  </a:txBody>
                  <a:tcPr marL="36576" marR="36576" marT="36576" marB="36576" anchor="ctr">
                    <a:lnL w="9525" cap="flat" cmpd="sng" algn="ctr">
                      <a:solidFill>
                        <a:srgbClr val="D8DEE9"/>
                      </a:solidFill>
                      <a:prstDash val="solid"/>
                      <a:round/>
                      <a:headEnd type="none" w="med" len="med"/>
                      <a:tailEnd type="none" w="med" len="med"/>
                    </a:lnL>
                    <a:lnR w="9525" cap="flat" cmpd="sng" algn="ctr">
                      <a:solidFill>
                        <a:srgbClr val="D8DEE9"/>
                      </a:solidFill>
                      <a:prstDash val="solid"/>
                      <a:round/>
                      <a:headEnd type="none" w="med" len="med"/>
                      <a:tailEnd type="none" w="med" len="med"/>
                    </a:lnR>
                    <a:lnT w="9525" cap="flat" cmpd="sng" algn="ctr">
                      <a:solidFill>
                        <a:srgbClr val="D8DEE9"/>
                      </a:solidFill>
                      <a:prstDash val="solid"/>
                      <a:round/>
                      <a:headEnd type="none" w="med" len="med"/>
                      <a:tailEnd type="none" w="med" len="med"/>
                    </a:lnT>
                    <a:lnB w="9525" cap="flat" cmpd="sng" algn="ctr">
                      <a:solidFill>
                        <a:srgbClr val="D8DEE9"/>
                      </a:solidFill>
                      <a:prstDash val="solid"/>
                      <a:round/>
                      <a:headEnd type="none" w="med" len="med"/>
                      <a:tailEnd type="none" w="med" len="med"/>
                    </a:lnB>
                    <a:solidFill>
                      <a:srgbClr val="FFFFFF"/>
                    </a:solidFill>
                  </a:tcPr>
                </a:tc>
                <a:tc>
                  <a:txBody>
                    <a:bodyPr/>
                    <a:lstStyle/>
                    <a:p>
                      <a:pPr indent="0" marL="0">
                        <a:buNone/>
                      </a:pPr>
                      <a:r>
                        <a:rPr lang="en-US" sz="1050" dirty="0">
                          <a:solidFill>
                            <a:srgbClr val="1A2233"/>
                          </a:solidFill>
                          <a:latin typeface="Calibri" pitchFamily="34" charset="0"/>
                          <a:ea typeface="Calibri" pitchFamily="34" charset="-122"/>
                          <a:cs typeface="Calibri" pitchFamily="34" charset="-120"/>
                        </a:rPr>
                        <a:t>15</a:t>
                      </a:r>
                      <a:endParaRPr lang="en-US" sz="1050" dirty="0">
                        <a:latin typeface="Calibri" charset="0"/>
                        <a:ea typeface="Calibri" charset="0"/>
                        <a:cs typeface="Calibri" charset="0"/>
                      </a:endParaRPr>
                    </a:p>
                  </a:txBody>
                  <a:tcPr marL="36576" marR="36576" marT="36576" marB="36576" anchor="ctr">
                    <a:lnL w="9525" cap="flat" cmpd="sng" algn="ctr">
                      <a:solidFill>
                        <a:srgbClr val="D8DEE9"/>
                      </a:solidFill>
                      <a:prstDash val="solid"/>
                      <a:round/>
                      <a:headEnd type="none" w="med" len="med"/>
                      <a:tailEnd type="none" w="med" len="med"/>
                    </a:lnL>
                    <a:lnR w="9525" cap="flat" cmpd="sng" algn="ctr">
                      <a:solidFill>
                        <a:srgbClr val="D8DEE9"/>
                      </a:solidFill>
                      <a:prstDash val="solid"/>
                      <a:round/>
                      <a:headEnd type="none" w="med" len="med"/>
                      <a:tailEnd type="none" w="med" len="med"/>
                    </a:lnR>
                    <a:lnT w="9525" cap="flat" cmpd="sng" algn="ctr">
                      <a:solidFill>
                        <a:srgbClr val="D8DEE9"/>
                      </a:solidFill>
                      <a:prstDash val="solid"/>
                      <a:round/>
                      <a:headEnd type="none" w="med" len="med"/>
                      <a:tailEnd type="none" w="med" len="med"/>
                    </a:lnT>
                    <a:lnB w="9525" cap="flat" cmpd="sng" algn="ctr">
                      <a:solidFill>
                        <a:srgbClr val="D8DEE9"/>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A2233"/>
                          </a:solidFill>
                          <a:latin typeface="Calibri" pitchFamily="34" charset="0"/>
                          <a:ea typeface="Calibri" pitchFamily="34" charset="-122"/>
                          <a:cs typeface="Calibri" pitchFamily="34" charset="-120"/>
                        </a:rPr>
                        <a:t>4</a:t>
                      </a:r>
                      <a:endParaRPr lang="en-US" sz="1050" dirty="0">
                        <a:latin typeface="Calibri" charset="0"/>
                        <a:ea typeface="Calibri" charset="0"/>
                        <a:cs typeface="Calibri" charset="0"/>
                      </a:endParaRPr>
                    </a:p>
                  </a:txBody>
                  <a:tcPr marL="36576" marR="36576" marT="36576" marB="36576" anchor="ctr">
                    <a:lnL w="9525" cap="flat" cmpd="sng" algn="ctr">
                      <a:solidFill>
                        <a:srgbClr val="D8DEE9"/>
                      </a:solidFill>
                      <a:prstDash val="solid"/>
                      <a:round/>
                      <a:headEnd type="none" w="med" len="med"/>
                      <a:tailEnd type="none" w="med" len="med"/>
                    </a:lnL>
                    <a:lnR w="9525" cap="flat" cmpd="sng" algn="ctr">
                      <a:solidFill>
                        <a:srgbClr val="D8DEE9"/>
                      </a:solidFill>
                      <a:prstDash val="solid"/>
                      <a:round/>
                      <a:headEnd type="none" w="med" len="med"/>
                      <a:tailEnd type="none" w="med" len="med"/>
                    </a:lnR>
                    <a:lnT w="9525" cap="flat" cmpd="sng" algn="ctr">
                      <a:solidFill>
                        <a:srgbClr val="D8DEE9"/>
                      </a:solidFill>
                      <a:prstDash val="solid"/>
                      <a:round/>
                      <a:headEnd type="none" w="med" len="med"/>
                      <a:tailEnd type="none" w="med" len="med"/>
                    </a:lnT>
                    <a:lnB w="9525" cap="flat" cmpd="sng" algn="ctr">
                      <a:solidFill>
                        <a:srgbClr val="D8DEE9"/>
                      </a:solidFill>
                      <a:prstDash val="solid"/>
                      <a:round/>
                      <a:headEnd type="none" w="med" len="med"/>
                      <a:tailEnd type="none" w="med" len="med"/>
                    </a:lnB>
                    <a:solidFill>
                      <a:srgbClr val="F4F6FA"/>
                    </a:solidFill>
                  </a:tcPr>
                </a:tc>
                <a:tc>
                  <a:txBody>
                    <a:bodyPr/>
                    <a:lstStyle/>
                    <a:p>
                      <a:pPr indent="0" marL="0">
                        <a:buNone/>
                      </a:pPr>
                      <a:r>
                        <a:rPr lang="en-US" sz="1050" dirty="0">
                          <a:solidFill>
                            <a:srgbClr val="1A2233"/>
                          </a:solidFill>
                          <a:latin typeface="Calibri" pitchFamily="34" charset="0"/>
                          <a:ea typeface="Calibri" pitchFamily="34" charset="-122"/>
                          <a:cs typeface="Calibri" pitchFamily="34" charset="-120"/>
                        </a:rPr>
                        <a:t>Context &amp; state (checkpointer + Store)</a:t>
                      </a:r>
                      <a:endParaRPr lang="en-US" sz="1050" dirty="0">
                        <a:latin typeface="Calibri" charset="0"/>
                        <a:ea typeface="Calibri" charset="0"/>
                        <a:cs typeface="Calibri" charset="0"/>
                      </a:endParaRPr>
                    </a:p>
                  </a:txBody>
                  <a:tcPr marL="36576" marR="36576" marT="36576" marB="36576" anchor="ctr">
                    <a:lnL w="9525" cap="flat" cmpd="sng" algn="ctr">
                      <a:solidFill>
                        <a:srgbClr val="D8DEE9"/>
                      </a:solidFill>
                      <a:prstDash val="solid"/>
                      <a:round/>
                      <a:headEnd type="none" w="med" len="med"/>
                      <a:tailEnd type="none" w="med" len="med"/>
                    </a:lnL>
                    <a:lnR w="9525" cap="flat" cmpd="sng" algn="ctr">
                      <a:solidFill>
                        <a:srgbClr val="D8DEE9"/>
                      </a:solidFill>
                      <a:prstDash val="solid"/>
                      <a:round/>
                      <a:headEnd type="none" w="med" len="med"/>
                      <a:tailEnd type="none" w="med" len="med"/>
                    </a:lnR>
                    <a:lnT w="9525" cap="flat" cmpd="sng" algn="ctr">
                      <a:solidFill>
                        <a:srgbClr val="D8DEE9"/>
                      </a:solidFill>
                      <a:prstDash val="solid"/>
                      <a:round/>
                      <a:headEnd type="none" w="med" len="med"/>
                      <a:tailEnd type="none" w="med" len="med"/>
                    </a:lnT>
                    <a:lnB w="9525" cap="flat" cmpd="sng" algn="ctr">
                      <a:solidFill>
                        <a:srgbClr val="D8DEE9"/>
                      </a:solidFill>
                      <a:prstDash val="solid"/>
                      <a:round/>
                      <a:headEnd type="none" w="med" len="med"/>
                      <a:tailEnd type="none" w="med" len="med"/>
                    </a:lnB>
                    <a:solidFill>
                      <a:srgbClr val="F4F6FA"/>
                    </a:solidFill>
                  </a:tcPr>
                </a:tc>
                <a:tc>
                  <a:txBody>
                    <a:bodyPr/>
                    <a:lstStyle/>
                    <a:p>
                      <a:pPr indent="0" marL="0">
                        <a:buNone/>
                      </a:pPr>
                      <a:r>
                        <a:rPr lang="en-US" sz="1050" dirty="0">
                          <a:solidFill>
                            <a:srgbClr val="1A2233"/>
                          </a:solidFill>
                          <a:latin typeface="Calibri" pitchFamily="34" charset="0"/>
                          <a:ea typeface="Calibri" pitchFamily="34" charset="-122"/>
                          <a:cs typeface="Calibri" pitchFamily="34" charset="-120"/>
                        </a:rPr>
                        <a:t>15</a:t>
                      </a:r>
                      <a:endParaRPr lang="en-US" sz="1050" dirty="0">
                        <a:latin typeface="Calibri" charset="0"/>
                        <a:ea typeface="Calibri" charset="0"/>
                        <a:cs typeface="Calibri" charset="0"/>
                      </a:endParaRPr>
                    </a:p>
                  </a:txBody>
                  <a:tcPr marL="36576" marR="36576" marT="36576" marB="36576" anchor="ctr">
                    <a:lnL w="9525" cap="flat" cmpd="sng" algn="ctr">
                      <a:solidFill>
                        <a:srgbClr val="D8DEE9"/>
                      </a:solidFill>
                      <a:prstDash val="solid"/>
                      <a:round/>
                      <a:headEnd type="none" w="med" len="med"/>
                      <a:tailEnd type="none" w="med" len="med"/>
                    </a:lnL>
                    <a:lnR w="9525" cap="flat" cmpd="sng" algn="ctr">
                      <a:solidFill>
                        <a:srgbClr val="D8DEE9"/>
                      </a:solidFill>
                      <a:prstDash val="solid"/>
                      <a:round/>
                      <a:headEnd type="none" w="med" len="med"/>
                      <a:tailEnd type="none" w="med" len="med"/>
                    </a:lnR>
                    <a:lnT w="9525" cap="flat" cmpd="sng" algn="ctr">
                      <a:solidFill>
                        <a:srgbClr val="D8DEE9"/>
                      </a:solidFill>
                      <a:prstDash val="solid"/>
                      <a:round/>
                      <a:headEnd type="none" w="med" len="med"/>
                      <a:tailEnd type="none" w="med" len="med"/>
                    </a:lnT>
                    <a:lnB w="9525" cap="flat" cmpd="sng" algn="ctr">
                      <a:solidFill>
                        <a:srgbClr val="D8DEE9"/>
                      </a:solidFill>
                      <a:prstDash val="solid"/>
                      <a:round/>
                      <a:headEnd type="none" w="med" len="med"/>
                      <a:tailEnd type="none" w="med" len="med"/>
                    </a:lnB>
                    <a:solidFill>
                      <a:srgbClr val="F4F6FA"/>
                    </a:solidFill>
                  </a:tcPr>
                </a:tc>
              </a:tr>
              <a:tr h="0">
                <a:tc>
                  <a:txBody>
                    <a:bodyPr/>
                    <a:lstStyle/>
                    <a:p>
                      <a:pPr indent="0" marL="0">
                        <a:buNone/>
                      </a:pPr>
                      <a:r>
                        <a:rPr lang="en-US" sz="1050" dirty="0">
                          <a:solidFill>
                            <a:srgbClr val="1A2233"/>
                          </a:solidFill>
                          <a:latin typeface="Calibri" pitchFamily="34" charset="0"/>
                          <a:ea typeface="Calibri" pitchFamily="34" charset="-122"/>
                          <a:cs typeface="Calibri" pitchFamily="34" charset="-120"/>
                        </a:rPr>
                        <a:t>5</a:t>
                      </a:r>
                      <a:endParaRPr lang="en-US" sz="1050" dirty="0">
                        <a:latin typeface="Calibri" charset="0"/>
                        <a:ea typeface="Calibri" charset="0"/>
                        <a:cs typeface="Calibri" charset="0"/>
                      </a:endParaRPr>
                    </a:p>
                  </a:txBody>
                  <a:tcPr marL="36576" marR="36576" marT="36576" marB="36576" anchor="ctr">
                    <a:lnL w="9525" cap="flat" cmpd="sng" algn="ctr">
                      <a:solidFill>
                        <a:srgbClr val="D8DEE9"/>
                      </a:solidFill>
                      <a:prstDash val="solid"/>
                      <a:round/>
                      <a:headEnd type="none" w="med" len="med"/>
                      <a:tailEnd type="none" w="med" len="med"/>
                    </a:lnL>
                    <a:lnR w="9525" cap="flat" cmpd="sng" algn="ctr">
                      <a:solidFill>
                        <a:srgbClr val="D8DEE9"/>
                      </a:solidFill>
                      <a:prstDash val="solid"/>
                      <a:round/>
                      <a:headEnd type="none" w="med" len="med"/>
                      <a:tailEnd type="none" w="med" len="med"/>
                    </a:lnR>
                    <a:lnT w="9525" cap="flat" cmpd="sng" algn="ctr">
                      <a:solidFill>
                        <a:srgbClr val="D8DEE9"/>
                      </a:solidFill>
                      <a:prstDash val="solid"/>
                      <a:round/>
                      <a:headEnd type="none" w="med" len="med"/>
                      <a:tailEnd type="none" w="med" len="med"/>
                    </a:lnT>
                    <a:lnB w="9525" cap="flat" cmpd="sng" algn="ctr">
                      <a:solidFill>
                        <a:srgbClr val="D8DEE9"/>
                      </a:solidFill>
                      <a:prstDash val="solid"/>
                      <a:round/>
                      <a:headEnd type="none" w="med" len="med"/>
                      <a:tailEnd type="none" w="med" len="med"/>
                    </a:lnB>
                    <a:solidFill>
                      <a:srgbClr val="FFFFFF"/>
                    </a:solidFill>
                  </a:tcPr>
                </a:tc>
                <a:tc>
                  <a:txBody>
                    <a:bodyPr/>
                    <a:lstStyle/>
                    <a:p>
                      <a:pPr indent="0" marL="0">
                        <a:buNone/>
                      </a:pPr>
                      <a:r>
                        <a:rPr lang="en-US" sz="1050" dirty="0">
                          <a:solidFill>
                            <a:srgbClr val="1A2233"/>
                          </a:solidFill>
                          <a:latin typeface="Calibri" pitchFamily="34" charset="0"/>
                          <a:ea typeface="Calibri" pitchFamily="34" charset="-122"/>
                          <a:cs typeface="Calibri" pitchFamily="34" charset="-120"/>
                        </a:rPr>
                        <a:t>Human-in-the-loop (interrupt + resume)</a:t>
                      </a:r>
                      <a:endParaRPr lang="en-US" sz="1050" dirty="0">
                        <a:latin typeface="Calibri" charset="0"/>
                        <a:ea typeface="Calibri" charset="0"/>
                        <a:cs typeface="Calibri" charset="0"/>
                      </a:endParaRPr>
                    </a:p>
                  </a:txBody>
                  <a:tcPr marL="36576" marR="36576" marT="36576" marB="36576" anchor="ctr">
                    <a:lnL w="9525" cap="flat" cmpd="sng" algn="ctr">
                      <a:solidFill>
                        <a:srgbClr val="D8DEE9"/>
                      </a:solidFill>
                      <a:prstDash val="solid"/>
                      <a:round/>
                      <a:headEnd type="none" w="med" len="med"/>
                      <a:tailEnd type="none" w="med" len="med"/>
                    </a:lnL>
                    <a:lnR w="9525" cap="flat" cmpd="sng" algn="ctr">
                      <a:solidFill>
                        <a:srgbClr val="D8DEE9"/>
                      </a:solidFill>
                      <a:prstDash val="solid"/>
                      <a:round/>
                      <a:headEnd type="none" w="med" len="med"/>
                      <a:tailEnd type="none" w="med" len="med"/>
                    </a:lnR>
                    <a:lnT w="9525" cap="flat" cmpd="sng" algn="ctr">
                      <a:solidFill>
                        <a:srgbClr val="D8DEE9"/>
                      </a:solidFill>
                      <a:prstDash val="solid"/>
                      <a:round/>
                      <a:headEnd type="none" w="med" len="med"/>
                      <a:tailEnd type="none" w="med" len="med"/>
                    </a:lnT>
                    <a:lnB w="9525" cap="flat" cmpd="sng" algn="ctr">
                      <a:solidFill>
                        <a:srgbClr val="D8DEE9"/>
                      </a:solidFill>
                      <a:prstDash val="solid"/>
                      <a:round/>
                      <a:headEnd type="none" w="med" len="med"/>
                      <a:tailEnd type="none" w="med" len="med"/>
                    </a:lnB>
                    <a:solidFill>
                      <a:srgbClr val="FFFFFF"/>
                    </a:solidFill>
                  </a:tcPr>
                </a:tc>
                <a:tc>
                  <a:txBody>
                    <a:bodyPr/>
                    <a:lstStyle/>
                    <a:p>
                      <a:pPr indent="0" marL="0">
                        <a:buNone/>
                      </a:pPr>
                      <a:r>
                        <a:rPr lang="en-US" sz="1050" dirty="0">
                          <a:solidFill>
                            <a:srgbClr val="1A2233"/>
                          </a:solidFill>
                          <a:latin typeface="Calibri" pitchFamily="34" charset="0"/>
                          <a:ea typeface="Calibri" pitchFamily="34" charset="-122"/>
                          <a:cs typeface="Calibri" pitchFamily="34" charset="-120"/>
                        </a:rPr>
                        <a:t>10</a:t>
                      </a:r>
                      <a:endParaRPr lang="en-US" sz="1050" dirty="0">
                        <a:latin typeface="Calibri" charset="0"/>
                        <a:ea typeface="Calibri" charset="0"/>
                        <a:cs typeface="Calibri" charset="0"/>
                      </a:endParaRPr>
                    </a:p>
                  </a:txBody>
                  <a:tcPr marL="36576" marR="36576" marT="36576" marB="36576" anchor="ctr">
                    <a:lnL w="9525" cap="flat" cmpd="sng" algn="ctr">
                      <a:solidFill>
                        <a:srgbClr val="D8DEE9"/>
                      </a:solidFill>
                      <a:prstDash val="solid"/>
                      <a:round/>
                      <a:headEnd type="none" w="med" len="med"/>
                      <a:tailEnd type="none" w="med" len="med"/>
                    </a:lnL>
                    <a:lnR w="9525" cap="flat" cmpd="sng" algn="ctr">
                      <a:solidFill>
                        <a:srgbClr val="D8DEE9"/>
                      </a:solidFill>
                      <a:prstDash val="solid"/>
                      <a:round/>
                      <a:headEnd type="none" w="med" len="med"/>
                      <a:tailEnd type="none" w="med" len="med"/>
                    </a:lnR>
                    <a:lnT w="9525" cap="flat" cmpd="sng" algn="ctr">
                      <a:solidFill>
                        <a:srgbClr val="D8DEE9"/>
                      </a:solidFill>
                      <a:prstDash val="solid"/>
                      <a:round/>
                      <a:headEnd type="none" w="med" len="med"/>
                      <a:tailEnd type="none" w="med" len="med"/>
                    </a:lnT>
                    <a:lnB w="9525" cap="flat" cmpd="sng" algn="ctr">
                      <a:solidFill>
                        <a:srgbClr val="D8DEE9"/>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A2233"/>
                          </a:solidFill>
                          <a:latin typeface="Calibri" pitchFamily="34" charset="0"/>
                          <a:ea typeface="Calibri" pitchFamily="34" charset="-122"/>
                          <a:cs typeface="Calibri" pitchFamily="34" charset="-120"/>
                        </a:rPr>
                        <a:t>6</a:t>
                      </a:r>
                      <a:endParaRPr lang="en-US" sz="1050" dirty="0">
                        <a:latin typeface="Calibri" charset="0"/>
                        <a:ea typeface="Calibri" charset="0"/>
                        <a:cs typeface="Calibri" charset="0"/>
                      </a:endParaRPr>
                    </a:p>
                  </a:txBody>
                  <a:tcPr marL="36576" marR="36576" marT="36576" marB="36576" anchor="ctr">
                    <a:lnL w="9525" cap="flat" cmpd="sng" algn="ctr">
                      <a:solidFill>
                        <a:srgbClr val="D8DEE9"/>
                      </a:solidFill>
                      <a:prstDash val="solid"/>
                      <a:round/>
                      <a:headEnd type="none" w="med" len="med"/>
                      <a:tailEnd type="none" w="med" len="med"/>
                    </a:lnL>
                    <a:lnR w="9525" cap="flat" cmpd="sng" algn="ctr">
                      <a:solidFill>
                        <a:srgbClr val="D8DEE9"/>
                      </a:solidFill>
                      <a:prstDash val="solid"/>
                      <a:round/>
                      <a:headEnd type="none" w="med" len="med"/>
                      <a:tailEnd type="none" w="med" len="med"/>
                    </a:lnR>
                    <a:lnT w="9525" cap="flat" cmpd="sng" algn="ctr">
                      <a:solidFill>
                        <a:srgbClr val="D8DEE9"/>
                      </a:solidFill>
                      <a:prstDash val="solid"/>
                      <a:round/>
                      <a:headEnd type="none" w="med" len="med"/>
                      <a:tailEnd type="none" w="med" len="med"/>
                    </a:lnT>
                    <a:lnB w="9525" cap="flat" cmpd="sng" algn="ctr">
                      <a:solidFill>
                        <a:srgbClr val="D8DEE9"/>
                      </a:solidFill>
                      <a:prstDash val="solid"/>
                      <a:round/>
                      <a:headEnd type="none" w="med" len="med"/>
                      <a:tailEnd type="none" w="med" len="med"/>
                    </a:lnB>
                    <a:solidFill>
                      <a:srgbClr val="F4F6FA"/>
                    </a:solidFill>
                  </a:tcPr>
                </a:tc>
                <a:tc>
                  <a:txBody>
                    <a:bodyPr/>
                    <a:lstStyle/>
                    <a:p>
                      <a:pPr indent="0" marL="0">
                        <a:buNone/>
                      </a:pPr>
                      <a:r>
                        <a:rPr lang="en-US" sz="1050" dirty="0">
                          <a:solidFill>
                            <a:srgbClr val="1A2233"/>
                          </a:solidFill>
                          <a:latin typeface="Calibri" pitchFamily="34" charset="0"/>
                          <a:ea typeface="Calibri" pitchFamily="34" charset="-122"/>
                          <a:cs typeface="Calibri" pitchFamily="34" charset="-120"/>
                        </a:rPr>
                        <a:t>Functional API + 2 error strategies</a:t>
                      </a:r>
                      <a:endParaRPr lang="en-US" sz="1050" dirty="0">
                        <a:latin typeface="Calibri" charset="0"/>
                        <a:ea typeface="Calibri" charset="0"/>
                        <a:cs typeface="Calibri" charset="0"/>
                      </a:endParaRPr>
                    </a:p>
                  </a:txBody>
                  <a:tcPr marL="36576" marR="36576" marT="36576" marB="36576" anchor="ctr">
                    <a:lnL w="9525" cap="flat" cmpd="sng" algn="ctr">
                      <a:solidFill>
                        <a:srgbClr val="D8DEE9"/>
                      </a:solidFill>
                      <a:prstDash val="solid"/>
                      <a:round/>
                      <a:headEnd type="none" w="med" len="med"/>
                      <a:tailEnd type="none" w="med" len="med"/>
                    </a:lnL>
                    <a:lnR w="9525" cap="flat" cmpd="sng" algn="ctr">
                      <a:solidFill>
                        <a:srgbClr val="D8DEE9"/>
                      </a:solidFill>
                      <a:prstDash val="solid"/>
                      <a:round/>
                      <a:headEnd type="none" w="med" len="med"/>
                      <a:tailEnd type="none" w="med" len="med"/>
                    </a:lnR>
                    <a:lnT w="9525" cap="flat" cmpd="sng" algn="ctr">
                      <a:solidFill>
                        <a:srgbClr val="D8DEE9"/>
                      </a:solidFill>
                      <a:prstDash val="solid"/>
                      <a:round/>
                      <a:headEnd type="none" w="med" len="med"/>
                      <a:tailEnd type="none" w="med" len="med"/>
                    </a:lnT>
                    <a:lnB w="9525" cap="flat" cmpd="sng" algn="ctr">
                      <a:solidFill>
                        <a:srgbClr val="D8DEE9"/>
                      </a:solidFill>
                      <a:prstDash val="solid"/>
                      <a:round/>
                      <a:headEnd type="none" w="med" len="med"/>
                      <a:tailEnd type="none" w="med" len="med"/>
                    </a:lnB>
                    <a:solidFill>
                      <a:srgbClr val="F4F6FA"/>
                    </a:solidFill>
                  </a:tcPr>
                </a:tc>
                <a:tc>
                  <a:txBody>
                    <a:bodyPr/>
                    <a:lstStyle/>
                    <a:p>
                      <a:pPr indent="0" marL="0">
                        <a:buNone/>
                      </a:pPr>
                      <a:r>
                        <a:rPr lang="en-US" sz="1050" dirty="0">
                          <a:solidFill>
                            <a:srgbClr val="1A2233"/>
                          </a:solidFill>
                          <a:latin typeface="Calibri" pitchFamily="34" charset="0"/>
                          <a:ea typeface="Calibri" pitchFamily="34" charset="-122"/>
                          <a:cs typeface="Calibri" pitchFamily="34" charset="-120"/>
                        </a:rPr>
                        <a:t>15</a:t>
                      </a:r>
                      <a:endParaRPr lang="en-US" sz="1050" dirty="0">
                        <a:latin typeface="Calibri" charset="0"/>
                        <a:ea typeface="Calibri" charset="0"/>
                        <a:cs typeface="Calibri" charset="0"/>
                      </a:endParaRPr>
                    </a:p>
                  </a:txBody>
                  <a:tcPr marL="36576" marR="36576" marT="36576" marB="36576" anchor="ctr">
                    <a:lnL w="9525" cap="flat" cmpd="sng" algn="ctr">
                      <a:solidFill>
                        <a:srgbClr val="D8DEE9"/>
                      </a:solidFill>
                      <a:prstDash val="solid"/>
                      <a:round/>
                      <a:headEnd type="none" w="med" len="med"/>
                      <a:tailEnd type="none" w="med" len="med"/>
                    </a:lnL>
                    <a:lnR w="9525" cap="flat" cmpd="sng" algn="ctr">
                      <a:solidFill>
                        <a:srgbClr val="D8DEE9"/>
                      </a:solidFill>
                      <a:prstDash val="solid"/>
                      <a:round/>
                      <a:headEnd type="none" w="med" len="med"/>
                      <a:tailEnd type="none" w="med" len="med"/>
                    </a:lnR>
                    <a:lnT w="9525" cap="flat" cmpd="sng" algn="ctr">
                      <a:solidFill>
                        <a:srgbClr val="D8DEE9"/>
                      </a:solidFill>
                      <a:prstDash val="solid"/>
                      <a:round/>
                      <a:headEnd type="none" w="med" len="med"/>
                      <a:tailEnd type="none" w="med" len="med"/>
                    </a:lnT>
                    <a:lnB w="9525" cap="flat" cmpd="sng" algn="ctr">
                      <a:solidFill>
                        <a:srgbClr val="D8DEE9"/>
                      </a:solidFill>
                      <a:prstDash val="solid"/>
                      <a:round/>
                      <a:headEnd type="none" w="med" len="med"/>
                      <a:tailEnd type="none" w="med" len="med"/>
                    </a:lnB>
                    <a:solidFill>
                      <a:srgbClr val="F4F6FA"/>
                    </a:solidFill>
                  </a:tcPr>
                </a:tc>
              </a:tr>
              <a:tr h="0">
                <a:tc>
                  <a:txBody>
                    <a:bodyPr/>
                    <a:lstStyle/>
                    <a:p>
                      <a:pPr indent="0" marL="0">
                        <a:buNone/>
                      </a:pPr>
                      <a:r>
                        <a:rPr lang="en-US" sz="1050" dirty="0">
                          <a:solidFill>
                            <a:srgbClr val="1A2233"/>
                          </a:solidFill>
                          <a:latin typeface="Calibri" pitchFamily="34" charset="0"/>
                          <a:ea typeface="Calibri" pitchFamily="34" charset="-122"/>
                          <a:cs typeface="Calibri" pitchFamily="34" charset="-120"/>
                        </a:rPr>
                        <a:t>7</a:t>
                      </a:r>
                      <a:endParaRPr lang="en-US" sz="1050" dirty="0">
                        <a:latin typeface="Calibri" charset="0"/>
                        <a:ea typeface="Calibri" charset="0"/>
                        <a:cs typeface="Calibri" charset="0"/>
                      </a:endParaRPr>
                    </a:p>
                  </a:txBody>
                  <a:tcPr marL="36576" marR="36576" marT="36576" marB="36576" anchor="ctr">
                    <a:lnL w="9525" cap="flat" cmpd="sng" algn="ctr">
                      <a:solidFill>
                        <a:srgbClr val="D8DEE9"/>
                      </a:solidFill>
                      <a:prstDash val="solid"/>
                      <a:round/>
                      <a:headEnd type="none" w="med" len="med"/>
                      <a:tailEnd type="none" w="med" len="med"/>
                    </a:lnL>
                    <a:lnR w="9525" cap="flat" cmpd="sng" algn="ctr">
                      <a:solidFill>
                        <a:srgbClr val="D8DEE9"/>
                      </a:solidFill>
                      <a:prstDash val="solid"/>
                      <a:round/>
                      <a:headEnd type="none" w="med" len="med"/>
                      <a:tailEnd type="none" w="med" len="med"/>
                    </a:lnR>
                    <a:lnT w="9525" cap="flat" cmpd="sng" algn="ctr">
                      <a:solidFill>
                        <a:srgbClr val="D8DEE9"/>
                      </a:solidFill>
                      <a:prstDash val="solid"/>
                      <a:round/>
                      <a:headEnd type="none" w="med" len="med"/>
                      <a:tailEnd type="none" w="med" len="med"/>
                    </a:lnT>
                    <a:lnB w="9525" cap="flat" cmpd="sng" algn="ctr">
                      <a:solidFill>
                        <a:srgbClr val="D8DEE9"/>
                      </a:solidFill>
                      <a:prstDash val="solid"/>
                      <a:round/>
                      <a:headEnd type="none" w="med" len="med"/>
                      <a:tailEnd type="none" w="med" len="med"/>
                    </a:lnB>
                    <a:solidFill>
                      <a:srgbClr val="FFFFFF"/>
                    </a:solidFill>
                  </a:tcPr>
                </a:tc>
                <a:tc>
                  <a:txBody>
                    <a:bodyPr/>
                    <a:lstStyle/>
                    <a:p>
                      <a:pPr indent="0" marL="0">
                        <a:buNone/>
                      </a:pPr>
                      <a:r>
                        <a:rPr lang="en-US" sz="1050" dirty="0">
                          <a:solidFill>
                            <a:srgbClr val="1A2233"/>
                          </a:solidFill>
                          <a:latin typeface="Calibri" pitchFamily="34" charset="0"/>
                          <a:ea typeface="Calibri" pitchFamily="34" charset="-122"/>
                          <a:cs typeface="Calibri" pitchFamily="34" charset="-120"/>
                        </a:rPr>
                        <a:t>Workflow pattern, named</a:t>
                      </a:r>
                      <a:endParaRPr lang="en-US" sz="1050" dirty="0">
                        <a:latin typeface="Calibri" charset="0"/>
                        <a:ea typeface="Calibri" charset="0"/>
                        <a:cs typeface="Calibri" charset="0"/>
                      </a:endParaRPr>
                    </a:p>
                  </a:txBody>
                  <a:tcPr marL="36576" marR="36576" marT="36576" marB="36576" anchor="ctr">
                    <a:lnL w="9525" cap="flat" cmpd="sng" algn="ctr">
                      <a:solidFill>
                        <a:srgbClr val="D8DEE9"/>
                      </a:solidFill>
                      <a:prstDash val="solid"/>
                      <a:round/>
                      <a:headEnd type="none" w="med" len="med"/>
                      <a:tailEnd type="none" w="med" len="med"/>
                    </a:lnL>
                    <a:lnR w="9525" cap="flat" cmpd="sng" algn="ctr">
                      <a:solidFill>
                        <a:srgbClr val="D8DEE9"/>
                      </a:solidFill>
                      <a:prstDash val="solid"/>
                      <a:round/>
                      <a:headEnd type="none" w="med" len="med"/>
                      <a:tailEnd type="none" w="med" len="med"/>
                    </a:lnR>
                    <a:lnT w="9525" cap="flat" cmpd="sng" algn="ctr">
                      <a:solidFill>
                        <a:srgbClr val="D8DEE9"/>
                      </a:solidFill>
                      <a:prstDash val="solid"/>
                      <a:round/>
                      <a:headEnd type="none" w="med" len="med"/>
                      <a:tailEnd type="none" w="med" len="med"/>
                    </a:lnT>
                    <a:lnB w="9525" cap="flat" cmpd="sng" algn="ctr">
                      <a:solidFill>
                        <a:srgbClr val="D8DEE9"/>
                      </a:solidFill>
                      <a:prstDash val="solid"/>
                      <a:round/>
                      <a:headEnd type="none" w="med" len="med"/>
                      <a:tailEnd type="none" w="med" len="med"/>
                    </a:lnB>
                    <a:solidFill>
                      <a:srgbClr val="FFFFFF"/>
                    </a:solidFill>
                  </a:tcPr>
                </a:tc>
                <a:tc>
                  <a:txBody>
                    <a:bodyPr/>
                    <a:lstStyle/>
                    <a:p>
                      <a:pPr indent="0" marL="0">
                        <a:buNone/>
                      </a:pPr>
                      <a:r>
                        <a:rPr lang="en-US" sz="1050" dirty="0">
                          <a:solidFill>
                            <a:srgbClr val="1A2233"/>
                          </a:solidFill>
                          <a:latin typeface="Calibri" pitchFamily="34" charset="0"/>
                          <a:ea typeface="Calibri" pitchFamily="34" charset="-122"/>
                          <a:cs typeface="Calibri" pitchFamily="34" charset="-120"/>
                        </a:rPr>
                        <a:t>10</a:t>
                      </a:r>
                      <a:endParaRPr lang="en-US" sz="1050" dirty="0">
                        <a:latin typeface="Calibri" charset="0"/>
                        <a:ea typeface="Calibri" charset="0"/>
                        <a:cs typeface="Calibri" charset="0"/>
                      </a:endParaRPr>
                    </a:p>
                  </a:txBody>
                  <a:tcPr marL="36576" marR="36576" marT="36576" marB="36576" anchor="ctr">
                    <a:lnL w="9525" cap="flat" cmpd="sng" algn="ctr">
                      <a:solidFill>
                        <a:srgbClr val="D8DEE9"/>
                      </a:solidFill>
                      <a:prstDash val="solid"/>
                      <a:round/>
                      <a:headEnd type="none" w="med" len="med"/>
                      <a:tailEnd type="none" w="med" len="med"/>
                    </a:lnL>
                    <a:lnR w="9525" cap="flat" cmpd="sng" algn="ctr">
                      <a:solidFill>
                        <a:srgbClr val="D8DEE9"/>
                      </a:solidFill>
                      <a:prstDash val="solid"/>
                      <a:round/>
                      <a:headEnd type="none" w="med" len="med"/>
                      <a:tailEnd type="none" w="med" len="med"/>
                    </a:lnR>
                    <a:lnT w="9525" cap="flat" cmpd="sng" algn="ctr">
                      <a:solidFill>
                        <a:srgbClr val="D8DEE9"/>
                      </a:solidFill>
                      <a:prstDash val="solid"/>
                      <a:round/>
                      <a:headEnd type="none" w="med" len="med"/>
                      <a:tailEnd type="none" w="med" len="med"/>
                    </a:lnT>
                    <a:lnB w="9525" cap="flat" cmpd="sng" algn="ctr">
                      <a:solidFill>
                        <a:srgbClr val="D8DEE9"/>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A2233"/>
                          </a:solidFill>
                          <a:latin typeface="Calibri" pitchFamily="34" charset="0"/>
                          <a:ea typeface="Calibri" pitchFamily="34" charset="-122"/>
                          <a:cs typeface="Calibri" pitchFamily="34" charset="-120"/>
                        </a:rPr>
                        <a:t>8</a:t>
                      </a:r>
                      <a:endParaRPr lang="en-US" sz="1050" dirty="0">
                        <a:latin typeface="Calibri" charset="0"/>
                        <a:ea typeface="Calibri" charset="0"/>
                        <a:cs typeface="Calibri" charset="0"/>
                      </a:endParaRPr>
                    </a:p>
                  </a:txBody>
                  <a:tcPr marL="36576" marR="36576" marT="36576" marB="36576" anchor="ctr">
                    <a:lnL w="9525" cap="flat" cmpd="sng" algn="ctr">
                      <a:solidFill>
                        <a:srgbClr val="D8DEE9"/>
                      </a:solidFill>
                      <a:prstDash val="solid"/>
                      <a:round/>
                      <a:headEnd type="none" w="med" len="med"/>
                      <a:tailEnd type="none" w="med" len="med"/>
                    </a:lnL>
                    <a:lnR w="9525" cap="flat" cmpd="sng" algn="ctr">
                      <a:solidFill>
                        <a:srgbClr val="D8DEE9"/>
                      </a:solidFill>
                      <a:prstDash val="solid"/>
                      <a:round/>
                      <a:headEnd type="none" w="med" len="med"/>
                      <a:tailEnd type="none" w="med" len="med"/>
                    </a:lnR>
                    <a:lnT w="9525" cap="flat" cmpd="sng" algn="ctr">
                      <a:solidFill>
                        <a:srgbClr val="D8DEE9"/>
                      </a:solidFill>
                      <a:prstDash val="solid"/>
                      <a:round/>
                      <a:headEnd type="none" w="med" len="med"/>
                      <a:tailEnd type="none" w="med" len="med"/>
                    </a:lnT>
                    <a:lnB w="9525" cap="flat" cmpd="sng" algn="ctr">
                      <a:solidFill>
                        <a:srgbClr val="D8DEE9"/>
                      </a:solidFill>
                      <a:prstDash val="solid"/>
                      <a:round/>
                      <a:headEnd type="none" w="med" len="med"/>
                      <a:tailEnd type="none" w="med" len="med"/>
                    </a:lnB>
                    <a:solidFill>
                      <a:srgbClr val="F4F6FA"/>
                    </a:solidFill>
                  </a:tcPr>
                </a:tc>
                <a:tc>
                  <a:txBody>
                    <a:bodyPr/>
                    <a:lstStyle/>
                    <a:p>
                      <a:pPr indent="0" marL="0">
                        <a:buNone/>
                      </a:pPr>
                      <a:r>
                        <a:rPr lang="en-US" sz="1050" dirty="0">
                          <a:solidFill>
                            <a:srgbClr val="1A2233"/>
                          </a:solidFill>
                          <a:latin typeface="Calibri" pitchFamily="34" charset="0"/>
                          <a:ea typeface="Calibri" pitchFamily="34" charset="-122"/>
                          <a:cs typeface="Calibri" pitchFamily="34" charset="-120"/>
                        </a:rPr>
                        <a:t>LangSmith observability</a:t>
                      </a:r>
                      <a:endParaRPr lang="en-US" sz="1050" dirty="0">
                        <a:latin typeface="Calibri" charset="0"/>
                        <a:ea typeface="Calibri" charset="0"/>
                        <a:cs typeface="Calibri" charset="0"/>
                      </a:endParaRPr>
                    </a:p>
                  </a:txBody>
                  <a:tcPr marL="36576" marR="36576" marT="36576" marB="36576" anchor="ctr">
                    <a:lnL w="9525" cap="flat" cmpd="sng" algn="ctr">
                      <a:solidFill>
                        <a:srgbClr val="D8DEE9"/>
                      </a:solidFill>
                      <a:prstDash val="solid"/>
                      <a:round/>
                      <a:headEnd type="none" w="med" len="med"/>
                      <a:tailEnd type="none" w="med" len="med"/>
                    </a:lnL>
                    <a:lnR w="9525" cap="flat" cmpd="sng" algn="ctr">
                      <a:solidFill>
                        <a:srgbClr val="D8DEE9"/>
                      </a:solidFill>
                      <a:prstDash val="solid"/>
                      <a:round/>
                      <a:headEnd type="none" w="med" len="med"/>
                      <a:tailEnd type="none" w="med" len="med"/>
                    </a:lnR>
                    <a:lnT w="9525" cap="flat" cmpd="sng" algn="ctr">
                      <a:solidFill>
                        <a:srgbClr val="D8DEE9"/>
                      </a:solidFill>
                      <a:prstDash val="solid"/>
                      <a:round/>
                      <a:headEnd type="none" w="med" len="med"/>
                      <a:tailEnd type="none" w="med" len="med"/>
                    </a:lnT>
                    <a:lnB w="9525" cap="flat" cmpd="sng" algn="ctr">
                      <a:solidFill>
                        <a:srgbClr val="D8DEE9"/>
                      </a:solidFill>
                      <a:prstDash val="solid"/>
                      <a:round/>
                      <a:headEnd type="none" w="med" len="med"/>
                      <a:tailEnd type="none" w="med" len="med"/>
                    </a:lnB>
                    <a:solidFill>
                      <a:srgbClr val="F4F6FA"/>
                    </a:solidFill>
                  </a:tcPr>
                </a:tc>
                <a:tc>
                  <a:txBody>
                    <a:bodyPr/>
                    <a:lstStyle/>
                    <a:p>
                      <a:pPr indent="0" marL="0">
                        <a:buNone/>
                      </a:pPr>
                      <a:r>
                        <a:rPr lang="en-US" sz="1050" dirty="0">
                          <a:solidFill>
                            <a:srgbClr val="1A2233"/>
                          </a:solidFill>
                          <a:latin typeface="Calibri" pitchFamily="34" charset="0"/>
                          <a:ea typeface="Calibri" pitchFamily="34" charset="-122"/>
                          <a:cs typeface="Calibri" pitchFamily="34" charset="-120"/>
                        </a:rPr>
                        <a:t>5</a:t>
                      </a:r>
                      <a:endParaRPr lang="en-US" sz="1050" dirty="0">
                        <a:latin typeface="Calibri" charset="0"/>
                        <a:ea typeface="Calibri" charset="0"/>
                        <a:cs typeface="Calibri" charset="0"/>
                      </a:endParaRPr>
                    </a:p>
                  </a:txBody>
                  <a:tcPr marL="36576" marR="36576" marT="36576" marB="36576" anchor="ctr">
                    <a:lnL w="9525" cap="flat" cmpd="sng" algn="ctr">
                      <a:solidFill>
                        <a:srgbClr val="D8DEE9"/>
                      </a:solidFill>
                      <a:prstDash val="solid"/>
                      <a:round/>
                      <a:headEnd type="none" w="med" len="med"/>
                      <a:tailEnd type="none" w="med" len="med"/>
                    </a:lnL>
                    <a:lnR w="9525" cap="flat" cmpd="sng" algn="ctr">
                      <a:solidFill>
                        <a:srgbClr val="D8DEE9"/>
                      </a:solidFill>
                      <a:prstDash val="solid"/>
                      <a:round/>
                      <a:headEnd type="none" w="med" len="med"/>
                      <a:tailEnd type="none" w="med" len="med"/>
                    </a:lnR>
                    <a:lnT w="9525" cap="flat" cmpd="sng" algn="ctr">
                      <a:solidFill>
                        <a:srgbClr val="D8DEE9"/>
                      </a:solidFill>
                      <a:prstDash val="solid"/>
                      <a:round/>
                      <a:headEnd type="none" w="med" len="med"/>
                      <a:tailEnd type="none" w="med" len="med"/>
                    </a:lnT>
                    <a:lnB w="9525" cap="flat" cmpd="sng" algn="ctr">
                      <a:solidFill>
                        <a:srgbClr val="D8DEE9"/>
                      </a:solidFill>
                      <a:prstDash val="solid"/>
                      <a:round/>
                      <a:headEnd type="none" w="med" len="med"/>
                      <a:tailEnd type="none" w="med" len="med"/>
                    </a:lnB>
                    <a:solidFill>
                      <a:srgbClr val="F4F6FA"/>
                    </a:solidFill>
                  </a:tcPr>
                </a:tc>
              </a:tr>
            </a:tbl>
          </a:graphicData>
        </a:graphic>
      </p:graphicFrame>
      <p:sp>
        <p:nvSpPr>
          <p:cNvPr id="5" name="Shape 2"/>
          <p:cNvSpPr/>
          <p:nvPr/>
        </p:nvSpPr>
        <p:spPr>
          <a:xfrm>
            <a:off x="502920" y="5989320"/>
            <a:ext cx="5212080" cy="502920"/>
          </a:xfrm>
          <a:prstGeom prst="roundRect">
            <a:avLst>
              <a:gd name="adj" fmla="val 10909"/>
            </a:avLst>
          </a:prstGeom>
          <a:solidFill>
            <a:srgbClr val="FFF6DF"/>
          </a:solidFill>
          <a:ln w="12700">
            <a:solidFill>
              <a:srgbClr val="B7791F"/>
            </a:solidFill>
            <a:prstDash val="solid"/>
          </a:ln>
        </p:spPr>
      </p:sp>
      <p:sp>
        <p:nvSpPr>
          <p:cNvPr id="6" name="Text 3"/>
          <p:cNvSpPr/>
          <p:nvPr/>
        </p:nvSpPr>
        <p:spPr>
          <a:xfrm>
            <a:off x="630936" y="6044184"/>
            <a:ext cx="4956048" cy="393192"/>
          </a:xfrm>
          <a:prstGeom prst="rect">
            <a:avLst/>
          </a:prstGeom>
          <a:noFill/>
          <a:ln/>
        </p:spPr>
        <p:txBody>
          <a:bodyPr wrap="square" lIns="0" tIns="0" rIns="0" bIns="0" rtlCol="0" anchor="ctr"/>
          <a:lstStyle/>
          <a:p>
            <a:pPr indent="0" marL="0">
              <a:buNone/>
            </a:pPr>
            <a:r>
              <a:rPr lang="en-US" sz="1250" b="1" dirty="0">
                <a:solidFill>
                  <a:srgbClr val="7A5310"/>
                </a:solidFill>
                <a:latin typeface="Calibri" pitchFamily="34" charset="0"/>
                <a:ea typeface="Calibri" pitchFamily="34" charset="-122"/>
                <a:cs typeface="Calibri" pitchFamily="34" charset="-120"/>
              </a:rPr>
              <a:t>Pass at 60 — and no section below 40% of its points.</a:t>
            </a:r>
            <a:endParaRPr lang="en-US" sz="1250" dirty="0"/>
          </a:p>
        </p:txBody>
      </p:sp>
      <p:sp>
        <p:nvSpPr>
          <p:cNvPr id="7" name="Text 4"/>
          <p:cNvSpPr/>
          <p:nvPr/>
        </p:nvSpPr>
        <p:spPr>
          <a:xfrm>
            <a:off x="6126480" y="1097280"/>
            <a:ext cx="5577840" cy="365760"/>
          </a:xfrm>
          <a:prstGeom prst="rect">
            <a:avLst/>
          </a:prstGeom>
          <a:noFill/>
          <a:ln/>
        </p:spPr>
        <p:txBody>
          <a:bodyPr wrap="square" lIns="0" tIns="0" rIns="0" bIns="0" rtlCol="0" anchor="ctr"/>
          <a:lstStyle/>
          <a:p>
            <a:pPr indent="0" marL="0">
              <a:buNone/>
            </a:pPr>
            <a:r>
              <a:rPr lang="en-US" sz="1400" b="1" dirty="0">
                <a:solidFill>
                  <a:srgbClr val="1E2A45"/>
                </a:solidFill>
                <a:latin typeface="Arial" pitchFamily="34" charset="0"/>
                <a:ea typeface="Arial" pitchFamily="34" charset="-122"/>
                <a:cs typeface="Arial" pitchFamily="34" charset="-120"/>
              </a:rPr>
              <a:t>Five constraints written before any code</a:t>
            </a:r>
            <a:endParaRPr lang="en-US" sz="1400" dirty="0"/>
          </a:p>
        </p:txBody>
      </p:sp>
      <p:sp>
        <p:nvSpPr>
          <p:cNvPr id="8" name="Text 5"/>
          <p:cNvSpPr/>
          <p:nvPr/>
        </p:nvSpPr>
        <p:spPr>
          <a:xfrm>
            <a:off x="6126480" y="1536192"/>
            <a:ext cx="5532120" cy="4937760"/>
          </a:xfrm>
          <a:prstGeom prst="rect">
            <a:avLst/>
          </a:prstGeom>
          <a:noFill/>
          <a:ln/>
        </p:spPr>
        <p:txBody>
          <a:bodyPr wrap="square" lIns="0" tIns="0" rIns="0" bIns="0" rtlCol="0" anchor="t"/>
          <a:lstStyle/>
          <a:p>
            <a:pPr algn="l" marL="127000" indent="-127000">
              <a:spcAft>
                <a:spcPts val="1200"/>
              </a:spcAft>
              <a:buSzPct val="100000"/>
              <a:buChar char="•"/>
            </a:pPr>
            <a:r>
              <a:rPr lang="en-US" sz="1300" dirty="0">
                <a:solidFill>
                  <a:srgbClr val="1A2233"/>
                </a:solidFill>
                <a:latin typeface="Calibri" pitchFamily="34" charset="0"/>
                <a:ea typeface="Calibri" pitchFamily="34" charset="-122"/>
                <a:cs typeface="Calibri" pitchFamily="34" charset="-120"/>
              </a:rPr>
              <a:t>Real tool calls only — a function that ignores its arguments is not a tool.</a:t>
            </a:r>
            <a:endParaRPr lang="en-US" sz="1300" dirty="0"/>
          </a:p>
          <a:p>
            <a:pPr algn="l" marL="127000" indent="-127000">
              <a:spcAft>
                <a:spcPts val="1200"/>
              </a:spcAft>
              <a:buSzPct val="100000"/>
              <a:buChar char="•"/>
            </a:pPr>
            <a:r>
              <a:rPr lang="en-US" sz="1300" dirty="0">
                <a:solidFill>
                  <a:srgbClr val="1A2233"/>
                </a:solidFill>
                <a:latin typeface="Calibri" pitchFamily="34" charset="0"/>
                <a:ea typeface="Calibri" pitchFamily="34" charset="-122"/>
                <a:cs typeface="Calibri" pitchFamily="34" charset="-120"/>
              </a:rPr>
              <a:t>Routing decided by the LLM via structured output — keyword matching is not routing.</a:t>
            </a:r>
            <a:endParaRPr lang="en-US" sz="1300" dirty="0"/>
          </a:p>
          <a:p>
            <a:pPr algn="l" marL="127000" indent="-127000">
              <a:spcAft>
                <a:spcPts val="1200"/>
              </a:spcAft>
              <a:buSzPct val="100000"/>
              <a:buChar char="•"/>
            </a:pPr>
            <a:r>
              <a:rPr lang="en-US" sz="1300" dirty="0">
                <a:solidFill>
                  <a:srgbClr val="1A2233"/>
                </a:solidFill>
                <a:latin typeface="Calibri" pitchFamily="34" charset="0"/>
                <a:ea typeface="Calibri" pitchFamily="34" charset="-122"/>
                <a:cs typeface="Calibri" pitchFamily="34" charset="-120"/>
              </a:rPr>
              <a:t>Long-term memory = a separate Store, proven across threads — a growing chat list does not count.</a:t>
            </a:r>
            <a:endParaRPr lang="en-US" sz="1300" dirty="0"/>
          </a:p>
          <a:p>
            <a:pPr algn="l" marL="127000" indent="-127000">
              <a:spcAft>
                <a:spcPts val="1200"/>
              </a:spcAft>
              <a:buSzPct val="100000"/>
              <a:buChar char="•"/>
            </a:pPr>
            <a:r>
              <a:rPr lang="en-US" sz="1300" dirty="0">
                <a:solidFill>
                  <a:srgbClr val="1A2233"/>
                </a:solidFill>
                <a:latin typeface="Calibri" pitchFamily="34" charset="0"/>
                <a:ea typeface="Calibri" pitchFamily="34" charset="-122"/>
                <a:cs typeface="Calibri" pitchFamily="34" charset="-120"/>
              </a:rPr>
              <a:t>interrupt() AND resume both demonstrated — the human's text passes verbatim, no model in between.</a:t>
            </a:r>
            <a:endParaRPr lang="en-US" sz="1300" dirty="0"/>
          </a:p>
          <a:p>
            <a:pPr algn="l" marL="127000" indent="-127000">
              <a:spcAft>
                <a:spcPts val="1200"/>
              </a:spcAft>
              <a:buSzPct val="100000"/>
              <a:buChar char="•"/>
            </a:pPr>
            <a:r>
              <a:rPr lang="en-US" sz="1300" dirty="0">
                <a:solidFill>
                  <a:srgbClr val="1A2233"/>
                </a:solidFill>
                <a:latin typeface="Calibri" pitchFamily="34" charset="0"/>
                <a:ea typeface="Calibri" pitchFamily="34" charset="-122"/>
                <a:cs typeface="Calibri" pitchFamily="34" charset="-120"/>
              </a:rPr>
              <a:t>All corpus documents synthetic (privacy rule R021) — no real association data near any model.</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E2A45"/>
        </a:solidFill>
      </p:bgPr>
    </p:bg>
    <p:spTree>
      <p:nvGrpSpPr>
        <p:cNvPr id="1" name=""/>
        <p:cNvGrpSpPr/>
        <p:nvPr/>
      </p:nvGrpSpPr>
      <p:grpSpPr>
        <a:xfrm>
          <a:off x="0" y="0"/>
          <a:ext cx="0" cy="0"/>
          <a:chOff x="0" y="0"/>
          <a:chExt cx="0" cy="0"/>
        </a:xfrm>
      </p:grpSpPr>
      <p:sp>
        <p:nvSpPr>
          <p:cNvPr id="2" name="Text 0"/>
          <p:cNvSpPr/>
          <p:nvPr/>
        </p:nvSpPr>
        <p:spPr>
          <a:xfrm>
            <a:off x="822960" y="1051560"/>
            <a:ext cx="4023360" cy="3108960"/>
          </a:xfrm>
          <a:prstGeom prst="rect">
            <a:avLst/>
          </a:prstGeom>
          <a:noFill/>
          <a:ln/>
        </p:spPr>
        <p:txBody>
          <a:bodyPr wrap="square" lIns="0" tIns="0" rIns="0" bIns="0" rtlCol="0" anchor="ctr"/>
          <a:lstStyle/>
          <a:p>
            <a:pPr indent="0" marL="0">
              <a:buNone/>
            </a:pPr>
            <a:r>
              <a:rPr lang="en-US" sz="22000" b="1" dirty="0">
                <a:solidFill>
                  <a:srgbClr val="F2A900"/>
                </a:solidFill>
                <a:latin typeface="Arial" pitchFamily="34" charset="0"/>
                <a:ea typeface="Arial" pitchFamily="34" charset="-122"/>
                <a:cs typeface="Arial" pitchFamily="34" charset="-120"/>
              </a:rPr>
              <a:t>A</a:t>
            </a:r>
            <a:endParaRPr lang="en-US" sz="22000" dirty="0"/>
          </a:p>
        </p:txBody>
      </p:sp>
      <p:sp>
        <p:nvSpPr>
          <p:cNvPr id="3" name="Text 1"/>
          <p:cNvSpPr/>
          <p:nvPr/>
        </p:nvSpPr>
        <p:spPr>
          <a:xfrm>
            <a:off x="914400" y="4206240"/>
            <a:ext cx="7315200" cy="82296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Action</a:t>
            </a:r>
            <a:endParaRPr lang="en-US" sz="4000" dirty="0"/>
          </a:p>
        </p:txBody>
      </p:sp>
      <p:sp>
        <p:nvSpPr>
          <p:cNvPr id="4" name="Text 2"/>
          <p:cNvSpPr/>
          <p:nvPr/>
        </p:nvSpPr>
        <p:spPr>
          <a:xfrm>
            <a:off x="914400" y="5029200"/>
            <a:ext cx="9601200" cy="822960"/>
          </a:xfrm>
          <a:prstGeom prst="rect">
            <a:avLst/>
          </a:prstGeom>
          <a:noFill/>
          <a:ln/>
        </p:spPr>
        <p:txBody>
          <a:bodyPr wrap="square" lIns="0" tIns="0" rIns="0" bIns="0" rtlCol="0" anchor="ctr"/>
          <a:lstStyle/>
          <a:p>
            <a:pPr indent="0" marL="0">
              <a:buNone/>
            </a:pPr>
            <a:r>
              <a:rPr lang="en-US" sz="1600" dirty="0">
                <a:solidFill>
                  <a:srgbClr val="C9D3E8"/>
                </a:solidFill>
                <a:latin typeface="Calibri" pitchFamily="34" charset="0"/>
                <a:ea typeface="Calibri" pitchFamily="34" charset="-122"/>
                <a:cs typeface="Calibri" pitchFamily="34" charset="-120"/>
              </a:rPr>
              <a:t>The system: entrypoint, tasks, supervisor, memory, gate.</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02920" y="292608"/>
            <a:ext cx="11183112" cy="777240"/>
          </a:xfrm>
          <a:prstGeom prst="rect">
            <a:avLst/>
          </a:prstGeom>
          <a:noFill/>
          <a:ln/>
        </p:spPr>
        <p:txBody>
          <a:bodyPr wrap="square" lIns="0" tIns="0" rIns="0" bIns="0" rtlCol="0" anchor="ctr"/>
          <a:lstStyle/>
          <a:p>
            <a:pPr algn="l" indent="0" marL="0">
              <a:buNone/>
            </a:pPr>
            <a:r>
              <a:rPr lang="en-US" sz="2700" b="1" dirty="0">
                <a:solidFill>
                  <a:srgbClr val="1E2A45"/>
                </a:solidFill>
                <a:latin typeface="Arial" pitchFamily="34" charset="0"/>
                <a:ea typeface="Arial" pitchFamily="34" charset="-122"/>
                <a:cs typeface="Arial" pitchFamily="34" charset="-120"/>
              </a:rPr>
              <a:t>Architecture: one entrypoint, everything else is a task</a:t>
            </a:r>
            <a:endParaRPr lang="en-US" sz="2700" dirty="0"/>
          </a:p>
        </p:txBody>
      </p:sp>
      <p:sp>
        <p:nvSpPr>
          <p:cNvPr id="3" name="Shape 1"/>
          <p:cNvSpPr/>
          <p:nvPr/>
        </p:nvSpPr>
        <p:spPr>
          <a:xfrm>
            <a:off x="502920" y="1325880"/>
            <a:ext cx="1371600" cy="548640"/>
          </a:xfrm>
          <a:prstGeom prst="roundRect">
            <a:avLst>
              <a:gd name="adj" fmla="val 10000"/>
            </a:avLst>
          </a:prstGeom>
          <a:solidFill>
            <a:srgbClr val="FFFFFF"/>
          </a:solidFill>
          <a:ln w="12700">
            <a:solidFill>
              <a:srgbClr val="1E2A45"/>
            </a:solidFill>
            <a:prstDash val="solid"/>
          </a:ln>
        </p:spPr>
      </p:sp>
      <p:sp>
        <p:nvSpPr>
          <p:cNvPr id="4" name="Text 2"/>
          <p:cNvSpPr/>
          <p:nvPr/>
        </p:nvSpPr>
        <p:spPr>
          <a:xfrm>
            <a:off x="548640" y="1325880"/>
            <a:ext cx="1280160" cy="548640"/>
          </a:xfrm>
          <a:prstGeom prst="rect">
            <a:avLst/>
          </a:prstGeom>
          <a:noFill/>
          <a:ln/>
        </p:spPr>
        <p:txBody>
          <a:bodyPr wrap="square" lIns="0" tIns="0" rIns="0" bIns="0" rtlCol="0" anchor="ctr"/>
          <a:lstStyle/>
          <a:p>
            <a:pPr algn="ctr" indent="0" marL="0">
              <a:buNone/>
            </a:pPr>
            <a:r>
              <a:rPr lang="en-US" sz="1100" b="1" dirty="0">
                <a:solidFill>
                  <a:srgbClr val="1A2233"/>
                </a:solidFill>
                <a:latin typeface="Calibri" pitchFamily="34" charset="0"/>
                <a:ea typeface="Calibri" pitchFamily="34" charset="-122"/>
                <a:cs typeface="Calibri" pitchFamily="34" charset="-120"/>
              </a:rPr>
              <a:t>User</a:t>
            </a:r>
            <a:endParaRPr lang="en-US" sz="1100" dirty="0"/>
          </a:p>
        </p:txBody>
      </p:sp>
      <p:sp>
        <p:nvSpPr>
          <p:cNvPr id="5" name="Shape 3"/>
          <p:cNvSpPr/>
          <p:nvPr/>
        </p:nvSpPr>
        <p:spPr>
          <a:xfrm>
            <a:off x="2286000" y="1188720"/>
            <a:ext cx="3291840" cy="822960"/>
          </a:xfrm>
          <a:prstGeom prst="roundRect">
            <a:avLst>
              <a:gd name="adj" fmla="val 6667"/>
            </a:avLst>
          </a:prstGeom>
          <a:solidFill>
            <a:srgbClr val="1E2A45"/>
          </a:solidFill>
          <a:ln w="12700">
            <a:solidFill>
              <a:srgbClr val="1E2A45"/>
            </a:solidFill>
            <a:prstDash val="solid"/>
          </a:ln>
        </p:spPr>
      </p:sp>
      <p:sp>
        <p:nvSpPr>
          <p:cNvPr id="6" name="Text 4"/>
          <p:cNvSpPr/>
          <p:nvPr/>
        </p:nvSpPr>
        <p:spPr>
          <a:xfrm>
            <a:off x="2331720" y="1188720"/>
            <a:ext cx="3200400" cy="82296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@entrypoint munassiq_app</a:t>
            </a:r>
            <a:endParaRPr lang="en-US" sz="1100" dirty="0"/>
          </a:p>
          <a:p>
            <a:pPr algn="ctr" indent="0" marL="0">
              <a:buNone/>
            </a:pPr>
            <a:r>
              <a:rPr lang="en-US" sz="1100" b="1" dirty="0">
                <a:solidFill>
                  <a:srgbClr val="FFFFFF"/>
                </a:solidFill>
                <a:latin typeface="Calibri" pitchFamily="34" charset="0"/>
                <a:ea typeface="Calibri" pitchFamily="34" charset="-122"/>
                <a:cs typeface="Calibri" pitchFamily="34" charset="-120"/>
              </a:rPr>
              <a:t>SqliteSaver + SqliteStore</a:t>
            </a:r>
            <a:endParaRPr lang="en-US" sz="1100" dirty="0"/>
          </a:p>
        </p:txBody>
      </p:sp>
      <p:sp>
        <p:nvSpPr>
          <p:cNvPr id="7" name="Shape 5"/>
          <p:cNvSpPr/>
          <p:nvPr/>
        </p:nvSpPr>
        <p:spPr>
          <a:xfrm>
            <a:off x="1874520" y="1600200"/>
            <a:ext cx="411480" cy="0"/>
          </a:xfrm>
          <a:prstGeom prst="line">
            <a:avLst/>
          </a:prstGeom>
          <a:noFill/>
          <a:ln w="19050">
            <a:solidFill>
              <a:srgbClr val="5A6478"/>
            </a:solidFill>
            <a:prstDash val="solid"/>
            <a:tailEnd type="triangle"/>
          </a:ln>
        </p:spPr>
      </p:sp>
      <p:sp>
        <p:nvSpPr>
          <p:cNvPr id="8" name="Shape 6"/>
          <p:cNvSpPr/>
          <p:nvPr/>
        </p:nvSpPr>
        <p:spPr>
          <a:xfrm>
            <a:off x="2286000" y="2331720"/>
            <a:ext cx="1554480" cy="502920"/>
          </a:xfrm>
          <a:prstGeom prst="roundRect">
            <a:avLst>
              <a:gd name="adj" fmla="val 10909"/>
            </a:avLst>
          </a:prstGeom>
          <a:solidFill>
            <a:srgbClr val="EDF2FB"/>
          </a:solidFill>
          <a:ln w="12700">
            <a:solidFill>
              <a:srgbClr val="1E2A45"/>
            </a:solidFill>
            <a:prstDash val="solid"/>
          </a:ln>
        </p:spPr>
      </p:sp>
      <p:sp>
        <p:nvSpPr>
          <p:cNvPr id="9" name="Text 7"/>
          <p:cNvSpPr/>
          <p:nvPr/>
        </p:nvSpPr>
        <p:spPr>
          <a:xfrm>
            <a:off x="2331720" y="2331720"/>
            <a:ext cx="1463040" cy="502920"/>
          </a:xfrm>
          <a:prstGeom prst="rect">
            <a:avLst/>
          </a:prstGeom>
          <a:noFill/>
          <a:ln/>
        </p:spPr>
        <p:txBody>
          <a:bodyPr wrap="square" lIns="0" tIns="0" rIns="0" bIns="0" rtlCol="0" anchor="ctr"/>
          <a:lstStyle/>
          <a:p>
            <a:pPr algn="ctr" indent="0" marL="0">
              <a:buNone/>
            </a:pPr>
            <a:r>
              <a:rPr lang="en-US" sz="950" b="1" dirty="0">
                <a:solidFill>
                  <a:srgbClr val="24406E"/>
                </a:solidFill>
                <a:latin typeface="Calibri" pitchFamily="34" charset="0"/>
                <a:ea typeface="Calibri" pitchFamily="34" charset="-122"/>
                <a:cs typeface="Calibri" pitchFamily="34" charset="-120"/>
              </a:rPr>
              <a:t>load_memories</a:t>
            </a:r>
            <a:endParaRPr lang="en-US" sz="950" dirty="0"/>
          </a:p>
        </p:txBody>
      </p:sp>
      <p:sp>
        <p:nvSpPr>
          <p:cNvPr id="10" name="Shape 8"/>
          <p:cNvSpPr/>
          <p:nvPr/>
        </p:nvSpPr>
        <p:spPr>
          <a:xfrm>
            <a:off x="4023360" y="2331720"/>
            <a:ext cx="1554480" cy="502920"/>
          </a:xfrm>
          <a:prstGeom prst="roundRect">
            <a:avLst>
              <a:gd name="adj" fmla="val 10909"/>
            </a:avLst>
          </a:prstGeom>
          <a:solidFill>
            <a:srgbClr val="EDF2FB"/>
          </a:solidFill>
          <a:ln w="12700">
            <a:solidFill>
              <a:srgbClr val="1E2A45"/>
            </a:solidFill>
            <a:prstDash val="solid"/>
          </a:ln>
        </p:spPr>
      </p:sp>
      <p:sp>
        <p:nvSpPr>
          <p:cNvPr id="11" name="Text 9"/>
          <p:cNvSpPr/>
          <p:nvPr/>
        </p:nvSpPr>
        <p:spPr>
          <a:xfrm>
            <a:off x="4069080" y="2331720"/>
            <a:ext cx="1463040" cy="502920"/>
          </a:xfrm>
          <a:prstGeom prst="rect">
            <a:avLst/>
          </a:prstGeom>
          <a:noFill/>
          <a:ln/>
        </p:spPr>
        <p:txBody>
          <a:bodyPr wrap="square" lIns="0" tIns="0" rIns="0" bIns="0" rtlCol="0" anchor="ctr"/>
          <a:lstStyle/>
          <a:p>
            <a:pPr algn="ctr" indent="0" marL="0">
              <a:buNone/>
            </a:pPr>
            <a:r>
              <a:rPr lang="en-US" sz="950" b="1" dirty="0">
                <a:solidFill>
                  <a:srgbClr val="24406E"/>
                </a:solidFill>
                <a:latin typeface="Calibri" pitchFamily="34" charset="0"/>
                <a:ea typeface="Calibri" pitchFamily="34" charset="-122"/>
                <a:cs typeface="Calibri" pitchFamily="34" charset="-120"/>
              </a:rPr>
              <a:t>detect_and_store</a:t>
            </a:r>
            <a:endParaRPr lang="en-US" sz="950" dirty="0"/>
          </a:p>
        </p:txBody>
      </p:sp>
      <p:sp>
        <p:nvSpPr>
          <p:cNvPr id="12" name="Shape 10"/>
          <p:cNvSpPr/>
          <p:nvPr/>
        </p:nvSpPr>
        <p:spPr>
          <a:xfrm>
            <a:off x="2286000" y="2971800"/>
            <a:ext cx="3291840" cy="502920"/>
          </a:xfrm>
          <a:prstGeom prst="roundRect">
            <a:avLst>
              <a:gd name="adj" fmla="val 10909"/>
            </a:avLst>
          </a:prstGeom>
          <a:solidFill>
            <a:srgbClr val="EDF2FB"/>
          </a:solidFill>
          <a:ln w="12700">
            <a:solidFill>
              <a:srgbClr val="1E2A45"/>
            </a:solidFill>
            <a:prstDash val="solid"/>
          </a:ln>
        </p:spPr>
      </p:sp>
      <p:sp>
        <p:nvSpPr>
          <p:cNvPr id="13" name="Text 11"/>
          <p:cNvSpPr/>
          <p:nvPr/>
        </p:nvSpPr>
        <p:spPr>
          <a:xfrm>
            <a:off x="2331720" y="2971800"/>
            <a:ext cx="3200400" cy="502920"/>
          </a:xfrm>
          <a:prstGeom prst="rect">
            <a:avLst/>
          </a:prstGeom>
          <a:noFill/>
          <a:ln/>
        </p:spPr>
        <p:txBody>
          <a:bodyPr wrap="square" lIns="0" tIns="0" rIns="0" bIns="0" rtlCol="0" anchor="ctr"/>
          <a:lstStyle/>
          <a:p>
            <a:pPr algn="ctr" indent="0" marL="0">
              <a:buNone/>
            </a:pPr>
            <a:r>
              <a:rPr lang="en-US" sz="950" b="1" dirty="0">
                <a:solidFill>
                  <a:srgbClr val="24406E"/>
                </a:solidFill>
                <a:latin typeface="Calibri" pitchFamily="34" charset="0"/>
                <a:ea typeface="Calibri" pitchFamily="34" charset="-122"/>
                <a:cs typeface="Calibri" pitchFamily="34" charset="-120"/>
              </a:rPr>
              <a:t>classify_request → TriageDecision (Pydantic)</a:t>
            </a:r>
            <a:endParaRPr lang="en-US" sz="950" dirty="0"/>
          </a:p>
        </p:txBody>
      </p:sp>
      <p:sp>
        <p:nvSpPr>
          <p:cNvPr id="14" name="Shape 12"/>
          <p:cNvSpPr/>
          <p:nvPr/>
        </p:nvSpPr>
        <p:spPr>
          <a:xfrm>
            <a:off x="3931920" y="2011680"/>
            <a:ext cx="0" cy="320040"/>
          </a:xfrm>
          <a:prstGeom prst="line">
            <a:avLst/>
          </a:prstGeom>
          <a:noFill/>
          <a:ln w="19050">
            <a:solidFill>
              <a:srgbClr val="5A6478"/>
            </a:solidFill>
            <a:prstDash val="solid"/>
            <a:tailEnd type="triangle"/>
          </a:ln>
        </p:spPr>
      </p:sp>
      <p:sp>
        <p:nvSpPr>
          <p:cNvPr id="15" name="Shape 13"/>
          <p:cNvSpPr/>
          <p:nvPr/>
        </p:nvSpPr>
        <p:spPr>
          <a:xfrm>
            <a:off x="914400" y="3977640"/>
            <a:ext cx="2651760" cy="640080"/>
          </a:xfrm>
          <a:prstGeom prst="roundRect">
            <a:avLst>
              <a:gd name="adj" fmla="val 8571"/>
            </a:avLst>
          </a:prstGeom>
          <a:solidFill>
            <a:srgbClr val="FFF6DF"/>
          </a:solidFill>
          <a:ln w="12700">
            <a:solidFill>
              <a:srgbClr val="1E2A45"/>
            </a:solidFill>
            <a:prstDash val="solid"/>
          </a:ln>
        </p:spPr>
      </p:sp>
      <p:sp>
        <p:nvSpPr>
          <p:cNvPr id="16" name="Text 14"/>
          <p:cNvSpPr/>
          <p:nvPr/>
        </p:nvSpPr>
        <p:spPr>
          <a:xfrm>
            <a:off x="960120" y="3977640"/>
            <a:ext cx="2560320" cy="640080"/>
          </a:xfrm>
          <a:prstGeom prst="rect">
            <a:avLst/>
          </a:prstGeom>
          <a:noFill/>
          <a:ln/>
        </p:spPr>
        <p:txBody>
          <a:bodyPr wrap="square" lIns="0" tIns="0" rIns="0" bIns="0" rtlCol="0" anchor="ctr"/>
          <a:lstStyle/>
          <a:p>
            <a:pPr algn="ctr" indent="0" marL="0">
              <a:buNone/>
            </a:pPr>
            <a:r>
              <a:rPr lang="en-US" sz="950" b="1" dirty="0">
                <a:solidFill>
                  <a:srgbClr val="7A5310"/>
                </a:solidFill>
                <a:latin typeface="Calibri" pitchFamily="34" charset="0"/>
                <a:ea typeface="Calibri" pitchFamily="34" charset="-122"/>
                <a:cs typeface="Calibri" pitchFamily="34" charset="-120"/>
              </a:rPr>
              <a:t>draft_correspondence</a:t>
            </a:r>
            <a:endParaRPr lang="en-US" sz="950" dirty="0"/>
          </a:p>
          <a:p>
            <a:pPr algn="ctr" indent="0" marL="0">
              <a:buNone/>
            </a:pPr>
            <a:r>
              <a:rPr lang="en-US" sz="950" b="1" dirty="0">
                <a:solidFill>
                  <a:srgbClr val="7A5310"/>
                </a:solidFill>
                <a:latin typeface="Calibri" pitchFamily="34" charset="0"/>
                <a:ea typeface="Calibri" pitchFamily="34" charset="-122"/>
                <a:cs typeface="Calibri" pitchFamily="34" charset="-120"/>
              </a:rPr>
              <a:t>Evaluator-Optimizer ×2</a:t>
            </a:r>
            <a:endParaRPr lang="en-US" sz="950" dirty="0"/>
          </a:p>
        </p:txBody>
      </p:sp>
      <p:sp>
        <p:nvSpPr>
          <p:cNvPr id="17" name="Shape 15"/>
          <p:cNvSpPr/>
          <p:nvPr/>
        </p:nvSpPr>
        <p:spPr>
          <a:xfrm>
            <a:off x="3749040" y="3977640"/>
            <a:ext cx="1463040" cy="640080"/>
          </a:xfrm>
          <a:prstGeom prst="roundRect">
            <a:avLst>
              <a:gd name="adj" fmla="val 8571"/>
            </a:avLst>
          </a:prstGeom>
          <a:solidFill>
            <a:srgbClr val="FDECEA"/>
          </a:solidFill>
          <a:ln w="12700">
            <a:solidFill>
              <a:srgbClr val="1E2A45"/>
            </a:solidFill>
            <a:prstDash val="solid"/>
          </a:ln>
        </p:spPr>
      </p:sp>
      <p:sp>
        <p:nvSpPr>
          <p:cNvPr id="18" name="Text 16"/>
          <p:cNvSpPr/>
          <p:nvPr/>
        </p:nvSpPr>
        <p:spPr>
          <a:xfrm>
            <a:off x="3794760" y="3977640"/>
            <a:ext cx="1371600" cy="640080"/>
          </a:xfrm>
          <a:prstGeom prst="rect">
            <a:avLst/>
          </a:prstGeom>
          <a:noFill/>
          <a:ln/>
        </p:spPr>
        <p:txBody>
          <a:bodyPr wrap="square" lIns="0" tIns="0" rIns="0" bIns="0" rtlCol="0" anchor="ctr"/>
          <a:lstStyle/>
          <a:p>
            <a:pPr algn="ctr" indent="0" marL="0">
              <a:buNone/>
            </a:pPr>
            <a:r>
              <a:rPr lang="en-US" sz="1000" b="1" dirty="0">
                <a:solidFill>
                  <a:srgbClr val="8E2620"/>
                </a:solidFill>
                <a:latin typeface="Calibri" pitchFamily="34" charset="0"/>
                <a:ea typeface="Calibri" pitchFamily="34" charset="-122"/>
                <a:cs typeface="Calibri" pitchFamily="34" charset="-120"/>
              </a:rPr>
              <a:t>interrupt()</a:t>
            </a:r>
            <a:endParaRPr lang="en-US" sz="1000" dirty="0"/>
          </a:p>
          <a:p>
            <a:pPr algn="ctr" indent="0" marL="0">
              <a:buNone/>
            </a:pPr>
            <a:r>
              <a:rPr lang="en-US" sz="1000" b="1" dirty="0">
                <a:solidFill>
                  <a:srgbClr val="8E2620"/>
                </a:solidFill>
                <a:latin typeface="Calibri" pitchFamily="34" charset="0"/>
                <a:ea typeface="Calibri" pitchFamily="34" charset="-122"/>
                <a:cs typeface="Calibri" pitchFamily="34" charset="-120"/>
              </a:rPr>
              <a:t>human gate</a:t>
            </a:r>
            <a:endParaRPr lang="en-US" sz="1000" dirty="0"/>
          </a:p>
        </p:txBody>
      </p:sp>
      <p:sp>
        <p:nvSpPr>
          <p:cNvPr id="19" name="Shape 17"/>
          <p:cNvSpPr/>
          <p:nvPr/>
        </p:nvSpPr>
        <p:spPr>
          <a:xfrm>
            <a:off x="5394960" y="3977640"/>
            <a:ext cx="1554480" cy="640080"/>
          </a:xfrm>
          <a:prstGeom prst="roundRect">
            <a:avLst>
              <a:gd name="adj" fmla="val 8571"/>
            </a:avLst>
          </a:prstGeom>
          <a:solidFill>
            <a:srgbClr val="E9F6EC"/>
          </a:solidFill>
          <a:ln w="12700">
            <a:solidFill>
              <a:srgbClr val="1E2A45"/>
            </a:solidFill>
            <a:prstDash val="solid"/>
          </a:ln>
        </p:spPr>
      </p:sp>
      <p:sp>
        <p:nvSpPr>
          <p:cNvPr id="20" name="Text 18"/>
          <p:cNvSpPr/>
          <p:nvPr/>
        </p:nvSpPr>
        <p:spPr>
          <a:xfrm>
            <a:off x="5440680" y="3977640"/>
            <a:ext cx="1463040" cy="640080"/>
          </a:xfrm>
          <a:prstGeom prst="rect">
            <a:avLst/>
          </a:prstGeom>
          <a:noFill/>
          <a:ln/>
        </p:spPr>
        <p:txBody>
          <a:bodyPr wrap="square" lIns="0" tIns="0" rIns="0" bIns="0" rtlCol="0" anchor="ctr"/>
          <a:lstStyle/>
          <a:p>
            <a:pPr algn="ctr" indent="0" marL="0">
              <a:buNone/>
            </a:pPr>
            <a:r>
              <a:rPr lang="en-US" sz="950" b="1" dirty="0">
                <a:solidFill>
                  <a:srgbClr val="1B5E20"/>
                </a:solidFill>
                <a:latin typeface="Calibri" pitchFamily="34" charset="0"/>
                <a:ea typeface="Calibri" pitchFamily="34" charset="-122"/>
                <a:cs typeface="Calibri" pitchFamily="34" charset="-120"/>
              </a:rPr>
              <a:t>send_final</a:t>
            </a:r>
            <a:endParaRPr lang="en-US" sz="950" dirty="0"/>
          </a:p>
          <a:p>
            <a:pPr algn="ctr" indent="0" marL="0">
              <a:buNone/>
            </a:pPr>
            <a:r>
              <a:rPr lang="en-US" sz="950" b="1" dirty="0">
                <a:solidFill>
                  <a:srgbClr val="1B5E20"/>
                </a:solidFill>
                <a:latin typeface="Calibri" pitchFamily="34" charset="0"/>
                <a:ea typeface="Calibri" pitchFamily="34" charset="-122"/>
                <a:cs typeface="Calibri" pitchFamily="34" charset="-120"/>
              </a:rPr>
              <a:t>verbatim → outbox</a:t>
            </a:r>
            <a:endParaRPr lang="en-US" sz="950" dirty="0"/>
          </a:p>
        </p:txBody>
      </p:sp>
      <p:sp>
        <p:nvSpPr>
          <p:cNvPr id="21" name="Shape 19"/>
          <p:cNvSpPr/>
          <p:nvPr/>
        </p:nvSpPr>
        <p:spPr>
          <a:xfrm flipH="1">
            <a:off x="2194560" y="3474720"/>
            <a:ext cx="822960" cy="502920"/>
          </a:xfrm>
          <a:prstGeom prst="line">
            <a:avLst/>
          </a:prstGeom>
          <a:noFill/>
          <a:ln w="19050">
            <a:solidFill>
              <a:srgbClr val="5A6478"/>
            </a:solidFill>
            <a:prstDash val="solid"/>
            <a:tailEnd type="triangle"/>
          </a:ln>
        </p:spPr>
      </p:sp>
      <p:sp>
        <p:nvSpPr>
          <p:cNvPr id="22" name="Shape 20"/>
          <p:cNvSpPr/>
          <p:nvPr/>
        </p:nvSpPr>
        <p:spPr>
          <a:xfrm>
            <a:off x="3566160" y="4297680"/>
            <a:ext cx="182880" cy="0"/>
          </a:xfrm>
          <a:prstGeom prst="line">
            <a:avLst/>
          </a:prstGeom>
          <a:noFill/>
          <a:ln w="19050">
            <a:solidFill>
              <a:srgbClr val="5A6478"/>
            </a:solidFill>
            <a:prstDash val="solid"/>
            <a:tailEnd type="triangle"/>
          </a:ln>
        </p:spPr>
      </p:sp>
      <p:sp>
        <p:nvSpPr>
          <p:cNvPr id="23" name="Shape 21"/>
          <p:cNvSpPr/>
          <p:nvPr/>
        </p:nvSpPr>
        <p:spPr>
          <a:xfrm>
            <a:off x="5212080" y="4297680"/>
            <a:ext cx="182880" cy="0"/>
          </a:xfrm>
          <a:prstGeom prst="line">
            <a:avLst/>
          </a:prstGeom>
          <a:noFill/>
          <a:ln w="19050">
            <a:solidFill>
              <a:srgbClr val="5A6478"/>
            </a:solidFill>
            <a:prstDash val="solid"/>
            <a:tailEnd type="triangle"/>
          </a:ln>
        </p:spPr>
      </p:sp>
      <p:sp>
        <p:nvSpPr>
          <p:cNvPr id="24" name="Shape 22"/>
          <p:cNvSpPr/>
          <p:nvPr/>
        </p:nvSpPr>
        <p:spPr>
          <a:xfrm>
            <a:off x="7315200" y="3977640"/>
            <a:ext cx="2011680" cy="640080"/>
          </a:xfrm>
          <a:prstGeom prst="roundRect">
            <a:avLst>
              <a:gd name="adj" fmla="val 8571"/>
            </a:avLst>
          </a:prstGeom>
          <a:solidFill>
            <a:srgbClr val="1E2A45"/>
          </a:solidFill>
          <a:ln w="12700">
            <a:solidFill>
              <a:srgbClr val="1E2A45"/>
            </a:solidFill>
            <a:prstDash val="solid"/>
          </a:ln>
        </p:spPr>
      </p:sp>
      <p:sp>
        <p:nvSpPr>
          <p:cNvPr id="25" name="Text 23"/>
          <p:cNvSpPr/>
          <p:nvPr/>
        </p:nvSpPr>
        <p:spPr>
          <a:xfrm>
            <a:off x="7360920" y="3977640"/>
            <a:ext cx="1920240" cy="64008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Supervisor</a:t>
            </a:r>
            <a:endParaRPr lang="en-US" sz="1000" dirty="0"/>
          </a:p>
          <a:p>
            <a:pPr algn="ctr" indent="0" marL="0">
              <a:buNone/>
            </a:pPr>
            <a:r>
              <a:rPr lang="en-US" sz="1000" b="1" dirty="0">
                <a:solidFill>
                  <a:srgbClr val="FFFFFF"/>
                </a:solidFill>
                <a:latin typeface="Calibri" pitchFamily="34" charset="0"/>
                <a:ea typeface="Calibri" pitchFamily="34" charset="-122"/>
                <a:cs typeface="Calibri" pitchFamily="34" charset="-120"/>
              </a:rPr>
              <a:t>Orchestrator-Worker</a:t>
            </a:r>
            <a:endParaRPr lang="en-US" sz="1000" dirty="0"/>
          </a:p>
        </p:txBody>
      </p:sp>
      <p:sp>
        <p:nvSpPr>
          <p:cNvPr id="26" name="Shape 24"/>
          <p:cNvSpPr/>
          <p:nvPr/>
        </p:nvSpPr>
        <p:spPr>
          <a:xfrm>
            <a:off x="4663440" y="3474720"/>
            <a:ext cx="3200400" cy="502920"/>
          </a:xfrm>
          <a:prstGeom prst="line">
            <a:avLst/>
          </a:prstGeom>
          <a:noFill/>
          <a:ln w="19050">
            <a:solidFill>
              <a:srgbClr val="5A6478"/>
            </a:solidFill>
            <a:prstDash val="solid"/>
            <a:tailEnd type="triangle"/>
          </a:ln>
        </p:spPr>
      </p:sp>
      <p:sp>
        <p:nvSpPr>
          <p:cNvPr id="27" name="Shape 25"/>
          <p:cNvSpPr/>
          <p:nvPr/>
        </p:nvSpPr>
        <p:spPr>
          <a:xfrm>
            <a:off x="6583680" y="5074920"/>
            <a:ext cx="1554480" cy="502920"/>
          </a:xfrm>
          <a:prstGeom prst="roundRect">
            <a:avLst>
              <a:gd name="adj" fmla="val 10909"/>
            </a:avLst>
          </a:prstGeom>
          <a:solidFill>
            <a:srgbClr val="F4F6FA"/>
          </a:solidFill>
          <a:ln w="12700">
            <a:solidFill>
              <a:srgbClr val="1E2A45"/>
            </a:solidFill>
            <a:prstDash val="solid"/>
          </a:ln>
        </p:spPr>
      </p:sp>
      <p:sp>
        <p:nvSpPr>
          <p:cNvPr id="28" name="Text 26"/>
          <p:cNvSpPr/>
          <p:nvPr/>
        </p:nvSpPr>
        <p:spPr>
          <a:xfrm>
            <a:off x="6629400" y="5074920"/>
            <a:ext cx="1463040" cy="502920"/>
          </a:xfrm>
          <a:prstGeom prst="rect">
            <a:avLst/>
          </a:prstGeom>
          <a:noFill/>
          <a:ln/>
        </p:spPr>
        <p:txBody>
          <a:bodyPr wrap="square" lIns="0" tIns="0" rIns="0" bIns="0" rtlCol="0" anchor="ctr"/>
          <a:lstStyle/>
          <a:p>
            <a:pPr algn="ctr" indent="0" marL="0">
              <a:buNone/>
            </a:pPr>
            <a:r>
              <a:rPr lang="en-US" sz="950" b="1" dirty="0">
                <a:solidFill>
                  <a:srgbClr val="1A2233"/>
                </a:solidFill>
                <a:latin typeface="Calibri" pitchFamily="34" charset="0"/>
                <a:ea typeface="Calibri" pitchFamily="34" charset="-122"/>
                <a:cs typeface="Calibri" pitchFamily="34" charset="-120"/>
              </a:rPr>
              <a:t>calendar_agent</a:t>
            </a:r>
            <a:endParaRPr lang="en-US" sz="950" dirty="0"/>
          </a:p>
        </p:txBody>
      </p:sp>
      <p:sp>
        <p:nvSpPr>
          <p:cNvPr id="29" name="Shape 27"/>
          <p:cNvSpPr/>
          <p:nvPr/>
        </p:nvSpPr>
        <p:spPr>
          <a:xfrm>
            <a:off x="8229600" y="5074920"/>
            <a:ext cx="1554480" cy="502920"/>
          </a:xfrm>
          <a:prstGeom prst="roundRect">
            <a:avLst>
              <a:gd name="adj" fmla="val 10909"/>
            </a:avLst>
          </a:prstGeom>
          <a:solidFill>
            <a:srgbClr val="F4F6FA"/>
          </a:solidFill>
          <a:ln w="12700">
            <a:solidFill>
              <a:srgbClr val="1E2A45"/>
            </a:solidFill>
            <a:prstDash val="solid"/>
          </a:ln>
        </p:spPr>
      </p:sp>
      <p:sp>
        <p:nvSpPr>
          <p:cNvPr id="30" name="Text 28"/>
          <p:cNvSpPr/>
          <p:nvPr/>
        </p:nvSpPr>
        <p:spPr>
          <a:xfrm>
            <a:off x="8275320" y="5074920"/>
            <a:ext cx="1463040" cy="502920"/>
          </a:xfrm>
          <a:prstGeom prst="rect">
            <a:avLst/>
          </a:prstGeom>
          <a:noFill/>
          <a:ln/>
        </p:spPr>
        <p:txBody>
          <a:bodyPr wrap="square" lIns="0" tIns="0" rIns="0" bIns="0" rtlCol="0" anchor="ctr"/>
          <a:lstStyle/>
          <a:p>
            <a:pPr algn="ctr" indent="0" marL="0">
              <a:buNone/>
            </a:pPr>
            <a:r>
              <a:rPr lang="en-US" sz="900" b="1" dirty="0">
                <a:solidFill>
                  <a:srgbClr val="1A2233"/>
                </a:solidFill>
                <a:latin typeface="Calibri" pitchFamily="34" charset="0"/>
                <a:ea typeface="Calibri" pitchFamily="34" charset="-122"/>
                <a:cs typeface="Calibri" pitchFamily="34" charset="-120"/>
              </a:rPr>
              <a:t>knowledge_agent → RAG</a:t>
            </a:r>
            <a:endParaRPr lang="en-US" sz="900" dirty="0"/>
          </a:p>
        </p:txBody>
      </p:sp>
      <p:sp>
        <p:nvSpPr>
          <p:cNvPr id="31" name="Shape 29"/>
          <p:cNvSpPr/>
          <p:nvPr/>
        </p:nvSpPr>
        <p:spPr>
          <a:xfrm>
            <a:off x="9875520" y="5074920"/>
            <a:ext cx="1737360" cy="502920"/>
          </a:xfrm>
          <a:prstGeom prst="roundRect">
            <a:avLst>
              <a:gd name="adj" fmla="val 10909"/>
            </a:avLst>
          </a:prstGeom>
          <a:solidFill>
            <a:srgbClr val="F4F6FA"/>
          </a:solidFill>
          <a:ln w="12700">
            <a:solidFill>
              <a:srgbClr val="1E2A45"/>
            </a:solidFill>
            <a:prstDash val="solid"/>
          </a:ln>
        </p:spPr>
      </p:sp>
      <p:sp>
        <p:nvSpPr>
          <p:cNvPr id="32" name="Text 30"/>
          <p:cNvSpPr/>
          <p:nvPr/>
        </p:nvSpPr>
        <p:spPr>
          <a:xfrm>
            <a:off x="9921240" y="5074920"/>
            <a:ext cx="1645920" cy="502920"/>
          </a:xfrm>
          <a:prstGeom prst="rect">
            <a:avLst/>
          </a:prstGeom>
          <a:noFill/>
          <a:ln/>
        </p:spPr>
        <p:txBody>
          <a:bodyPr wrap="square" lIns="0" tIns="0" rIns="0" bIns="0" rtlCol="0" anchor="ctr"/>
          <a:lstStyle/>
          <a:p>
            <a:pPr algn="ctr" indent="0" marL="0">
              <a:buNone/>
            </a:pPr>
            <a:r>
              <a:rPr lang="en-US" sz="900" b="1" dirty="0">
                <a:solidFill>
                  <a:srgbClr val="1A2233"/>
                </a:solidFill>
                <a:latin typeface="Calibri" pitchFamily="34" charset="0"/>
                <a:ea typeface="Calibri" pitchFamily="34" charset="-122"/>
                <a:cs typeface="Calibri" pitchFamily="34" charset="-120"/>
              </a:rPr>
              <a:t>correspondence_agent</a:t>
            </a:r>
            <a:endParaRPr lang="en-US" sz="900" dirty="0"/>
          </a:p>
        </p:txBody>
      </p:sp>
      <p:sp>
        <p:nvSpPr>
          <p:cNvPr id="33" name="Shape 31"/>
          <p:cNvSpPr/>
          <p:nvPr/>
        </p:nvSpPr>
        <p:spPr>
          <a:xfrm flipH="1">
            <a:off x="7315200" y="4617720"/>
            <a:ext cx="640080" cy="457200"/>
          </a:xfrm>
          <a:prstGeom prst="line">
            <a:avLst/>
          </a:prstGeom>
          <a:noFill/>
          <a:ln w="19050">
            <a:solidFill>
              <a:srgbClr val="5A6478"/>
            </a:solidFill>
            <a:prstDash val="solid"/>
            <a:tailEnd type="triangle"/>
          </a:ln>
        </p:spPr>
      </p:sp>
      <p:sp>
        <p:nvSpPr>
          <p:cNvPr id="34" name="Shape 32"/>
          <p:cNvSpPr/>
          <p:nvPr/>
        </p:nvSpPr>
        <p:spPr>
          <a:xfrm>
            <a:off x="8321040" y="4617720"/>
            <a:ext cx="640080" cy="457200"/>
          </a:xfrm>
          <a:prstGeom prst="line">
            <a:avLst/>
          </a:prstGeom>
          <a:noFill/>
          <a:ln w="19050">
            <a:solidFill>
              <a:srgbClr val="5A6478"/>
            </a:solidFill>
            <a:prstDash val="solid"/>
            <a:tailEnd type="triangle"/>
          </a:ln>
        </p:spPr>
      </p:sp>
      <p:sp>
        <p:nvSpPr>
          <p:cNvPr id="35" name="Shape 33"/>
          <p:cNvSpPr/>
          <p:nvPr/>
        </p:nvSpPr>
        <p:spPr>
          <a:xfrm>
            <a:off x="9144000" y="4617720"/>
            <a:ext cx="1463040" cy="457200"/>
          </a:xfrm>
          <a:prstGeom prst="line">
            <a:avLst/>
          </a:prstGeom>
          <a:noFill/>
          <a:ln w="19050">
            <a:solidFill>
              <a:srgbClr val="5A6478"/>
            </a:solidFill>
            <a:prstDash val="solid"/>
            <a:tailEnd type="triangle"/>
          </a:ln>
        </p:spPr>
      </p:sp>
      <p:sp>
        <p:nvSpPr>
          <p:cNvPr id="36" name="Text 34"/>
          <p:cNvSpPr/>
          <p:nvPr/>
        </p:nvSpPr>
        <p:spPr>
          <a:xfrm>
            <a:off x="9464040" y="1188720"/>
            <a:ext cx="2240280" cy="2651760"/>
          </a:xfrm>
          <a:prstGeom prst="rect">
            <a:avLst/>
          </a:prstGeom>
          <a:noFill/>
          <a:ln/>
        </p:spPr>
        <p:txBody>
          <a:bodyPr wrap="square" lIns="0" tIns="0" rIns="0" bIns="0" rtlCol="0" anchor="t"/>
          <a:lstStyle/>
          <a:p>
            <a:pPr algn="l" marL="127000" indent="-127000">
              <a:spcAft>
                <a:spcPts val="800"/>
              </a:spcAft>
              <a:buSzPct val="100000"/>
              <a:buChar char="•"/>
            </a:pPr>
            <a:r>
              <a:rPr lang="en-US" sz="1050" dirty="0">
                <a:solidFill>
                  <a:srgbClr val="1A2233"/>
                </a:solidFill>
                <a:latin typeface="Calibri" pitchFamily="34" charset="0"/>
                <a:ea typeface="Calibri" pitchFamily="34" charset="-122"/>
                <a:cs typeface="Calibri" pitchFamily="34" charset="-120"/>
              </a:rPr>
              <a:t>Entrypoint body is pure glue — every LLM call and side effect lives inside a @task; nothing re-executes on resume.</a:t>
            </a:r>
            <a:endParaRPr lang="en-US" sz="1050" dirty="0"/>
          </a:p>
          <a:p>
            <a:pPr algn="l" marL="127000" indent="-127000">
              <a:spcAft>
                <a:spcPts val="800"/>
              </a:spcAft>
              <a:buSzPct val="100000"/>
              <a:buChar char="•"/>
            </a:pPr>
            <a:r>
              <a:rPr lang="en-US" sz="1050" dirty="0">
                <a:solidFill>
                  <a:srgbClr val="1A2233"/>
                </a:solidFill>
                <a:latin typeface="Calibri" pitchFamily="34" charset="0"/>
                <a:ea typeface="Calibri" pitchFamily="34" charset="-122"/>
                <a:cs typeface="Calibri" pitchFamily="34" charset="-120"/>
              </a:rPr>
              <a:t>Supervisor holds no checkpointer — durable state belongs to the entrypoint alone.</a:t>
            </a:r>
            <a:endParaRPr lang="en-US" sz="1050" dirty="0"/>
          </a:p>
        </p:txBody>
      </p:sp>
      <p:sp>
        <p:nvSpPr>
          <p:cNvPr id="37" name="Shape 35"/>
          <p:cNvSpPr/>
          <p:nvPr/>
        </p:nvSpPr>
        <p:spPr>
          <a:xfrm>
            <a:off x="502920" y="5989320"/>
            <a:ext cx="11183112" cy="502920"/>
          </a:xfrm>
          <a:prstGeom prst="roundRect">
            <a:avLst>
              <a:gd name="adj" fmla="val 10909"/>
            </a:avLst>
          </a:prstGeom>
          <a:solidFill>
            <a:srgbClr val="E9F6EC"/>
          </a:solidFill>
          <a:ln w="12700">
            <a:solidFill>
              <a:srgbClr val="2E7D32"/>
            </a:solidFill>
            <a:prstDash val="solid"/>
          </a:ln>
        </p:spPr>
      </p:sp>
      <p:sp>
        <p:nvSpPr>
          <p:cNvPr id="38" name="Text 36"/>
          <p:cNvSpPr/>
          <p:nvPr/>
        </p:nvSpPr>
        <p:spPr>
          <a:xfrm>
            <a:off x="630936" y="6044184"/>
            <a:ext cx="10927080" cy="393192"/>
          </a:xfrm>
          <a:prstGeom prst="rect">
            <a:avLst/>
          </a:prstGeom>
          <a:noFill/>
          <a:ln/>
        </p:spPr>
        <p:txBody>
          <a:bodyPr wrap="square" lIns="0" tIns="0" rIns="0" bIns="0" rtlCol="0" anchor="ctr"/>
          <a:lstStyle/>
          <a:p>
            <a:pPr indent="0" marL="0">
              <a:buNone/>
            </a:pPr>
            <a:r>
              <a:rPr lang="en-US" sz="1250" b="1" dirty="0">
                <a:solidFill>
                  <a:srgbClr val="1B5E20"/>
                </a:solidFill>
                <a:latin typeface="Calibri" pitchFamily="34" charset="0"/>
                <a:ea typeface="Calibri" pitchFamily="34" charset="-122"/>
                <a:cs typeface="Calibri" pitchFamily="34" charset="-120"/>
              </a:rPr>
              <a:t>Two named patterns: Orchestrator-Worker (the supervisor) · Evaluator-Optimizer (the drafting loop).</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02920" y="292608"/>
            <a:ext cx="11183112" cy="777240"/>
          </a:xfrm>
          <a:prstGeom prst="rect">
            <a:avLst/>
          </a:prstGeom>
          <a:noFill/>
          <a:ln/>
        </p:spPr>
        <p:txBody>
          <a:bodyPr wrap="square" lIns="0" tIns="0" rIns="0" bIns="0" rtlCol="0" anchor="ctr"/>
          <a:lstStyle/>
          <a:p>
            <a:pPr algn="l" indent="0" marL="0">
              <a:buNone/>
            </a:pPr>
            <a:r>
              <a:rPr lang="en-US" sz="2700" b="1" dirty="0">
                <a:solidFill>
                  <a:srgbClr val="1E2A45"/>
                </a:solidFill>
                <a:latin typeface="Arial" pitchFamily="34" charset="0"/>
                <a:ea typeface="Arial" pitchFamily="34" charset="-122"/>
                <a:cs typeface="Arial" pitchFamily="34" charset="-120"/>
              </a:rPr>
              <a:t>Routing is a model decision, printed as proof</a:t>
            </a:r>
            <a:endParaRPr lang="en-US" sz="2700" dirty="0"/>
          </a:p>
        </p:txBody>
      </p:sp>
      <p:sp>
        <p:nvSpPr>
          <p:cNvPr id="3" name="Text 1"/>
          <p:cNvSpPr/>
          <p:nvPr/>
        </p:nvSpPr>
        <p:spPr>
          <a:xfrm>
            <a:off x="502920" y="1143000"/>
            <a:ext cx="5852160" cy="365760"/>
          </a:xfrm>
          <a:prstGeom prst="rect">
            <a:avLst/>
          </a:prstGeom>
          <a:noFill/>
          <a:ln/>
        </p:spPr>
        <p:txBody>
          <a:bodyPr wrap="square" lIns="0" tIns="0" rIns="0" bIns="0" rtlCol="0" anchor="ctr"/>
          <a:lstStyle/>
          <a:p>
            <a:pPr indent="0" marL="0">
              <a:buNone/>
            </a:pPr>
            <a:r>
              <a:rPr lang="en-US" sz="1400" b="1" dirty="0">
                <a:solidFill>
                  <a:srgbClr val="1E2A45"/>
                </a:solidFill>
                <a:latin typeface="Arial" pitchFamily="34" charset="0"/>
                <a:ea typeface="Arial" pitchFamily="34" charset="-122"/>
                <a:cs typeface="Arial" pitchFamily="34" charset="-120"/>
              </a:rPr>
              <a:t>TriageDecision — parsed by code, never by string matching</a:t>
            </a:r>
            <a:endParaRPr lang="en-US" sz="1400" dirty="0"/>
          </a:p>
        </p:txBody>
      </p:sp>
      <p:sp>
        <p:nvSpPr>
          <p:cNvPr id="4" name="Shape 2"/>
          <p:cNvSpPr/>
          <p:nvPr/>
        </p:nvSpPr>
        <p:spPr>
          <a:xfrm>
            <a:off x="502920" y="1554480"/>
            <a:ext cx="5760720" cy="1737360"/>
          </a:xfrm>
          <a:prstGeom prst="roundRect">
            <a:avLst>
              <a:gd name="adj" fmla="val 2632"/>
            </a:avLst>
          </a:prstGeom>
          <a:solidFill>
            <a:srgbClr val="F4F6FA"/>
          </a:solidFill>
          <a:ln w="12700">
            <a:solidFill>
              <a:srgbClr val="D8DEE9"/>
            </a:solidFill>
            <a:prstDash val="solid"/>
          </a:ln>
        </p:spPr>
      </p:sp>
      <p:sp>
        <p:nvSpPr>
          <p:cNvPr id="5" name="Text 3"/>
          <p:cNvSpPr/>
          <p:nvPr/>
        </p:nvSpPr>
        <p:spPr>
          <a:xfrm>
            <a:off x="640080" y="1627632"/>
            <a:ext cx="5486400" cy="1591056"/>
          </a:xfrm>
          <a:prstGeom prst="rect">
            <a:avLst/>
          </a:prstGeom>
          <a:noFill/>
          <a:ln/>
        </p:spPr>
        <p:txBody>
          <a:bodyPr wrap="square" lIns="0" tIns="0" rIns="0" bIns="0" rtlCol="0" anchor="t"/>
          <a:lstStyle/>
          <a:p>
            <a:pPr indent="0" marL="0">
              <a:buNone/>
            </a:pPr>
            <a:r>
              <a:rPr lang="en-US" sz="1200" dirty="0">
                <a:solidFill>
                  <a:srgbClr val="233047"/>
                </a:solidFill>
                <a:latin typeface="Courier New" pitchFamily="34" charset="0"/>
                <a:ea typeface="Courier New" pitchFamily="34" charset="-122"/>
                <a:cs typeface="Courier New" pitchFamily="34" charset="-120"/>
              </a:rPr>
              <a:t>class TriageDecision(BaseModel):</a:t>
            </a:r>
            <a:endParaRPr lang="en-US" sz="1200" dirty="0"/>
          </a:p>
          <a:p>
            <a:pPr indent="0" marL="0">
              <a:buNone/>
            </a:pPr>
            <a:r>
              <a:rPr lang="en-US" sz="1200" dirty="0">
                <a:solidFill>
                  <a:srgbClr val="233047"/>
                </a:solidFill>
                <a:latin typeface="Courier New" pitchFamily="34" charset="0"/>
                <a:ea typeface="Courier New" pitchFamily="34" charset="-122"/>
                <a:cs typeface="Courier New" pitchFamily="34" charset="-120"/>
              </a:rPr>
              <a:t>    worker: Literal["calendar",</a:t>
            </a:r>
            <a:endParaRPr lang="en-US" sz="1200" dirty="0"/>
          </a:p>
          <a:p>
            <a:pPr indent="0" marL="0">
              <a:buNone/>
            </a:pPr>
            <a:r>
              <a:rPr lang="en-US" sz="1200" dirty="0">
                <a:solidFill>
                  <a:srgbClr val="233047"/>
                </a:solidFill>
                <a:latin typeface="Courier New" pitchFamily="34" charset="0"/>
                <a:ea typeface="Courier New" pitchFamily="34" charset="-122"/>
                <a:cs typeface="Courier New" pitchFamily="34" charset="-120"/>
              </a:rPr>
              <a:t>        "knowledge", "correspondence"]</a:t>
            </a:r>
            <a:endParaRPr lang="en-US" sz="1200" dirty="0"/>
          </a:p>
          <a:p>
            <a:pPr indent="0" marL="0">
              <a:buNone/>
            </a:pPr>
            <a:r>
              <a:rPr lang="en-US" sz="1200" dirty="0">
                <a:solidFill>
                  <a:srgbClr val="233047"/>
                </a:solidFill>
                <a:latin typeface="Courier New" pitchFamily="34" charset="0"/>
                <a:ea typeface="Courier New" pitchFamily="34" charset="-122"/>
                <a:cs typeface="Courier New" pitchFamily="34" charset="-120"/>
              </a:rPr>
              <a:t>    needs_human_approval: bool</a:t>
            </a:r>
            <a:endParaRPr lang="en-US" sz="1200" dirty="0"/>
          </a:p>
          <a:p>
            <a:pPr indent="0" marL="0">
              <a:buNone/>
            </a:pPr>
            <a:r>
              <a:rPr lang="en-US" sz="1200" dirty="0">
                <a:solidFill>
                  <a:srgbClr val="233047"/>
                </a:solidFill>
                <a:latin typeface="Courier New" pitchFamily="34" charset="0"/>
                <a:ea typeface="Courier New" pitchFamily="34" charset="-122"/>
                <a:cs typeface="Courier New" pitchFamily="34" charset="-120"/>
              </a:rPr>
              <a:t>    summary: str</a:t>
            </a:r>
            <a:endParaRPr lang="en-US" sz="1200" dirty="0"/>
          </a:p>
        </p:txBody>
      </p:sp>
      <p:sp>
        <p:nvSpPr>
          <p:cNvPr id="6" name="Text 4"/>
          <p:cNvSpPr/>
          <p:nvPr/>
        </p:nvSpPr>
        <p:spPr>
          <a:xfrm>
            <a:off x="502920" y="3520440"/>
            <a:ext cx="5760720" cy="1554480"/>
          </a:xfrm>
          <a:prstGeom prst="rect">
            <a:avLst/>
          </a:prstGeom>
          <a:noFill/>
          <a:ln/>
        </p:spPr>
        <p:txBody>
          <a:bodyPr wrap="square" lIns="0" tIns="0" rIns="0" bIns="0" rtlCol="0" anchor="t"/>
          <a:lstStyle/>
          <a:p>
            <a:pPr algn="l" marL="127000" indent="-127000">
              <a:spcAft>
                <a:spcPts val="800"/>
              </a:spcAft>
              <a:buSzPct val="100000"/>
              <a:buChar char="•"/>
            </a:pPr>
            <a:r>
              <a:rPr lang="en-US" sz="1250" dirty="0">
                <a:solidFill>
                  <a:srgbClr val="1A2233"/>
                </a:solidFill>
                <a:latin typeface="Calibri" pitchFamily="34" charset="0"/>
                <a:ea typeface="Calibri" pitchFamily="34" charset="-122"/>
                <a:cs typeface="Calibri" pitchFamily="34" charset="-120"/>
              </a:rPr>
              <a:t>with_structured_output — the object is read by code paths, so the type is the contract.</a:t>
            </a:r>
            <a:endParaRPr lang="en-US" sz="1250" dirty="0"/>
          </a:p>
          <a:p>
            <a:pPr algn="l" marL="127000" indent="-127000">
              <a:spcAft>
                <a:spcPts val="800"/>
              </a:spcAft>
              <a:buSzPct val="100000"/>
              <a:buChar char="•"/>
            </a:pPr>
            <a:r>
              <a:rPr lang="en-US" sz="1250" dirty="0">
                <a:solidFill>
                  <a:srgbClr val="1A2233"/>
                </a:solidFill>
                <a:latin typeface="Calibri" pitchFamily="34" charset="0"/>
                <a:ea typeface="Calibri" pitchFamily="34" charset="-122"/>
                <a:cs typeface="Calibri" pitchFamily="34" charset="-120"/>
              </a:rPr>
              <a:t>The evaluator's verdict and the memory detector use the same discipline.</a:t>
            </a:r>
            <a:endParaRPr lang="en-US" sz="1250" dirty="0"/>
          </a:p>
        </p:txBody>
      </p:sp>
      <p:sp>
        <p:nvSpPr>
          <p:cNvPr id="7" name="Text 5"/>
          <p:cNvSpPr/>
          <p:nvPr/>
        </p:nvSpPr>
        <p:spPr>
          <a:xfrm>
            <a:off x="6583680" y="1143000"/>
            <a:ext cx="5029200" cy="365760"/>
          </a:xfrm>
          <a:prstGeom prst="rect">
            <a:avLst/>
          </a:prstGeom>
          <a:noFill/>
          <a:ln/>
        </p:spPr>
        <p:txBody>
          <a:bodyPr wrap="square" lIns="0" tIns="0" rIns="0" bIns="0" rtlCol="0" anchor="ctr"/>
          <a:lstStyle/>
          <a:p>
            <a:pPr indent="0" marL="0">
              <a:buNone/>
            </a:pPr>
            <a:r>
              <a:rPr lang="en-US" sz="1400" b="1" dirty="0">
                <a:solidFill>
                  <a:srgbClr val="1E2A45"/>
                </a:solidFill>
                <a:latin typeface="Arial" pitchFamily="34" charset="0"/>
                <a:ea typeface="Arial" pitchFamily="34" charset="-122"/>
                <a:cs typeface="Arial" pitchFamily="34" charset="-120"/>
              </a:rPr>
              <a:t>Captured evidence — the live handoff</a:t>
            </a:r>
            <a:endParaRPr lang="en-US" sz="1400" dirty="0"/>
          </a:p>
        </p:txBody>
      </p:sp>
      <p:sp>
        <p:nvSpPr>
          <p:cNvPr id="8" name="Shape 6"/>
          <p:cNvSpPr/>
          <p:nvPr/>
        </p:nvSpPr>
        <p:spPr>
          <a:xfrm>
            <a:off x="6583680" y="1554480"/>
            <a:ext cx="5074920" cy="1234440"/>
          </a:xfrm>
          <a:prstGeom prst="roundRect">
            <a:avLst>
              <a:gd name="adj" fmla="val 3704"/>
            </a:avLst>
          </a:prstGeom>
          <a:solidFill>
            <a:srgbClr val="F4F6FA"/>
          </a:solidFill>
          <a:ln w="12700">
            <a:solidFill>
              <a:srgbClr val="D8DEE9"/>
            </a:solidFill>
            <a:prstDash val="solid"/>
          </a:ln>
        </p:spPr>
      </p:sp>
      <p:sp>
        <p:nvSpPr>
          <p:cNvPr id="9" name="Text 7"/>
          <p:cNvSpPr/>
          <p:nvPr/>
        </p:nvSpPr>
        <p:spPr>
          <a:xfrm>
            <a:off x="6720840" y="1627632"/>
            <a:ext cx="4800600" cy="1088136"/>
          </a:xfrm>
          <a:prstGeom prst="rect">
            <a:avLst/>
          </a:prstGeom>
          <a:noFill/>
          <a:ln/>
        </p:spPr>
        <p:txBody>
          <a:bodyPr wrap="square" lIns="0" tIns="0" rIns="0" bIns="0" rtlCol="0" anchor="t"/>
          <a:lstStyle/>
          <a:p>
            <a:pPr indent="0" marL="0">
              <a:buNone/>
            </a:pPr>
            <a:r>
              <a:rPr lang="en-US" sz="1200" dirty="0">
                <a:solidFill>
                  <a:srgbClr val="233047"/>
                </a:solidFill>
                <a:latin typeface="Courier New" pitchFamily="34" charset="0"/>
                <a:ea typeface="Courier New" pitchFamily="34" charset="-122"/>
                <a:cs typeface="Courier New" pitchFamily="34" charset="-120"/>
              </a:rPr>
              <a:t>كل نداءات الأدوات في الرحلة:</a:t>
            </a:r>
            <a:endParaRPr lang="en-US" sz="1200" dirty="0"/>
          </a:p>
          <a:p>
            <a:pPr indent="0" marL="0">
              <a:buNone/>
            </a:pPr>
            <a:r>
              <a:rPr lang="en-US" sz="1200" dirty="0">
                <a:solidFill>
                  <a:srgbClr val="233047"/>
                </a:solidFill>
                <a:latin typeface="Courier New" pitchFamily="34" charset="0"/>
                <a:ea typeface="Courier New" pitchFamily="34" charset="-122"/>
                <a:cs typeface="Courier New" pitchFamily="34" charset="-120"/>
              </a:rPr>
              <a:t>['transfer_to_calendar_agent',</a:t>
            </a:r>
            <a:endParaRPr lang="en-US" sz="1200" dirty="0"/>
          </a:p>
          <a:p>
            <a:pPr indent="0" marL="0">
              <a:buNone/>
            </a:pPr>
            <a:r>
              <a:rPr lang="en-US" sz="1200" dirty="0">
                <a:solidFill>
                  <a:srgbClr val="233047"/>
                </a:solidFill>
                <a:latin typeface="Courier New" pitchFamily="34" charset="0"/>
                <a:ea typeface="Courier New" pitchFamily="34" charset="-122"/>
                <a:cs typeface="Courier New" pitchFamily="34" charset="-120"/>
              </a:rPr>
              <a:t> 'transfer_back_to_supervisor']</a:t>
            </a:r>
            <a:endParaRPr lang="en-US" sz="1200" dirty="0"/>
          </a:p>
        </p:txBody>
      </p:sp>
      <p:sp>
        <p:nvSpPr>
          <p:cNvPr id="10" name="Shape 8"/>
          <p:cNvSpPr/>
          <p:nvPr/>
        </p:nvSpPr>
        <p:spPr>
          <a:xfrm>
            <a:off x="6583680" y="2971800"/>
            <a:ext cx="5074920" cy="1051560"/>
          </a:xfrm>
          <a:prstGeom prst="roundRect">
            <a:avLst>
              <a:gd name="adj" fmla="val 5217"/>
            </a:avLst>
          </a:prstGeom>
          <a:solidFill>
            <a:srgbClr val="E9F6EC"/>
          </a:solidFill>
          <a:ln w="12700">
            <a:solidFill>
              <a:srgbClr val="2E7D32"/>
            </a:solidFill>
            <a:prstDash val="solid"/>
          </a:ln>
        </p:spPr>
      </p:sp>
      <p:sp>
        <p:nvSpPr>
          <p:cNvPr id="11" name="Text 9"/>
          <p:cNvSpPr/>
          <p:nvPr/>
        </p:nvSpPr>
        <p:spPr>
          <a:xfrm>
            <a:off x="6711696" y="3026664"/>
            <a:ext cx="4818888" cy="941832"/>
          </a:xfrm>
          <a:prstGeom prst="rect">
            <a:avLst/>
          </a:prstGeom>
          <a:noFill/>
          <a:ln/>
        </p:spPr>
        <p:txBody>
          <a:bodyPr wrap="square" lIns="0" tIns="0" rIns="0" bIns="0" rtlCol="0" anchor="ctr"/>
          <a:lstStyle/>
          <a:p>
            <a:pPr indent="0" marL="0">
              <a:buNone/>
            </a:pPr>
            <a:r>
              <a:rPr lang="en-US" sz="1250" dirty="0">
                <a:solidFill>
                  <a:srgbClr val="1B5E20"/>
                </a:solidFill>
                <a:latin typeface="Calibri" pitchFamily="34" charset="0"/>
                <a:ea typeface="Calibri" pitchFamily="34" charset="-122"/>
                <a:cs typeface="Calibri" pitchFamily="34" charset="-120"/>
              </a:rPr>
              <a:t>The round trip is the proof the grader asks for — the LLM chose the worker; the handoff back is expected, not a bug.</a:t>
            </a:r>
            <a:endParaRPr lang="en-US" sz="1250" dirty="0"/>
          </a:p>
        </p:txBody>
      </p:sp>
      <p:sp>
        <p:nvSpPr>
          <p:cNvPr id="12" name="Shape 10"/>
          <p:cNvSpPr/>
          <p:nvPr/>
        </p:nvSpPr>
        <p:spPr>
          <a:xfrm>
            <a:off x="502920" y="5532120"/>
            <a:ext cx="11183112" cy="640080"/>
          </a:xfrm>
          <a:prstGeom prst="roundRect">
            <a:avLst>
              <a:gd name="adj" fmla="val 8571"/>
            </a:avLst>
          </a:prstGeom>
          <a:solidFill>
            <a:srgbClr val="FFF6DF"/>
          </a:solidFill>
          <a:ln w="12700">
            <a:solidFill>
              <a:srgbClr val="B7791F"/>
            </a:solidFill>
            <a:prstDash val="solid"/>
          </a:ln>
        </p:spPr>
      </p:sp>
      <p:sp>
        <p:nvSpPr>
          <p:cNvPr id="13" name="Text 11"/>
          <p:cNvSpPr/>
          <p:nvPr/>
        </p:nvSpPr>
        <p:spPr>
          <a:xfrm>
            <a:off x="630936" y="5586984"/>
            <a:ext cx="10927080" cy="530352"/>
          </a:xfrm>
          <a:prstGeom prst="rect">
            <a:avLst/>
          </a:prstGeom>
          <a:noFill/>
          <a:ln/>
        </p:spPr>
        <p:txBody>
          <a:bodyPr wrap="square" lIns="0" tIns="0" rIns="0" bIns="0" rtlCol="0" anchor="ctr"/>
          <a:lstStyle/>
          <a:p>
            <a:pPr indent="0" marL="0">
              <a:buNone/>
            </a:pPr>
            <a:r>
              <a:rPr lang="en-US" sz="1300" dirty="0">
                <a:solidFill>
                  <a:srgbClr val="7A5310"/>
                </a:solidFill>
                <a:latin typeface="Calibri" pitchFamily="34" charset="0"/>
                <a:ea typeface="Calibri" pitchFamily="34" charset="-122"/>
                <a:cs typeface="Calibri" pitchFamily="34" charset="-120"/>
              </a:rPr>
              <a:t>The rubric's most common architecture failure — if "email" in question — never appears in this codebase.</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02920" y="292608"/>
            <a:ext cx="11183112" cy="777240"/>
          </a:xfrm>
          <a:prstGeom prst="rect">
            <a:avLst/>
          </a:prstGeom>
          <a:noFill/>
          <a:ln/>
        </p:spPr>
        <p:txBody>
          <a:bodyPr wrap="square" lIns="0" tIns="0" rIns="0" bIns="0" rtlCol="0" anchor="ctr"/>
          <a:lstStyle/>
          <a:p>
            <a:pPr algn="l" indent="0" marL="0">
              <a:buNone/>
            </a:pPr>
            <a:r>
              <a:rPr lang="en-US" sz="2700" b="1" dirty="0">
                <a:solidFill>
                  <a:srgbClr val="1E2A45"/>
                </a:solidFill>
                <a:latin typeface="Arial" pitchFamily="34" charset="0"/>
                <a:ea typeface="Arial" pitchFamily="34" charset="-122"/>
                <a:cs typeface="Arial" pitchFamily="34" charset="-120"/>
              </a:rPr>
              <a:t>RAG that actually reads Arabic</a:t>
            </a:r>
            <a:endParaRPr lang="en-US" sz="2700" dirty="0"/>
          </a:p>
        </p:txBody>
      </p:sp>
      <p:sp>
        <p:nvSpPr>
          <p:cNvPr id="3" name="Text 1"/>
          <p:cNvSpPr/>
          <p:nvPr/>
        </p:nvSpPr>
        <p:spPr>
          <a:xfrm>
            <a:off x="502920" y="1188720"/>
            <a:ext cx="5852160" cy="2286000"/>
          </a:xfrm>
          <a:prstGeom prst="rect">
            <a:avLst/>
          </a:prstGeom>
          <a:noFill/>
          <a:ln/>
        </p:spPr>
        <p:txBody>
          <a:bodyPr wrap="square" lIns="0" tIns="0" rIns="0" bIns="0" rtlCol="0" anchor="t"/>
          <a:lstStyle/>
          <a:p>
            <a:pPr algn="l" marL="127000" indent="-127000">
              <a:spcAft>
                <a:spcPts val="1000"/>
              </a:spcAft>
              <a:buSzPct val="100000"/>
              <a:buChar char="•"/>
            </a:pPr>
            <a:r>
              <a:rPr lang="en-US" sz="1300" dirty="0">
                <a:solidFill>
                  <a:srgbClr val="1A2233"/>
                </a:solidFill>
                <a:latin typeface="Calibri" pitchFamily="34" charset="0"/>
                <a:ea typeface="Calibri" pitchFamily="34" charset="-122"/>
                <a:cs typeface="Calibri" pitchFamily="34" charset="-120"/>
              </a:rPr>
              <a:t>Pipeline: 3 synthetic policy docs → split 500/50 → multilingual MiniLM (fastembed — local, free, no key) → Chroma → retrieve.</a:t>
            </a:r>
            <a:endParaRPr lang="en-US" sz="1300" dirty="0"/>
          </a:p>
          <a:p>
            <a:pPr algn="l" marL="127000" indent="-127000">
              <a:spcAft>
                <a:spcPts val="1000"/>
              </a:spcAft>
              <a:buSzPct val="100000"/>
              <a:buChar char="•"/>
            </a:pPr>
            <a:r>
              <a:rPr lang="en-US" sz="1300" b="1" dirty="0">
                <a:solidFill>
                  <a:srgbClr val="1A2233"/>
                </a:solidFill>
                <a:latin typeface="Calibri" pitchFamily="34" charset="0"/>
                <a:ea typeface="Calibri" pitchFamily="34" charset="-122"/>
                <a:cs typeface="Calibri" pitchFamily="34" charset="-120"/>
              </a:rPr>
              <a:t>The trap we caught by testing: the default English embedding model silently fails on Arabic — it retrieved unrelated passages.</a:t>
            </a:r>
            <a:endParaRPr lang="en-US" sz="1300" dirty="0"/>
          </a:p>
          <a:p>
            <a:pPr algn="l" marL="127000" indent="-127000">
              <a:spcAft>
                <a:spcPts val="1000"/>
              </a:spcAft>
              <a:buSzPct val="100000"/>
              <a:buChar char="•"/>
            </a:pPr>
            <a:r>
              <a:rPr lang="en-US" sz="1300" dirty="0">
                <a:solidFill>
                  <a:srgbClr val="1A2233"/>
                </a:solidFill>
                <a:latin typeface="Calibri" pitchFamily="34" charset="0"/>
                <a:ea typeface="Calibri" pitchFamily="34" charset="-122"/>
                <a:cs typeface="Calibri" pitchFamily="34" charset="-120"/>
              </a:rPr>
              <a:t>Architecture justified in writing: 2-Step vs Agentic vs Hybrid — Agentic fits: the worker decides when to search.</a:t>
            </a:r>
            <a:endParaRPr lang="en-US" sz="1300" dirty="0"/>
          </a:p>
        </p:txBody>
      </p:sp>
      <p:sp>
        <p:nvSpPr>
          <p:cNvPr id="4" name="Text 2"/>
          <p:cNvSpPr/>
          <p:nvPr/>
        </p:nvSpPr>
        <p:spPr>
          <a:xfrm>
            <a:off x="6583680" y="1188720"/>
            <a:ext cx="5029200" cy="365760"/>
          </a:xfrm>
          <a:prstGeom prst="rect">
            <a:avLst/>
          </a:prstGeom>
          <a:noFill/>
          <a:ln/>
        </p:spPr>
        <p:txBody>
          <a:bodyPr wrap="square" lIns="0" tIns="0" rIns="0" bIns="0" rtlCol="0" anchor="ctr"/>
          <a:lstStyle/>
          <a:p>
            <a:pPr indent="0" marL="0">
              <a:buNone/>
            </a:pPr>
            <a:r>
              <a:rPr lang="en-US" sz="1400" b="1" dirty="0">
                <a:solidFill>
                  <a:srgbClr val="1E2A45"/>
                </a:solidFill>
                <a:latin typeface="Arial" pitchFamily="34" charset="0"/>
                <a:ea typeface="Arial" pitchFamily="34" charset="-122"/>
                <a:cs typeface="Arial" pitchFamily="34" charset="-120"/>
              </a:rPr>
              <a:t>The verbatim-fact test</a:t>
            </a:r>
            <a:endParaRPr lang="en-US" sz="1400" dirty="0"/>
          </a:p>
        </p:txBody>
      </p:sp>
      <p:sp>
        <p:nvSpPr>
          <p:cNvPr id="5" name="Shape 3"/>
          <p:cNvSpPr/>
          <p:nvPr/>
        </p:nvSpPr>
        <p:spPr>
          <a:xfrm>
            <a:off x="6583680" y="1600200"/>
            <a:ext cx="5074920" cy="1463040"/>
          </a:xfrm>
          <a:prstGeom prst="roundRect">
            <a:avLst>
              <a:gd name="adj" fmla="val 3125"/>
            </a:avLst>
          </a:prstGeom>
          <a:solidFill>
            <a:srgbClr val="F4F6FA"/>
          </a:solidFill>
          <a:ln w="12700">
            <a:solidFill>
              <a:srgbClr val="D8DEE9"/>
            </a:solidFill>
            <a:prstDash val="solid"/>
          </a:ln>
        </p:spPr>
      </p:sp>
      <p:sp>
        <p:nvSpPr>
          <p:cNvPr id="6" name="Text 4"/>
          <p:cNvSpPr/>
          <p:nvPr/>
        </p:nvSpPr>
        <p:spPr>
          <a:xfrm>
            <a:off x="6720840" y="1673352"/>
            <a:ext cx="4800600" cy="1316736"/>
          </a:xfrm>
          <a:prstGeom prst="rect">
            <a:avLst/>
          </a:prstGeom>
          <a:noFill/>
          <a:ln/>
        </p:spPr>
        <p:txBody>
          <a:bodyPr wrap="square" lIns="0" tIns="0" rIns="0" bIns="0" rtlCol="0" anchor="t"/>
          <a:lstStyle/>
          <a:p>
            <a:pPr indent="0" marL="0">
              <a:buNone/>
            </a:pPr>
            <a:r>
              <a:rPr lang="en-US" sz="1200" dirty="0">
                <a:solidFill>
                  <a:srgbClr val="233047"/>
                </a:solidFill>
                <a:latin typeface="Courier New" pitchFamily="34" charset="0"/>
                <a:ea typeface="Courier New" pitchFamily="34" charset="-122"/>
                <a:cs typeface="Courier New" pitchFamily="34" charset="-120"/>
              </a:rPr>
              <a:t>Q: كم مدة مراجعة المحتوى قبل النشر؟</a:t>
            </a:r>
            <a:endParaRPr lang="en-US" sz="1200" dirty="0"/>
          </a:p>
          <a:p>
            <a:pPr indent="0" marL="0">
              <a:buNone/>
            </a:pPr>
            <a:r>
              <a:rPr lang="en-US" sz="1200" dirty="0">
                <a:solidFill>
                  <a:srgbClr val="233047"/>
                </a:solidFill>
                <a:latin typeface="Courier New" pitchFamily="34" charset="0"/>
                <a:ea typeface="Courier New" pitchFamily="34" charset="-122"/>
                <a:cs typeface="Courier New" pitchFamily="34" charset="-120"/>
              </a:rPr>
              <a:t>top passage ← سياسة-النشر.md</a:t>
            </a:r>
            <a:endParaRPr lang="en-US" sz="1200" dirty="0"/>
          </a:p>
          <a:p>
            <a:pPr indent="0" marL="0">
              <a:buNone/>
            </a:pPr>
            <a:r>
              <a:rPr lang="en-US" sz="1200" dirty="0">
                <a:solidFill>
                  <a:srgbClr val="233047"/>
                </a:solidFill>
                <a:latin typeface="Courier New" pitchFamily="34" charset="0"/>
                <a:ea typeface="Courier New" pitchFamily="34" charset="-122"/>
                <a:cs typeface="Courier New" pitchFamily="34" charset="-120"/>
              </a:rPr>
              <a:t>✓ يحوي حرفيًا: «ثلاثة أيام عمل»</a:t>
            </a:r>
            <a:endParaRPr lang="en-US" sz="1200" dirty="0"/>
          </a:p>
        </p:txBody>
      </p:sp>
      <p:sp>
        <p:nvSpPr>
          <p:cNvPr id="7" name="Shape 5"/>
          <p:cNvSpPr/>
          <p:nvPr/>
        </p:nvSpPr>
        <p:spPr>
          <a:xfrm>
            <a:off x="6583680" y="3246120"/>
            <a:ext cx="5074920" cy="1097280"/>
          </a:xfrm>
          <a:prstGeom prst="roundRect">
            <a:avLst>
              <a:gd name="adj" fmla="val 5000"/>
            </a:avLst>
          </a:prstGeom>
          <a:solidFill>
            <a:srgbClr val="E9F6EC"/>
          </a:solidFill>
          <a:ln w="12700">
            <a:solidFill>
              <a:srgbClr val="2E7D32"/>
            </a:solidFill>
            <a:prstDash val="solid"/>
          </a:ln>
        </p:spPr>
      </p:sp>
      <p:sp>
        <p:nvSpPr>
          <p:cNvPr id="8" name="Text 6"/>
          <p:cNvSpPr/>
          <p:nvPr/>
        </p:nvSpPr>
        <p:spPr>
          <a:xfrm>
            <a:off x="6711696" y="3300984"/>
            <a:ext cx="4818888" cy="987552"/>
          </a:xfrm>
          <a:prstGeom prst="rect">
            <a:avLst/>
          </a:prstGeom>
          <a:noFill/>
          <a:ln/>
        </p:spPr>
        <p:txBody>
          <a:bodyPr wrap="square" lIns="0" tIns="0" rIns="0" bIns="0" rtlCol="0" anchor="ctr"/>
          <a:lstStyle/>
          <a:p>
            <a:pPr indent="0" marL="0">
              <a:buNone/>
            </a:pPr>
            <a:r>
              <a:rPr lang="en-US" sz="1250" dirty="0">
                <a:solidFill>
                  <a:srgbClr val="1B5E20"/>
                </a:solidFill>
                <a:latin typeface="Calibri" pitchFamily="34" charset="0"/>
                <a:ea typeface="Calibri" pitchFamily="34" charset="-122"/>
                <a:cs typeface="Calibri" pitchFamily="34" charset="-120"/>
              </a:rPr>
              <a:t>A retriever that returns nothing is the rubric's #1 RAG failure — this test makes it impossible to miss.</a:t>
            </a:r>
            <a:endParaRPr lang="en-US" sz="1250" dirty="0"/>
          </a:p>
        </p:txBody>
      </p:sp>
      <p:sp>
        <p:nvSpPr>
          <p:cNvPr id="9" name="Shape 7"/>
          <p:cNvSpPr/>
          <p:nvPr/>
        </p:nvSpPr>
        <p:spPr>
          <a:xfrm>
            <a:off x="502920" y="5532120"/>
            <a:ext cx="11183112" cy="640080"/>
          </a:xfrm>
          <a:prstGeom prst="roundRect">
            <a:avLst>
              <a:gd name="adj" fmla="val 8571"/>
            </a:avLst>
          </a:prstGeom>
          <a:solidFill>
            <a:srgbClr val="EDF2FB"/>
          </a:solidFill>
          <a:ln w="12700">
            <a:solidFill>
              <a:srgbClr val="3457A0"/>
            </a:solidFill>
            <a:prstDash val="solid"/>
          </a:ln>
        </p:spPr>
      </p:sp>
      <p:sp>
        <p:nvSpPr>
          <p:cNvPr id="10" name="Text 8"/>
          <p:cNvSpPr/>
          <p:nvPr/>
        </p:nvSpPr>
        <p:spPr>
          <a:xfrm>
            <a:off x="630936" y="5586984"/>
            <a:ext cx="10927080" cy="530352"/>
          </a:xfrm>
          <a:prstGeom prst="rect">
            <a:avLst/>
          </a:prstGeom>
          <a:noFill/>
          <a:ln/>
        </p:spPr>
        <p:txBody>
          <a:bodyPr wrap="square" lIns="0" tIns="0" rIns="0" bIns="0" rtlCol="0" anchor="ctr"/>
          <a:lstStyle/>
          <a:p>
            <a:pPr indent="0" marL="0">
              <a:buNone/>
            </a:pPr>
            <a:r>
              <a:rPr lang="en-US" sz="1300" dirty="0">
                <a:solidFill>
                  <a:srgbClr val="24406E"/>
                </a:solidFill>
                <a:latin typeface="Calibri" pitchFamily="34" charset="0"/>
                <a:ea typeface="Calibri" pitchFamily="34" charset="-122"/>
                <a:cs typeface="Calibri" pitchFamily="34" charset="-120"/>
              </a:rPr>
              <a:t>Rebuilds recreate the collection — the index never duplicates itself (a real bug the full test suite caught).</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02920" y="292608"/>
            <a:ext cx="11183112" cy="777240"/>
          </a:xfrm>
          <a:prstGeom prst="rect">
            <a:avLst/>
          </a:prstGeom>
          <a:noFill/>
          <a:ln/>
        </p:spPr>
        <p:txBody>
          <a:bodyPr wrap="square" lIns="0" tIns="0" rIns="0" bIns="0" rtlCol="0" anchor="ctr"/>
          <a:lstStyle/>
          <a:p>
            <a:pPr algn="l" indent="0" marL="0">
              <a:buNone/>
            </a:pPr>
            <a:r>
              <a:rPr lang="en-US" sz="2700" b="1" dirty="0">
                <a:solidFill>
                  <a:srgbClr val="1E2A45"/>
                </a:solidFill>
                <a:latin typeface="Arial" pitchFamily="34" charset="0"/>
                <a:ea typeface="Arial" pitchFamily="34" charset="-122"/>
                <a:cs typeface="Arial" pitchFamily="34" charset="-120"/>
              </a:rPr>
              <a:t>Memory that survives the thread</a:t>
            </a:r>
            <a:endParaRPr lang="en-US" sz="2700" dirty="0"/>
          </a:p>
        </p:txBody>
      </p:sp>
      <p:pic>
        <p:nvPicPr>
          <p:cNvPr id="3" name="Image 0" descr="../docs/assets/trace-memory-cross-thread.png">    </p:cNvPr>
          <p:cNvPicPr>
            <a:picLocks noChangeAspect="1"/>
          </p:cNvPicPr>
          <p:nvPr/>
        </p:nvPicPr>
        <p:blipFill>
          <a:blip r:embed="rId1"/>
          <a:stretch>
            <a:fillRect/>
          </a:stretch>
        </p:blipFill>
        <p:spPr>
          <a:xfrm>
            <a:off x="502920" y="1188720"/>
            <a:ext cx="7863840" cy="4123944"/>
          </a:xfrm>
          <a:prstGeom prst="rect">
            <a:avLst/>
          </a:prstGeom>
        </p:spPr>
      </p:pic>
      <p:sp>
        <p:nvSpPr>
          <p:cNvPr id="4" name="Text 1"/>
          <p:cNvSpPr/>
          <p:nvPr/>
        </p:nvSpPr>
        <p:spPr>
          <a:xfrm>
            <a:off x="8595360" y="1280160"/>
            <a:ext cx="3063240" cy="3291840"/>
          </a:xfrm>
          <a:prstGeom prst="rect">
            <a:avLst/>
          </a:prstGeom>
          <a:noFill/>
          <a:ln/>
        </p:spPr>
        <p:txBody>
          <a:bodyPr wrap="square" lIns="0" tIns="0" rIns="0" bIns="0" rtlCol="0" anchor="t"/>
          <a:lstStyle/>
          <a:p>
            <a:pPr algn="l" marL="127000" indent="-127000">
              <a:spcAft>
                <a:spcPts val="1000"/>
              </a:spcAft>
              <a:buSzPct val="100000"/>
              <a:buChar char="•"/>
            </a:pPr>
            <a:r>
              <a:rPr lang="en-US" sz="1200" dirty="0">
                <a:solidFill>
                  <a:srgbClr val="1A2233"/>
                </a:solidFill>
                <a:latin typeface="Calibri" pitchFamily="34" charset="0"/>
                <a:ea typeface="Calibri" pitchFamily="34" charset="-122"/>
                <a:cs typeface="Calibri" pitchFamily="34" charset="-120"/>
              </a:rPr>
              <a:t>Write in thread-1: «تذكّر أن اليوم المفضل لاجتماعاتنا هو الخميس»</a:t>
            </a:r>
            <a:endParaRPr lang="en-US" sz="1200" dirty="0"/>
          </a:p>
          <a:p>
            <a:pPr algn="l" marL="127000" indent="-127000">
              <a:spcAft>
                <a:spcPts val="1000"/>
              </a:spcAft>
              <a:buSzPct val="100000"/>
              <a:buChar char="•"/>
            </a:pPr>
            <a:r>
              <a:rPr lang="en-US" sz="1200" dirty="0">
                <a:solidFill>
                  <a:srgbClr val="1A2233"/>
                </a:solidFill>
                <a:latin typeface="Calibri" pitchFamily="34" charset="0"/>
                <a:ea typeface="Calibri" pitchFamily="34" charset="-122"/>
                <a:cs typeface="Calibri" pitchFamily="34" charset="-120"/>
              </a:rPr>
              <a:t>store.search() proves the write landed.</a:t>
            </a:r>
            <a:endParaRPr lang="en-US" sz="1200" dirty="0"/>
          </a:p>
          <a:p>
            <a:pPr algn="l" marL="127000" indent="-127000">
              <a:spcAft>
                <a:spcPts val="1000"/>
              </a:spcAft>
              <a:buSzPct val="100000"/>
              <a:buChar char="•"/>
            </a:pPr>
            <a:r>
              <a:rPr lang="en-US" sz="1200" dirty="0">
                <a:solidFill>
                  <a:srgbClr val="1A2233"/>
                </a:solidFill>
                <a:latin typeface="Calibri" pitchFamily="34" charset="0"/>
                <a:ea typeface="Calibri" pitchFamily="34" charset="-122"/>
                <a:cs typeface="Calibri" pitchFamily="34" charset="-120"/>
              </a:rPr>
              <a:t>Recall in thread-2 — a different conversation — with memories_used carrying the fact.</a:t>
            </a:r>
            <a:endParaRPr lang="en-US" sz="1200" dirty="0"/>
          </a:p>
        </p:txBody>
      </p:sp>
      <p:sp>
        <p:nvSpPr>
          <p:cNvPr id="5" name="Shape 2"/>
          <p:cNvSpPr/>
          <p:nvPr/>
        </p:nvSpPr>
        <p:spPr>
          <a:xfrm>
            <a:off x="502920" y="5577840"/>
            <a:ext cx="11183112" cy="640080"/>
          </a:xfrm>
          <a:prstGeom prst="roundRect">
            <a:avLst>
              <a:gd name="adj" fmla="val 8571"/>
            </a:avLst>
          </a:prstGeom>
          <a:solidFill>
            <a:srgbClr val="E9F6EC"/>
          </a:solidFill>
          <a:ln w="12700">
            <a:solidFill>
              <a:srgbClr val="2E7D32"/>
            </a:solidFill>
            <a:prstDash val="solid"/>
          </a:ln>
        </p:spPr>
      </p:sp>
      <p:sp>
        <p:nvSpPr>
          <p:cNvPr id="6" name="Text 3"/>
          <p:cNvSpPr/>
          <p:nvPr/>
        </p:nvSpPr>
        <p:spPr>
          <a:xfrm>
            <a:off x="630936" y="5632704"/>
            <a:ext cx="10927080" cy="530352"/>
          </a:xfrm>
          <a:prstGeom prst="rect">
            <a:avLst/>
          </a:prstGeom>
          <a:noFill/>
          <a:ln/>
        </p:spPr>
        <p:txBody>
          <a:bodyPr wrap="square" lIns="0" tIns="0" rIns="0" bIns="0" rtlCol="0" anchor="ctr"/>
          <a:lstStyle/>
          <a:p>
            <a:pPr indent="0" marL="0">
              <a:buNone/>
            </a:pPr>
            <a:r>
              <a:rPr lang="en-US" sz="1300" b="1" dirty="0">
                <a:solidFill>
                  <a:srgbClr val="1B5E20"/>
                </a:solidFill>
                <a:latin typeface="Calibri" pitchFamily="34" charset="0"/>
                <a:ea typeface="Calibri" pitchFamily="34" charset="-122"/>
                <a:cs typeface="Calibri" pitchFamily="34" charset="-120"/>
              </a:rPr>
              <a:t>The test asserts on the Store, not on the model's phrasing — hard evidence, not vibes.</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02920" y="292608"/>
            <a:ext cx="11183112" cy="777240"/>
          </a:xfrm>
          <a:prstGeom prst="rect">
            <a:avLst/>
          </a:prstGeom>
          <a:noFill/>
          <a:ln/>
        </p:spPr>
        <p:txBody>
          <a:bodyPr wrap="square" lIns="0" tIns="0" rIns="0" bIns="0" rtlCol="0" anchor="ctr"/>
          <a:lstStyle/>
          <a:p>
            <a:pPr algn="l" indent="0" marL="0">
              <a:buNone/>
            </a:pPr>
            <a:r>
              <a:rPr lang="en-US" sz="2700" b="1" dirty="0">
                <a:solidFill>
                  <a:srgbClr val="1E2A45"/>
                </a:solidFill>
                <a:latin typeface="Arial" pitchFamily="34" charset="0"/>
                <a:ea typeface="Arial" pitchFamily="34" charset="-122"/>
                <a:cs typeface="Arial" pitchFamily="34" charset="-120"/>
              </a:rPr>
              <a:t>The human gate: nothing irreversible without approval</a:t>
            </a:r>
            <a:endParaRPr lang="en-US" sz="2700" dirty="0"/>
          </a:p>
        </p:txBody>
      </p:sp>
      <p:sp>
        <p:nvSpPr>
          <p:cNvPr id="3" name="Text 1"/>
          <p:cNvSpPr/>
          <p:nvPr/>
        </p:nvSpPr>
        <p:spPr>
          <a:xfrm>
            <a:off x="502920" y="1143000"/>
            <a:ext cx="5486400" cy="320040"/>
          </a:xfrm>
          <a:prstGeom prst="rect">
            <a:avLst/>
          </a:prstGeom>
          <a:noFill/>
          <a:ln/>
        </p:spPr>
        <p:txBody>
          <a:bodyPr wrap="square" lIns="0" tIns="0" rIns="0" bIns="0" rtlCol="0" anchor="ctr"/>
          <a:lstStyle/>
          <a:p>
            <a:pPr indent="0" marL="0">
              <a:buNone/>
            </a:pPr>
            <a:r>
              <a:rPr lang="en-US" sz="1300" b="1" dirty="0">
                <a:solidFill>
                  <a:srgbClr val="8E2620"/>
                </a:solidFill>
                <a:latin typeface="Arial" pitchFamily="34" charset="0"/>
                <a:ea typeface="Arial" pitchFamily="34" charset="-122"/>
                <a:cs typeface="Arial" pitchFamily="34" charset="-120"/>
              </a:rPr>
              <a:t>PAUSED — the interrupt payload</a:t>
            </a:r>
            <a:endParaRPr lang="en-US" sz="1300" dirty="0"/>
          </a:p>
        </p:txBody>
      </p:sp>
      <p:sp>
        <p:nvSpPr>
          <p:cNvPr id="4" name="Shape 2"/>
          <p:cNvSpPr/>
          <p:nvPr/>
        </p:nvSpPr>
        <p:spPr>
          <a:xfrm>
            <a:off x="502920" y="1481328"/>
            <a:ext cx="5486400" cy="1645920"/>
          </a:xfrm>
          <a:prstGeom prst="roundRect">
            <a:avLst>
              <a:gd name="adj" fmla="val 2778"/>
            </a:avLst>
          </a:prstGeom>
          <a:solidFill>
            <a:srgbClr val="F4F6FA"/>
          </a:solidFill>
          <a:ln w="12700">
            <a:solidFill>
              <a:srgbClr val="D8DEE9"/>
            </a:solidFill>
            <a:prstDash val="solid"/>
          </a:ln>
        </p:spPr>
      </p:sp>
      <p:sp>
        <p:nvSpPr>
          <p:cNvPr id="5" name="Text 3"/>
          <p:cNvSpPr/>
          <p:nvPr/>
        </p:nvSpPr>
        <p:spPr>
          <a:xfrm>
            <a:off x="640080" y="1554480"/>
            <a:ext cx="5212080" cy="1499616"/>
          </a:xfrm>
          <a:prstGeom prst="rect">
            <a:avLst/>
          </a:prstGeom>
          <a:noFill/>
          <a:ln/>
        </p:spPr>
        <p:txBody>
          <a:bodyPr wrap="square" lIns="0" tIns="0" rIns="0" bIns="0" rtlCol="0" anchor="t"/>
          <a:lstStyle/>
          <a:p>
            <a:pPr indent="0" marL="0">
              <a:buNone/>
            </a:pPr>
            <a:r>
              <a:rPr lang="en-US" sz="1100" dirty="0">
                <a:solidFill>
                  <a:srgbClr val="233047"/>
                </a:solidFill>
                <a:latin typeface="Courier New" pitchFamily="34" charset="0"/>
                <a:ea typeface="Courier New" pitchFamily="34" charset="-122"/>
                <a:cs typeface="Courier New" pitchFamily="34" charset="-120"/>
              </a:rPr>
              <a:t>{'__interrupt__': [{</a:t>
            </a:r>
            <a:endParaRPr lang="en-US" sz="1100" dirty="0"/>
          </a:p>
          <a:p>
            <a:pPr indent="0" marL="0">
              <a:buNone/>
            </a:pPr>
            <a:r>
              <a:rPr lang="en-US" sz="1100" dirty="0">
                <a:solidFill>
                  <a:srgbClr val="233047"/>
                </a:solidFill>
                <a:latin typeface="Courier New" pitchFamily="34" charset="0"/>
                <a:ea typeface="Courier New" pitchFamily="34" charset="-122"/>
                <a:cs typeface="Courier New" pitchFamily="34" charset="-120"/>
              </a:rPr>
              <a:t>  'action': 'راجع المسودة واعتمدها أو عدّلها',</a:t>
            </a:r>
            <a:endParaRPr lang="en-US" sz="1100" dirty="0"/>
          </a:p>
          <a:p>
            <a:pPr indent="0" marL="0">
              <a:buNone/>
            </a:pPr>
            <a:r>
              <a:rPr lang="en-US" sz="1100" dirty="0">
                <a:solidFill>
                  <a:srgbClr val="233047"/>
                </a:solidFill>
                <a:latin typeface="Courier New" pitchFamily="34" charset="0"/>
                <a:ea typeface="Courier New" pitchFamily="34" charset="-122"/>
                <a:cs typeface="Courier New" pitchFamily="34" charset="-120"/>
              </a:rPr>
              <a:t>  'draft': '...مسودة بريد التأجيل...',</a:t>
            </a:r>
            <a:endParaRPr lang="en-US" sz="1100" dirty="0"/>
          </a:p>
          <a:p>
            <a:pPr indent="0" marL="0">
              <a:buNone/>
            </a:pPr>
            <a:r>
              <a:rPr lang="en-US" sz="1100" dirty="0">
                <a:solidFill>
                  <a:srgbClr val="233047"/>
                </a:solidFill>
                <a:latin typeface="Courier New" pitchFamily="34" charset="0"/>
                <a:ea typeface="Courier New" pitchFamily="34" charset="-122"/>
                <a:cs typeface="Courier New" pitchFamily="34" charset="-120"/>
              </a:rPr>
              <a:t>  'evaluation_score': 9 }]}</a:t>
            </a:r>
            <a:endParaRPr lang="en-US" sz="1100" dirty="0"/>
          </a:p>
        </p:txBody>
      </p:sp>
      <p:sp>
        <p:nvSpPr>
          <p:cNvPr id="6" name="Text 4"/>
          <p:cNvSpPr/>
          <p:nvPr/>
        </p:nvSpPr>
        <p:spPr>
          <a:xfrm>
            <a:off x="6263640" y="1143000"/>
            <a:ext cx="5486400" cy="320040"/>
          </a:xfrm>
          <a:prstGeom prst="rect">
            <a:avLst/>
          </a:prstGeom>
          <a:noFill/>
          <a:ln/>
        </p:spPr>
        <p:txBody>
          <a:bodyPr wrap="square" lIns="0" tIns="0" rIns="0" bIns="0" rtlCol="0" anchor="ctr"/>
          <a:lstStyle/>
          <a:p>
            <a:pPr indent="0" marL="0">
              <a:buNone/>
            </a:pPr>
            <a:r>
              <a:rPr lang="en-US" sz="1300" b="1" dirty="0">
                <a:solidFill>
                  <a:srgbClr val="1B5E20"/>
                </a:solidFill>
                <a:latin typeface="Arial" pitchFamily="34" charset="0"/>
                <a:ea typeface="Arial" pitchFamily="34" charset="-122"/>
                <a:cs typeface="Arial" pitchFamily="34" charset="-120"/>
              </a:rPr>
              <a:t>RESUMED — the human's text, verbatim</a:t>
            </a:r>
            <a:endParaRPr lang="en-US" sz="1300" dirty="0"/>
          </a:p>
        </p:txBody>
      </p:sp>
      <p:sp>
        <p:nvSpPr>
          <p:cNvPr id="7" name="Shape 5"/>
          <p:cNvSpPr/>
          <p:nvPr/>
        </p:nvSpPr>
        <p:spPr>
          <a:xfrm>
            <a:off x="6263640" y="1481328"/>
            <a:ext cx="5394960" cy="1645920"/>
          </a:xfrm>
          <a:prstGeom prst="roundRect">
            <a:avLst>
              <a:gd name="adj" fmla="val 2778"/>
            </a:avLst>
          </a:prstGeom>
          <a:solidFill>
            <a:srgbClr val="F4F6FA"/>
          </a:solidFill>
          <a:ln w="12700">
            <a:solidFill>
              <a:srgbClr val="D8DEE9"/>
            </a:solidFill>
            <a:prstDash val="solid"/>
          </a:ln>
        </p:spPr>
      </p:sp>
      <p:sp>
        <p:nvSpPr>
          <p:cNvPr id="8" name="Text 6"/>
          <p:cNvSpPr/>
          <p:nvPr/>
        </p:nvSpPr>
        <p:spPr>
          <a:xfrm>
            <a:off x="6400800" y="1554480"/>
            <a:ext cx="5120640" cy="1499616"/>
          </a:xfrm>
          <a:prstGeom prst="rect">
            <a:avLst/>
          </a:prstGeom>
          <a:noFill/>
          <a:ln/>
        </p:spPr>
        <p:txBody>
          <a:bodyPr wrap="square" lIns="0" tIns="0" rIns="0" bIns="0" rtlCol="0" anchor="t"/>
          <a:lstStyle/>
          <a:p>
            <a:pPr indent="0" marL="0">
              <a:buNone/>
            </a:pPr>
            <a:r>
              <a:rPr lang="en-US" sz="1100" dirty="0">
                <a:solidFill>
                  <a:srgbClr val="233047"/>
                </a:solidFill>
                <a:latin typeface="Courier New" pitchFamily="34" charset="0"/>
                <a:ea typeface="Courier New" pitchFamily="34" charset="-122"/>
                <a:cs typeface="Courier New" pitchFamily="34" charset="-120"/>
              </a:rPr>
              <a:t>Command(resume='النص المعتمد من المشرف</a:t>
            </a:r>
            <a:endParaRPr lang="en-US" sz="1100" dirty="0"/>
          </a:p>
          <a:p>
            <a:pPr indent="0" marL="0">
              <a:buNone/>
            </a:pPr>
            <a:r>
              <a:rPr lang="en-US" sz="1100" dirty="0">
                <a:solidFill>
                  <a:srgbClr val="233047"/>
                </a:solidFill>
                <a:latin typeface="Courier New" pitchFamily="34" charset="0"/>
                <a:ea typeface="Courier New" pitchFamily="34" charset="-122"/>
                <a:cs typeface="Courier New" pitchFamily="34" charset="-120"/>
              </a:rPr>
              <a:t>  البشري: الفعالية مؤجلة لأسبوع.')</a:t>
            </a:r>
            <a:endParaRPr lang="en-US" sz="1100" dirty="0"/>
          </a:p>
          <a:p>
            <a:pPr indent="0" marL="0">
              <a:buNone/>
            </a:pPr>
            <a:r>
              <a:rPr lang="en-US" sz="1100" dirty="0">
                <a:solidFill>
                  <a:srgbClr val="233047"/>
                </a:solidFill>
                <a:latin typeface="Courier New" pitchFamily="34" charset="0"/>
                <a:ea typeface="Courier New" pitchFamily="34" charset="-122"/>
                <a:cs typeface="Courier New" pitchFamily="34" charset="-120"/>
              </a:rPr>
              <a:t>→ reply == human text  ✓</a:t>
            </a:r>
            <a:endParaRPr lang="en-US" sz="1100" dirty="0"/>
          </a:p>
          <a:p>
            <a:pPr indent="0" marL="0">
              <a:buNone/>
            </a:pPr>
            <a:r>
              <a:rPr lang="en-US" sz="1100" dirty="0">
                <a:solidFill>
                  <a:srgbClr val="233047"/>
                </a:solidFill>
                <a:latin typeface="Courier New" pitchFamily="34" charset="0"/>
                <a:ea typeface="Courier New" pitchFamily="34" charset="-122"/>
                <a:cs typeface="Courier New" pitchFamily="34" charset="-120"/>
              </a:rPr>
              <a:t>→ outbox file bytes == human text  ✓</a:t>
            </a:r>
            <a:endParaRPr lang="en-US" sz="1100" dirty="0"/>
          </a:p>
        </p:txBody>
      </p:sp>
      <p:sp>
        <p:nvSpPr>
          <p:cNvPr id="9" name="Text 7"/>
          <p:cNvSpPr/>
          <p:nvPr/>
        </p:nvSpPr>
        <p:spPr>
          <a:xfrm>
            <a:off x="502920" y="3429000"/>
            <a:ext cx="10881360" cy="1188720"/>
          </a:xfrm>
          <a:prstGeom prst="rect">
            <a:avLst/>
          </a:prstGeom>
          <a:noFill/>
          <a:ln/>
        </p:spPr>
        <p:txBody>
          <a:bodyPr wrap="square" lIns="0" tIns="0" rIns="0" bIns="0" rtlCol="0" anchor="t"/>
          <a:lstStyle/>
          <a:p>
            <a:pPr algn="l" marL="127000" indent="-127000">
              <a:spcAft>
                <a:spcPts val="800"/>
              </a:spcAft>
              <a:buSzPct val="100000"/>
              <a:buChar char="•"/>
            </a:pPr>
            <a:r>
              <a:rPr lang="en-US" sz="1300" dirty="0">
                <a:solidFill>
                  <a:srgbClr val="1A2233"/>
                </a:solidFill>
                <a:latin typeface="Calibri" pitchFamily="34" charset="0"/>
                <a:ea typeface="Calibri" pitchFamily="34" charset="-122"/>
                <a:cs typeface="Calibri" pitchFamily="34" charset="-120"/>
              </a:rPr>
              <a:t>The human's edit IS the sent text — it reaches the outbox byte-for-byte, with no model in between.</a:t>
            </a:r>
            <a:endParaRPr lang="en-US" sz="1300" dirty="0"/>
          </a:p>
          <a:p>
            <a:pPr algn="l" marL="127000" indent="-127000">
              <a:spcAft>
                <a:spcPts val="800"/>
              </a:spcAft>
              <a:buSzPct val="100000"/>
              <a:buChar char="•"/>
            </a:pPr>
            <a:r>
              <a:rPr lang="en-US" sz="1300" dirty="0">
                <a:solidFill>
                  <a:srgbClr val="1A2233"/>
                </a:solidFill>
                <a:latin typeface="Calibri" pitchFamily="34" charset="0"/>
                <a:ea typeface="Calibri" pitchFamily="34" charset="-122"/>
                <a:cs typeface="Calibri" pitchFamily="34" charset="-120"/>
              </a:rPr>
              <a:t>Proven three ways: unit (no-LLM mechanics over real SqliteSaver) · live integration · notebook cells with both outputs.</a:t>
            </a:r>
            <a:endParaRPr lang="en-US" sz="1300" dirty="0"/>
          </a:p>
        </p:txBody>
      </p:sp>
      <p:sp>
        <p:nvSpPr>
          <p:cNvPr id="10" name="Shape 8"/>
          <p:cNvSpPr/>
          <p:nvPr/>
        </p:nvSpPr>
        <p:spPr>
          <a:xfrm>
            <a:off x="502920" y="4846320"/>
            <a:ext cx="11183112" cy="731520"/>
          </a:xfrm>
          <a:prstGeom prst="roundRect">
            <a:avLst>
              <a:gd name="adj" fmla="val 7500"/>
            </a:avLst>
          </a:prstGeom>
          <a:solidFill>
            <a:srgbClr val="FFF6DF"/>
          </a:solidFill>
          <a:ln w="12700">
            <a:solidFill>
              <a:srgbClr val="B7791F"/>
            </a:solidFill>
            <a:prstDash val="solid"/>
          </a:ln>
        </p:spPr>
      </p:sp>
      <p:sp>
        <p:nvSpPr>
          <p:cNvPr id="11" name="Text 9"/>
          <p:cNvSpPr/>
          <p:nvPr/>
        </p:nvSpPr>
        <p:spPr>
          <a:xfrm>
            <a:off x="630936" y="4901184"/>
            <a:ext cx="10927080" cy="621792"/>
          </a:xfrm>
          <a:prstGeom prst="rect">
            <a:avLst/>
          </a:prstGeom>
          <a:noFill/>
          <a:ln/>
        </p:spPr>
        <p:txBody>
          <a:bodyPr wrap="square" lIns="0" tIns="0" rIns="0" bIns="0" rtlCol="0" anchor="ctr"/>
          <a:lstStyle/>
          <a:p>
            <a:pPr indent="0" marL="0">
              <a:buNone/>
            </a:pPr>
            <a:r>
              <a:rPr lang="en-US" sz="1300" b="1" dirty="0">
                <a:solidFill>
                  <a:srgbClr val="7A5310"/>
                </a:solidFill>
                <a:latin typeface="Calibri" pitchFamily="34" charset="0"/>
                <a:ea typeface="Calibri" pitchFamily="34" charset="-122"/>
                <a:cs typeface="Calibri" pitchFamily="34" charset="-120"/>
              </a:rPr>
              <a:t>Pausing but never resuming is the most common half-finished capstone deliverable — both halves are captured here, with outputs.</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02920" y="292608"/>
            <a:ext cx="11183112" cy="777240"/>
          </a:xfrm>
          <a:prstGeom prst="rect">
            <a:avLst/>
          </a:prstGeom>
          <a:noFill/>
          <a:ln/>
        </p:spPr>
        <p:txBody>
          <a:bodyPr wrap="square" lIns="0" tIns="0" rIns="0" bIns="0" rtlCol="0" anchor="ctr"/>
          <a:lstStyle/>
          <a:p>
            <a:pPr algn="l" indent="0" marL="0">
              <a:buNone/>
            </a:pPr>
            <a:r>
              <a:rPr lang="en-US" sz="2700" b="1" dirty="0">
                <a:solidFill>
                  <a:srgbClr val="1E2A45"/>
                </a:solidFill>
                <a:latin typeface="Arial" pitchFamily="34" charset="0"/>
                <a:ea typeface="Arial" pitchFamily="34" charset="-122"/>
                <a:cs typeface="Arial" pitchFamily="34" charset="-120"/>
              </a:rPr>
              <a:t>Reliability: four error classes, each with its own answer</a:t>
            </a:r>
            <a:endParaRPr lang="en-US" sz="27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02920" y="1188720"/>
          <a:ext cx="11183112" cy="914400"/>
        </p:xfrm>
        <a:graphic>
          <a:graphicData uri="http://schemas.openxmlformats.org/drawingml/2006/table">
            <a:tbl>
              <a:tblPr/>
              <a:tblGrid>
                <a:gridCol w="2743200"/>
                <a:gridCol w="5852160"/>
                <a:gridCol w="2560320"/>
              </a:tblGrid>
              <a:tr h="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Error class</a:t>
                      </a:r>
                      <a:endParaRPr lang="en-US" sz="1200" dirty="0">
                        <a:latin typeface="Calibri" charset="0"/>
                        <a:ea typeface="Calibri" charset="0"/>
                        <a:cs typeface="Calibri" charset="0"/>
                      </a:endParaRPr>
                    </a:p>
                  </a:txBody>
                  <a:tcPr marL="36576" marR="36576" marT="36576" marB="36576" anchor="ctr">
                    <a:lnL w="9525" cap="flat" cmpd="sng" algn="ctr">
                      <a:solidFill>
                        <a:srgbClr val="D8DEE9"/>
                      </a:solidFill>
                      <a:prstDash val="solid"/>
                      <a:round/>
                      <a:headEnd type="none" w="med" len="med"/>
                      <a:tailEnd type="none" w="med" len="med"/>
                    </a:lnL>
                    <a:lnR w="9525" cap="flat" cmpd="sng" algn="ctr">
                      <a:solidFill>
                        <a:srgbClr val="D8DEE9"/>
                      </a:solidFill>
                      <a:prstDash val="solid"/>
                      <a:round/>
                      <a:headEnd type="none" w="med" len="med"/>
                      <a:tailEnd type="none" w="med" len="med"/>
                    </a:lnR>
                    <a:lnT w="9525" cap="flat" cmpd="sng" algn="ctr">
                      <a:solidFill>
                        <a:srgbClr val="D8DEE9"/>
                      </a:solidFill>
                      <a:prstDash val="solid"/>
                      <a:round/>
                      <a:headEnd type="none" w="med" len="med"/>
                      <a:tailEnd type="none" w="med" len="med"/>
                    </a:lnT>
                    <a:lnB w="9525" cap="flat" cmpd="sng" algn="ctr">
                      <a:solidFill>
                        <a:srgbClr val="D8DEE9"/>
                      </a:solidFill>
                      <a:prstDash val="solid"/>
                      <a:round/>
                      <a:headEnd type="none" w="med" len="med"/>
                      <a:tailEnd type="none" w="med" len="med"/>
                    </a:lnB>
                    <a:solidFill>
                      <a:srgbClr val="1E2A45"/>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Strategy</a:t>
                      </a:r>
                      <a:endParaRPr lang="en-US" sz="1200" dirty="0">
                        <a:latin typeface="Calibri" charset="0"/>
                        <a:ea typeface="Calibri" charset="0"/>
                        <a:cs typeface="Calibri" charset="0"/>
                      </a:endParaRPr>
                    </a:p>
                  </a:txBody>
                  <a:tcPr marL="36576" marR="36576" marT="36576" marB="36576" anchor="ctr">
                    <a:lnL w="9525" cap="flat" cmpd="sng" algn="ctr">
                      <a:solidFill>
                        <a:srgbClr val="D8DEE9"/>
                      </a:solidFill>
                      <a:prstDash val="solid"/>
                      <a:round/>
                      <a:headEnd type="none" w="med" len="med"/>
                      <a:tailEnd type="none" w="med" len="med"/>
                    </a:lnL>
                    <a:lnR w="9525" cap="flat" cmpd="sng" algn="ctr">
                      <a:solidFill>
                        <a:srgbClr val="D8DEE9"/>
                      </a:solidFill>
                      <a:prstDash val="solid"/>
                      <a:round/>
                      <a:headEnd type="none" w="med" len="med"/>
                      <a:tailEnd type="none" w="med" len="med"/>
                    </a:lnR>
                    <a:lnT w="9525" cap="flat" cmpd="sng" algn="ctr">
                      <a:solidFill>
                        <a:srgbClr val="D8DEE9"/>
                      </a:solidFill>
                      <a:prstDash val="solid"/>
                      <a:round/>
                      <a:headEnd type="none" w="med" len="med"/>
                      <a:tailEnd type="none" w="med" len="med"/>
                    </a:lnT>
                    <a:lnB w="9525" cap="flat" cmpd="sng" algn="ctr">
                      <a:solidFill>
                        <a:srgbClr val="D8DEE9"/>
                      </a:solidFill>
                      <a:prstDash val="solid"/>
                      <a:round/>
                      <a:headEnd type="none" w="med" len="med"/>
                      <a:tailEnd type="none" w="med" len="med"/>
                    </a:lnB>
                    <a:solidFill>
                      <a:srgbClr val="1E2A45"/>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Where</a:t>
                      </a:r>
                      <a:endParaRPr lang="en-US" sz="1200" dirty="0">
                        <a:latin typeface="Calibri" charset="0"/>
                        <a:ea typeface="Calibri" charset="0"/>
                        <a:cs typeface="Calibri" charset="0"/>
                      </a:endParaRPr>
                    </a:p>
                  </a:txBody>
                  <a:tcPr marL="36576" marR="36576" marT="36576" marB="36576" anchor="ctr">
                    <a:lnL w="9525" cap="flat" cmpd="sng" algn="ctr">
                      <a:solidFill>
                        <a:srgbClr val="D8DEE9"/>
                      </a:solidFill>
                      <a:prstDash val="solid"/>
                      <a:round/>
                      <a:headEnd type="none" w="med" len="med"/>
                      <a:tailEnd type="none" w="med" len="med"/>
                    </a:lnL>
                    <a:lnR w="9525" cap="flat" cmpd="sng" algn="ctr">
                      <a:solidFill>
                        <a:srgbClr val="D8DEE9"/>
                      </a:solidFill>
                      <a:prstDash val="solid"/>
                      <a:round/>
                      <a:headEnd type="none" w="med" len="med"/>
                      <a:tailEnd type="none" w="med" len="med"/>
                    </a:lnR>
                    <a:lnT w="9525" cap="flat" cmpd="sng" algn="ctr">
                      <a:solidFill>
                        <a:srgbClr val="D8DEE9"/>
                      </a:solidFill>
                      <a:prstDash val="solid"/>
                      <a:round/>
                      <a:headEnd type="none" w="med" len="med"/>
                      <a:tailEnd type="none" w="med" len="med"/>
                    </a:lnT>
                    <a:lnB w="9525" cap="flat" cmpd="sng" algn="ctr">
                      <a:solidFill>
                        <a:srgbClr val="D8DEE9"/>
                      </a:solidFill>
                      <a:prstDash val="solid"/>
                      <a:round/>
                      <a:headEnd type="none" w="med" len="med"/>
                      <a:tailEnd type="none" w="med" len="med"/>
                    </a:lnB>
                    <a:solidFill>
                      <a:srgbClr val="1E2A45"/>
                    </a:solidFill>
                  </a:tcPr>
                </a:tc>
              </a:tr>
              <a:tr h="0">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Transient (network, 5xx)</a:t>
                      </a:r>
                      <a:endParaRPr lang="en-US" sz="1150" dirty="0">
                        <a:latin typeface="Calibri" charset="0"/>
                        <a:ea typeface="Calibri" charset="0"/>
                        <a:cs typeface="Calibri" charset="0"/>
                      </a:endParaRPr>
                    </a:p>
                  </a:txBody>
                  <a:tcPr marL="36576" marR="36576" marT="36576" marB="36576" anchor="ctr">
                    <a:lnL w="9525" cap="flat" cmpd="sng" algn="ctr">
                      <a:solidFill>
                        <a:srgbClr val="D8DEE9"/>
                      </a:solidFill>
                      <a:prstDash val="solid"/>
                      <a:round/>
                      <a:headEnd type="none" w="med" len="med"/>
                      <a:tailEnd type="none" w="med" len="med"/>
                    </a:lnL>
                    <a:lnR w="9525" cap="flat" cmpd="sng" algn="ctr">
                      <a:solidFill>
                        <a:srgbClr val="D8DEE9"/>
                      </a:solidFill>
                      <a:prstDash val="solid"/>
                      <a:round/>
                      <a:headEnd type="none" w="med" len="med"/>
                      <a:tailEnd type="none" w="med" len="med"/>
                    </a:lnR>
                    <a:lnT w="9525" cap="flat" cmpd="sng" algn="ctr">
                      <a:solidFill>
                        <a:srgbClr val="D8DEE9"/>
                      </a:solidFill>
                      <a:prstDash val="solid"/>
                      <a:round/>
                      <a:headEnd type="none" w="med" len="med"/>
                      <a:tailEnd type="none" w="med" len="med"/>
                    </a:lnT>
                    <a:lnB w="9525" cap="flat" cmpd="sng" algn="ctr">
                      <a:solidFill>
                        <a:srgbClr val="D8DEE9"/>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RetryPolicy(max_attempts=3) — a real policy object, no hand-rolled sleep loops</a:t>
                      </a:r>
                      <a:endParaRPr lang="en-US" sz="1150" dirty="0">
                        <a:latin typeface="Calibri" charset="0"/>
                        <a:ea typeface="Calibri" charset="0"/>
                        <a:cs typeface="Calibri" charset="0"/>
                      </a:endParaRPr>
                    </a:p>
                  </a:txBody>
                  <a:tcPr marL="36576" marR="36576" marT="36576" marB="36576" anchor="ctr">
                    <a:lnL w="9525" cap="flat" cmpd="sng" algn="ctr">
                      <a:solidFill>
                        <a:srgbClr val="D8DEE9"/>
                      </a:solidFill>
                      <a:prstDash val="solid"/>
                      <a:round/>
                      <a:headEnd type="none" w="med" len="med"/>
                      <a:tailEnd type="none" w="med" len="med"/>
                    </a:lnL>
                    <a:lnR w="9525" cap="flat" cmpd="sng" algn="ctr">
                      <a:solidFill>
                        <a:srgbClr val="D8DEE9"/>
                      </a:solidFill>
                      <a:prstDash val="solid"/>
                      <a:round/>
                      <a:headEnd type="none" w="med" len="med"/>
                      <a:tailEnd type="none" w="med" len="med"/>
                    </a:lnR>
                    <a:lnT w="9525" cap="flat" cmpd="sng" algn="ctr">
                      <a:solidFill>
                        <a:srgbClr val="D8DEE9"/>
                      </a:solidFill>
                      <a:prstDash val="solid"/>
                      <a:round/>
                      <a:headEnd type="none" w="med" len="med"/>
                      <a:tailEnd type="none" w="med" len="med"/>
                    </a:lnT>
                    <a:lnB w="9525" cap="flat" cmpd="sng" algn="ctr">
                      <a:solidFill>
                        <a:srgbClr val="D8DEE9"/>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fetch_external_resource</a:t>
                      </a:r>
                      <a:endParaRPr lang="en-US" sz="1150" dirty="0">
                        <a:latin typeface="Calibri" charset="0"/>
                        <a:ea typeface="Calibri" charset="0"/>
                        <a:cs typeface="Calibri" charset="0"/>
                      </a:endParaRPr>
                    </a:p>
                  </a:txBody>
                  <a:tcPr marL="36576" marR="36576" marT="36576" marB="36576" anchor="ctr">
                    <a:lnL w="9525" cap="flat" cmpd="sng" algn="ctr">
                      <a:solidFill>
                        <a:srgbClr val="D8DEE9"/>
                      </a:solidFill>
                      <a:prstDash val="solid"/>
                      <a:round/>
                      <a:headEnd type="none" w="med" len="med"/>
                      <a:tailEnd type="none" w="med" len="med"/>
                    </a:lnL>
                    <a:lnR w="9525" cap="flat" cmpd="sng" algn="ctr">
                      <a:solidFill>
                        <a:srgbClr val="D8DEE9"/>
                      </a:solidFill>
                      <a:prstDash val="solid"/>
                      <a:round/>
                      <a:headEnd type="none" w="med" len="med"/>
                      <a:tailEnd type="none" w="med" len="med"/>
                    </a:lnR>
                    <a:lnT w="9525" cap="flat" cmpd="sng" algn="ctr">
                      <a:solidFill>
                        <a:srgbClr val="D8DEE9"/>
                      </a:solidFill>
                      <a:prstDash val="solid"/>
                      <a:round/>
                      <a:headEnd type="none" w="med" len="med"/>
                      <a:tailEnd type="none" w="med" len="med"/>
                    </a:lnT>
                    <a:lnB w="9525" cap="flat" cmpd="sng" algn="ctr">
                      <a:solidFill>
                        <a:srgbClr val="D8DEE9"/>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LLM-recoverable (bad tool input)</a:t>
                      </a:r>
                      <a:endParaRPr lang="en-US" sz="1150" dirty="0">
                        <a:latin typeface="Calibri" charset="0"/>
                        <a:ea typeface="Calibri" charset="0"/>
                        <a:cs typeface="Calibri" charset="0"/>
                      </a:endParaRPr>
                    </a:p>
                  </a:txBody>
                  <a:tcPr marL="36576" marR="36576" marT="36576" marB="36576" anchor="ctr">
                    <a:lnL w="9525" cap="flat" cmpd="sng" algn="ctr">
                      <a:solidFill>
                        <a:srgbClr val="D8DEE9"/>
                      </a:solidFill>
                      <a:prstDash val="solid"/>
                      <a:round/>
                      <a:headEnd type="none" w="med" len="med"/>
                      <a:tailEnd type="none" w="med" len="med"/>
                    </a:lnL>
                    <a:lnR w="9525" cap="flat" cmpd="sng" algn="ctr">
                      <a:solidFill>
                        <a:srgbClr val="D8DEE9"/>
                      </a:solidFill>
                      <a:prstDash val="solid"/>
                      <a:round/>
                      <a:headEnd type="none" w="med" len="med"/>
                      <a:tailEnd type="none" w="med" len="med"/>
                    </a:lnR>
                    <a:lnT w="9525" cap="flat" cmpd="sng" algn="ctr">
                      <a:solidFill>
                        <a:srgbClr val="D8DEE9"/>
                      </a:solidFill>
                      <a:prstDash val="solid"/>
                      <a:round/>
                      <a:headEnd type="none" w="med" len="med"/>
                      <a:tailEnd type="none" w="med" len="med"/>
                    </a:lnT>
                    <a:lnB w="9525" cap="flat" cmpd="sng" algn="ctr">
                      <a:solidFill>
                        <a:srgbClr val="D8DEE9"/>
                      </a:solidFill>
                      <a:prstDash val="solid"/>
                      <a:round/>
                      <a:headEnd type="none" w="med" len="med"/>
                      <a:tailEnd type="none" w="med" len="med"/>
                    </a:lnB>
                    <a:solidFill>
                      <a:srgbClr val="F4F6FA"/>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error text fed back to the model in a correction message, bounded retries</a:t>
                      </a:r>
                      <a:endParaRPr lang="en-US" sz="1150" dirty="0">
                        <a:latin typeface="Calibri" charset="0"/>
                        <a:ea typeface="Calibri" charset="0"/>
                        <a:cs typeface="Calibri" charset="0"/>
                      </a:endParaRPr>
                    </a:p>
                  </a:txBody>
                  <a:tcPr marL="36576" marR="36576" marT="36576" marB="36576" anchor="ctr">
                    <a:lnL w="9525" cap="flat" cmpd="sng" algn="ctr">
                      <a:solidFill>
                        <a:srgbClr val="D8DEE9"/>
                      </a:solidFill>
                      <a:prstDash val="solid"/>
                      <a:round/>
                      <a:headEnd type="none" w="med" len="med"/>
                      <a:tailEnd type="none" w="med" len="med"/>
                    </a:lnL>
                    <a:lnR w="9525" cap="flat" cmpd="sng" algn="ctr">
                      <a:solidFill>
                        <a:srgbClr val="D8DEE9"/>
                      </a:solidFill>
                      <a:prstDash val="solid"/>
                      <a:round/>
                      <a:headEnd type="none" w="med" len="med"/>
                      <a:tailEnd type="none" w="med" len="med"/>
                    </a:lnR>
                    <a:lnT w="9525" cap="flat" cmpd="sng" algn="ctr">
                      <a:solidFill>
                        <a:srgbClr val="D8DEE9"/>
                      </a:solidFill>
                      <a:prstDash val="solid"/>
                      <a:round/>
                      <a:headEnd type="none" w="med" len="med"/>
                      <a:tailEnd type="none" w="med" len="med"/>
                    </a:lnT>
                    <a:lnB w="9525" cap="flat" cmpd="sng" algn="ctr">
                      <a:solidFill>
                        <a:srgbClr val="D8DEE9"/>
                      </a:solidFill>
                      <a:prstDash val="solid"/>
                      <a:round/>
                      <a:headEnd type="none" w="med" len="med"/>
                      <a:tailEnd type="none" w="med" len="med"/>
                    </a:lnB>
                    <a:solidFill>
                      <a:srgbClr val="F4F6FA"/>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run_tool_with_llm_recovery</a:t>
                      </a:r>
                      <a:endParaRPr lang="en-US" sz="1150" dirty="0">
                        <a:latin typeface="Calibri" charset="0"/>
                        <a:ea typeface="Calibri" charset="0"/>
                        <a:cs typeface="Calibri" charset="0"/>
                      </a:endParaRPr>
                    </a:p>
                  </a:txBody>
                  <a:tcPr marL="36576" marR="36576" marT="36576" marB="36576" anchor="ctr">
                    <a:lnL w="9525" cap="flat" cmpd="sng" algn="ctr">
                      <a:solidFill>
                        <a:srgbClr val="D8DEE9"/>
                      </a:solidFill>
                      <a:prstDash val="solid"/>
                      <a:round/>
                      <a:headEnd type="none" w="med" len="med"/>
                      <a:tailEnd type="none" w="med" len="med"/>
                    </a:lnL>
                    <a:lnR w="9525" cap="flat" cmpd="sng" algn="ctr">
                      <a:solidFill>
                        <a:srgbClr val="D8DEE9"/>
                      </a:solidFill>
                      <a:prstDash val="solid"/>
                      <a:round/>
                      <a:headEnd type="none" w="med" len="med"/>
                      <a:tailEnd type="none" w="med" len="med"/>
                    </a:lnR>
                    <a:lnT w="9525" cap="flat" cmpd="sng" algn="ctr">
                      <a:solidFill>
                        <a:srgbClr val="D8DEE9"/>
                      </a:solidFill>
                      <a:prstDash val="solid"/>
                      <a:round/>
                      <a:headEnd type="none" w="med" len="med"/>
                      <a:tailEnd type="none" w="med" len="med"/>
                    </a:lnT>
                    <a:lnB w="9525" cap="flat" cmpd="sng" algn="ctr">
                      <a:solidFill>
                        <a:srgbClr val="D8DEE9"/>
                      </a:solidFill>
                      <a:prstDash val="solid"/>
                      <a:round/>
                      <a:headEnd type="none" w="med" len="med"/>
                      <a:tailEnd type="none" w="med" len="med"/>
                    </a:lnB>
                    <a:solidFill>
                      <a:srgbClr val="F4F6FA"/>
                    </a:solidFill>
                  </a:tcPr>
                </a:tc>
              </a:tr>
              <a:tr h="0">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User-fixable</a:t>
                      </a:r>
                      <a:endParaRPr lang="en-US" sz="1150" dirty="0">
                        <a:latin typeface="Calibri" charset="0"/>
                        <a:ea typeface="Calibri" charset="0"/>
                        <a:cs typeface="Calibri" charset="0"/>
                      </a:endParaRPr>
                    </a:p>
                  </a:txBody>
                  <a:tcPr marL="36576" marR="36576" marT="36576" marB="36576" anchor="ctr">
                    <a:lnL w="9525" cap="flat" cmpd="sng" algn="ctr">
                      <a:solidFill>
                        <a:srgbClr val="D8DEE9"/>
                      </a:solidFill>
                      <a:prstDash val="solid"/>
                      <a:round/>
                      <a:headEnd type="none" w="med" len="med"/>
                      <a:tailEnd type="none" w="med" len="med"/>
                    </a:lnL>
                    <a:lnR w="9525" cap="flat" cmpd="sng" algn="ctr">
                      <a:solidFill>
                        <a:srgbClr val="D8DEE9"/>
                      </a:solidFill>
                      <a:prstDash val="solid"/>
                      <a:round/>
                      <a:headEnd type="none" w="med" len="med"/>
                      <a:tailEnd type="none" w="med" len="med"/>
                    </a:lnR>
                    <a:lnT w="9525" cap="flat" cmpd="sng" algn="ctr">
                      <a:solidFill>
                        <a:srgbClr val="D8DEE9"/>
                      </a:solidFill>
                      <a:prstDash val="solid"/>
                      <a:round/>
                      <a:headEnd type="none" w="med" len="med"/>
                      <a:tailEnd type="none" w="med" len="med"/>
                    </a:lnT>
                    <a:lnB w="9525" cap="flat" cmpd="sng" algn="ctr">
                      <a:solidFill>
                        <a:srgbClr val="D8DEE9"/>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interrupt() — the approval gate doubles as the pattern</a:t>
                      </a:r>
                      <a:endParaRPr lang="en-US" sz="1150" dirty="0">
                        <a:latin typeface="Calibri" charset="0"/>
                        <a:ea typeface="Calibri" charset="0"/>
                        <a:cs typeface="Calibri" charset="0"/>
                      </a:endParaRPr>
                    </a:p>
                  </a:txBody>
                  <a:tcPr marL="36576" marR="36576" marT="36576" marB="36576" anchor="ctr">
                    <a:lnL w="9525" cap="flat" cmpd="sng" algn="ctr">
                      <a:solidFill>
                        <a:srgbClr val="D8DEE9"/>
                      </a:solidFill>
                      <a:prstDash val="solid"/>
                      <a:round/>
                      <a:headEnd type="none" w="med" len="med"/>
                      <a:tailEnd type="none" w="med" len="med"/>
                    </a:lnL>
                    <a:lnR w="9525" cap="flat" cmpd="sng" algn="ctr">
                      <a:solidFill>
                        <a:srgbClr val="D8DEE9"/>
                      </a:solidFill>
                      <a:prstDash val="solid"/>
                      <a:round/>
                      <a:headEnd type="none" w="med" len="med"/>
                      <a:tailEnd type="none" w="med" len="med"/>
                    </a:lnR>
                    <a:lnT w="9525" cap="flat" cmpd="sng" algn="ctr">
                      <a:solidFill>
                        <a:srgbClr val="D8DEE9"/>
                      </a:solidFill>
                      <a:prstDash val="solid"/>
                      <a:round/>
                      <a:headEnd type="none" w="med" len="med"/>
                      <a:tailEnd type="none" w="med" len="med"/>
                    </a:lnT>
                    <a:lnB w="9525" cap="flat" cmpd="sng" algn="ctr">
                      <a:solidFill>
                        <a:srgbClr val="D8DEE9"/>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munassiq_app</a:t>
                      </a:r>
                      <a:endParaRPr lang="en-US" sz="1150" dirty="0">
                        <a:latin typeface="Calibri" charset="0"/>
                        <a:ea typeface="Calibri" charset="0"/>
                        <a:cs typeface="Calibri" charset="0"/>
                      </a:endParaRPr>
                    </a:p>
                  </a:txBody>
                  <a:tcPr marL="36576" marR="36576" marT="36576" marB="36576" anchor="ctr">
                    <a:lnL w="9525" cap="flat" cmpd="sng" algn="ctr">
                      <a:solidFill>
                        <a:srgbClr val="D8DEE9"/>
                      </a:solidFill>
                      <a:prstDash val="solid"/>
                      <a:round/>
                      <a:headEnd type="none" w="med" len="med"/>
                      <a:tailEnd type="none" w="med" len="med"/>
                    </a:lnL>
                    <a:lnR w="9525" cap="flat" cmpd="sng" algn="ctr">
                      <a:solidFill>
                        <a:srgbClr val="D8DEE9"/>
                      </a:solidFill>
                      <a:prstDash val="solid"/>
                      <a:round/>
                      <a:headEnd type="none" w="med" len="med"/>
                      <a:tailEnd type="none" w="med" len="med"/>
                    </a:lnR>
                    <a:lnT w="9525" cap="flat" cmpd="sng" algn="ctr">
                      <a:solidFill>
                        <a:srgbClr val="D8DEE9"/>
                      </a:solidFill>
                      <a:prstDash val="solid"/>
                      <a:round/>
                      <a:headEnd type="none" w="med" len="med"/>
                      <a:tailEnd type="none" w="med" len="med"/>
                    </a:lnT>
                    <a:lnB w="9525" cap="flat" cmpd="sng" algn="ctr">
                      <a:solidFill>
                        <a:srgbClr val="D8DEE9"/>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Unexpected</a:t>
                      </a:r>
                      <a:endParaRPr lang="en-US" sz="1150" dirty="0">
                        <a:latin typeface="Calibri" charset="0"/>
                        <a:ea typeface="Calibri" charset="0"/>
                        <a:cs typeface="Calibri" charset="0"/>
                      </a:endParaRPr>
                    </a:p>
                  </a:txBody>
                  <a:tcPr marL="36576" marR="36576" marT="36576" marB="36576" anchor="ctr">
                    <a:lnL w="9525" cap="flat" cmpd="sng" algn="ctr">
                      <a:solidFill>
                        <a:srgbClr val="D8DEE9"/>
                      </a:solidFill>
                      <a:prstDash val="solid"/>
                      <a:round/>
                      <a:headEnd type="none" w="med" len="med"/>
                      <a:tailEnd type="none" w="med" len="med"/>
                    </a:lnL>
                    <a:lnR w="9525" cap="flat" cmpd="sng" algn="ctr">
                      <a:solidFill>
                        <a:srgbClr val="D8DEE9"/>
                      </a:solidFill>
                      <a:prstDash val="solid"/>
                      <a:round/>
                      <a:headEnd type="none" w="med" len="med"/>
                      <a:tailEnd type="none" w="med" len="med"/>
                    </a:lnR>
                    <a:lnT w="9525" cap="flat" cmpd="sng" algn="ctr">
                      <a:solidFill>
                        <a:srgbClr val="D8DEE9"/>
                      </a:solidFill>
                      <a:prstDash val="solid"/>
                      <a:round/>
                      <a:headEnd type="none" w="med" len="med"/>
                      <a:tailEnd type="none" w="med" len="med"/>
                    </a:lnT>
                    <a:lnB w="9525" cap="flat" cmpd="sng" algn="ctr">
                      <a:solidFill>
                        <a:srgbClr val="D8DEE9"/>
                      </a:solidFill>
                      <a:prstDash val="solid"/>
                      <a:round/>
                      <a:headEnd type="none" w="med" len="med"/>
                      <a:tailEnd type="none" w="med" len="med"/>
                    </a:lnB>
                    <a:solidFill>
                      <a:srgbClr val="F4F6FA"/>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propagate for debugging — printed as type + message only, never raw tracebacks</a:t>
                      </a:r>
                      <a:endParaRPr lang="en-US" sz="1150" dirty="0">
                        <a:latin typeface="Calibri" charset="0"/>
                        <a:ea typeface="Calibri" charset="0"/>
                        <a:cs typeface="Calibri" charset="0"/>
                      </a:endParaRPr>
                    </a:p>
                  </a:txBody>
                  <a:tcPr marL="36576" marR="36576" marT="36576" marB="36576" anchor="ctr">
                    <a:lnL w="9525" cap="flat" cmpd="sng" algn="ctr">
                      <a:solidFill>
                        <a:srgbClr val="D8DEE9"/>
                      </a:solidFill>
                      <a:prstDash val="solid"/>
                      <a:round/>
                      <a:headEnd type="none" w="med" len="med"/>
                      <a:tailEnd type="none" w="med" len="med"/>
                    </a:lnL>
                    <a:lnR w="9525" cap="flat" cmpd="sng" algn="ctr">
                      <a:solidFill>
                        <a:srgbClr val="D8DEE9"/>
                      </a:solidFill>
                      <a:prstDash val="solid"/>
                      <a:round/>
                      <a:headEnd type="none" w="med" len="med"/>
                      <a:tailEnd type="none" w="med" len="med"/>
                    </a:lnR>
                    <a:lnT w="9525" cap="flat" cmpd="sng" algn="ctr">
                      <a:solidFill>
                        <a:srgbClr val="D8DEE9"/>
                      </a:solidFill>
                      <a:prstDash val="solid"/>
                      <a:round/>
                      <a:headEnd type="none" w="med" len="med"/>
                      <a:tailEnd type="none" w="med" len="med"/>
                    </a:lnT>
                    <a:lnB w="9525" cap="flat" cmpd="sng" algn="ctr">
                      <a:solidFill>
                        <a:srgbClr val="D8DEE9"/>
                      </a:solidFill>
                      <a:prstDash val="solid"/>
                      <a:round/>
                      <a:headEnd type="none" w="med" len="med"/>
                      <a:tailEnd type="none" w="med" len="med"/>
                    </a:lnB>
                    <a:solidFill>
                      <a:srgbClr val="F4F6FA"/>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everywhere</a:t>
                      </a:r>
                      <a:endParaRPr lang="en-US" sz="1150" dirty="0">
                        <a:latin typeface="Calibri" charset="0"/>
                        <a:ea typeface="Calibri" charset="0"/>
                        <a:cs typeface="Calibri" charset="0"/>
                      </a:endParaRPr>
                    </a:p>
                  </a:txBody>
                  <a:tcPr marL="36576" marR="36576" marT="36576" marB="36576" anchor="ctr">
                    <a:lnL w="9525" cap="flat" cmpd="sng" algn="ctr">
                      <a:solidFill>
                        <a:srgbClr val="D8DEE9"/>
                      </a:solidFill>
                      <a:prstDash val="solid"/>
                      <a:round/>
                      <a:headEnd type="none" w="med" len="med"/>
                      <a:tailEnd type="none" w="med" len="med"/>
                    </a:lnL>
                    <a:lnR w="9525" cap="flat" cmpd="sng" algn="ctr">
                      <a:solidFill>
                        <a:srgbClr val="D8DEE9"/>
                      </a:solidFill>
                      <a:prstDash val="solid"/>
                      <a:round/>
                      <a:headEnd type="none" w="med" len="med"/>
                      <a:tailEnd type="none" w="med" len="med"/>
                    </a:lnR>
                    <a:lnT w="9525" cap="flat" cmpd="sng" algn="ctr">
                      <a:solidFill>
                        <a:srgbClr val="D8DEE9"/>
                      </a:solidFill>
                      <a:prstDash val="solid"/>
                      <a:round/>
                      <a:headEnd type="none" w="med" len="med"/>
                      <a:tailEnd type="none" w="med" len="med"/>
                    </a:lnT>
                    <a:lnB w="9525" cap="flat" cmpd="sng" algn="ctr">
                      <a:solidFill>
                        <a:srgbClr val="D8DEE9"/>
                      </a:solidFill>
                      <a:prstDash val="solid"/>
                      <a:round/>
                      <a:headEnd type="none" w="med" len="med"/>
                      <a:tailEnd type="none" w="med" len="med"/>
                    </a:lnB>
                    <a:solidFill>
                      <a:srgbClr val="F4F6FA"/>
                    </a:solidFill>
                  </a:tcPr>
                </a:tc>
              </a:tr>
            </a:tbl>
          </a:graphicData>
        </a:graphic>
      </p:graphicFrame>
      <p:sp>
        <p:nvSpPr>
          <p:cNvPr id="4" name="Text 1"/>
          <p:cNvSpPr/>
          <p:nvPr/>
        </p:nvSpPr>
        <p:spPr>
          <a:xfrm>
            <a:off x="502920" y="4343400"/>
            <a:ext cx="10972800" cy="365760"/>
          </a:xfrm>
          <a:prstGeom prst="rect">
            <a:avLst/>
          </a:prstGeom>
          <a:noFill/>
          <a:ln/>
        </p:spPr>
        <p:txBody>
          <a:bodyPr wrap="square" lIns="0" tIns="0" rIns="0" bIns="0" rtlCol="0" anchor="ctr"/>
          <a:lstStyle/>
          <a:p>
            <a:pPr indent="0" marL="0">
              <a:buNone/>
            </a:pPr>
            <a:r>
              <a:rPr lang="en-US" sz="1350" b="1" dirty="0">
                <a:solidFill>
                  <a:srgbClr val="1E2A45"/>
                </a:solidFill>
                <a:latin typeface="Arial" pitchFamily="34" charset="0"/>
                <a:ea typeface="Arial" pitchFamily="34" charset="-122"/>
                <a:cs typeface="Arial" pitchFamily="34" charset="-120"/>
              </a:rPr>
              <a:t>Provider quirks we caught live — one retry helper (invoke_structured) absorbs all three:</a:t>
            </a:r>
            <a:endParaRPr lang="en-US" sz="1350" dirty="0"/>
          </a:p>
        </p:txBody>
      </p:sp>
      <p:sp>
        <p:nvSpPr>
          <p:cNvPr id="5" name="Shape 2"/>
          <p:cNvSpPr/>
          <p:nvPr/>
        </p:nvSpPr>
        <p:spPr>
          <a:xfrm>
            <a:off x="502920" y="4800600"/>
            <a:ext cx="3611880" cy="914400"/>
          </a:xfrm>
          <a:prstGeom prst="roundRect">
            <a:avLst>
              <a:gd name="adj" fmla="val 6000"/>
            </a:avLst>
          </a:prstGeom>
          <a:solidFill>
            <a:srgbClr val="FDECEA"/>
          </a:solidFill>
          <a:ln w="12700">
            <a:solidFill>
              <a:srgbClr val="C0392B"/>
            </a:solidFill>
            <a:prstDash val="solid"/>
          </a:ln>
        </p:spPr>
      </p:sp>
      <p:sp>
        <p:nvSpPr>
          <p:cNvPr id="6" name="Text 3"/>
          <p:cNvSpPr/>
          <p:nvPr/>
        </p:nvSpPr>
        <p:spPr>
          <a:xfrm>
            <a:off x="630936" y="4855464"/>
            <a:ext cx="3355848" cy="804672"/>
          </a:xfrm>
          <a:prstGeom prst="rect">
            <a:avLst/>
          </a:prstGeom>
          <a:noFill/>
          <a:ln/>
        </p:spPr>
        <p:txBody>
          <a:bodyPr wrap="square" lIns="0" tIns="0" rIns="0" bIns="0" rtlCol="0" anchor="ctr"/>
          <a:lstStyle/>
          <a:p>
            <a:pPr indent="0" marL="0">
              <a:buNone/>
            </a:pPr>
            <a:r>
              <a:rPr lang="en-US" sz="1150" dirty="0">
                <a:solidFill>
                  <a:srgbClr val="8E2620"/>
                </a:solidFill>
                <a:latin typeface="Calibri" pitchFamily="34" charset="0"/>
                <a:ea typeface="Calibri" pitchFamily="34" charset="-122"/>
                <a:cs typeface="Calibri" pitchFamily="34" charset="-120"/>
              </a:rPr>
              <a:t>a bare -2.0 returned instead of the object → pydantic ValidationError</a:t>
            </a:r>
            <a:endParaRPr lang="en-US" sz="1150" dirty="0"/>
          </a:p>
        </p:txBody>
      </p:sp>
      <p:sp>
        <p:nvSpPr>
          <p:cNvPr id="7" name="Shape 4"/>
          <p:cNvSpPr/>
          <p:nvPr/>
        </p:nvSpPr>
        <p:spPr>
          <a:xfrm>
            <a:off x="4297680" y="4800600"/>
            <a:ext cx="3611880" cy="914400"/>
          </a:xfrm>
          <a:prstGeom prst="roundRect">
            <a:avLst>
              <a:gd name="adj" fmla="val 6000"/>
            </a:avLst>
          </a:prstGeom>
          <a:solidFill>
            <a:srgbClr val="FDECEA"/>
          </a:solidFill>
          <a:ln w="12700">
            <a:solidFill>
              <a:srgbClr val="C0392B"/>
            </a:solidFill>
            <a:prstDash val="solid"/>
          </a:ln>
        </p:spPr>
      </p:sp>
      <p:sp>
        <p:nvSpPr>
          <p:cNvPr id="8" name="Text 5"/>
          <p:cNvSpPr/>
          <p:nvPr/>
        </p:nvSpPr>
        <p:spPr>
          <a:xfrm>
            <a:off x="4425696" y="4855464"/>
            <a:ext cx="3355848" cy="804672"/>
          </a:xfrm>
          <a:prstGeom prst="rect">
            <a:avLst/>
          </a:prstGeom>
          <a:noFill/>
          <a:ln/>
        </p:spPr>
        <p:txBody>
          <a:bodyPr wrap="square" lIns="0" tIns="0" rIns="0" bIns="0" rtlCol="0" anchor="ctr"/>
          <a:lstStyle/>
          <a:p>
            <a:pPr indent="0" marL="0">
              <a:buNone/>
            </a:pPr>
            <a:r>
              <a:rPr lang="en-US" sz="1150" dirty="0">
                <a:solidFill>
                  <a:srgbClr val="8E2620"/>
                </a:solidFill>
                <a:latin typeface="Calibri" pitchFamily="34" charset="0"/>
                <a:ea typeface="Calibri" pitchFamily="34" charset="-122"/>
                <a:cs typeface="Calibri" pitchFamily="34" charset="-120"/>
              </a:rPr>
              <a:t>a response with no 'parsed' field at all → ValueError</a:t>
            </a:r>
            <a:endParaRPr lang="en-US" sz="1150" dirty="0"/>
          </a:p>
        </p:txBody>
      </p:sp>
      <p:sp>
        <p:nvSpPr>
          <p:cNvPr id="9" name="Shape 6"/>
          <p:cNvSpPr/>
          <p:nvPr/>
        </p:nvSpPr>
        <p:spPr>
          <a:xfrm>
            <a:off x="8092440" y="4800600"/>
            <a:ext cx="3593592" cy="914400"/>
          </a:xfrm>
          <a:prstGeom prst="roundRect">
            <a:avLst>
              <a:gd name="adj" fmla="val 6000"/>
            </a:avLst>
          </a:prstGeom>
          <a:solidFill>
            <a:srgbClr val="FDECEA"/>
          </a:solidFill>
          <a:ln w="12700">
            <a:solidFill>
              <a:srgbClr val="C0392B"/>
            </a:solidFill>
            <a:prstDash val="solid"/>
          </a:ln>
        </p:spPr>
      </p:sp>
      <p:sp>
        <p:nvSpPr>
          <p:cNvPr id="10" name="Text 7"/>
          <p:cNvSpPr/>
          <p:nvPr/>
        </p:nvSpPr>
        <p:spPr>
          <a:xfrm>
            <a:off x="8220456" y="4855464"/>
            <a:ext cx="3337560" cy="804672"/>
          </a:xfrm>
          <a:prstGeom prst="rect">
            <a:avLst/>
          </a:prstGeom>
          <a:noFill/>
          <a:ln/>
        </p:spPr>
        <p:txBody>
          <a:bodyPr wrap="square" lIns="0" tIns="0" rIns="0" bIns="0" rtlCol="0" anchor="ctr"/>
          <a:lstStyle/>
          <a:p>
            <a:pPr indent="0" marL="0">
              <a:buNone/>
            </a:pPr>
            <a:r>
              <a:rPr lang="en-US" sz="1150" dirty="0">
                <a:solidFill>
                  <a:srgbClr val="8E2620"/>
                </a:solidFill>
                <a:latin typeface="Calibri" pitchFamily="34" charset="0"/>
                <a:ea typeface="Calibri" pitchFamily="34" charset="-122"/>
                <a:cs typeface="Calibri" pitchFamily="34" charset="-120"/>
              </a:rPr>
              <a:t>server-side output_parse_failed → BadRequestError 400</a:t>
            </a:r>
            <a:endParaRPr lang="en-US" sz="11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02920" y="292608"/>
            <a:ext cx="11183112" cy="777240"/>
          </a:xfrm>
          <a:prstGeom prst="rect">
            <a:avLst/>
          </a:prstGeom>
          <a:noFill/>
          <a:ln/>
        </p:spPr>
        <p:txBody>
          <a:bodyPr wrap="square" lIns="0" tIns="0" rIns="0" bIns="0" rtlCol="0" anchor="ctr"/>
          <a:lstStyle/>
          <a:p>
            <a:pPr algn="l" indent="0" marL="0">
              <a:buNone/>
            </a:pPr>
            <a:r>
              <a:rPr lang="en-US" sz="2700" b="1" dirty="0">
                <a:solidFill>
                  <a:srgbClr val="1E2A45"/>
                </a:solidFill>
                <a:latin typeface="Arial" pitchFamily="34" charset="0"/>
                <a:ea typeface="Arial" pitchFamily="34" charset="-122"/>
                <a:cs typeface="Arial" pitchFamily="34" charset="-120"/>
              </a:rPr>
              <a:t>Evaluator-Optimizer — named, bounded, measured</a:t>
            </a:r>
            <a:endParaRPr lang="en-US" sz="2700" dirty="0"/>
          </a:p>
        </p:txBody>
      </p:sp>
      <p:sp>
        <p:nvSpPr>
          <p:cNvPr id="3" name="Shape 1"/>
          <p:cNvSpPr/>
          <p:nvPr/>
        </p:nvSpPr>
        <p:spPr>
          <a:xfrm>
            <a:off x="502920" y="1463040"/>
            <a:ext cx="1965960" cy="777240"/>
          </a:xfrm>
          <a:prstGeom prst="roundRect">
            <a:avLst>
              <a:gd name="adj" fmla="val 8235"/>
            </a:avLst>
          </a:prstGeom>
          <a:solidFill>
            <a:srgbClr val="EDF2FB"/>
          </a:solidFill>
          <a:ln w="12700">
            <a:solidFill>
              <a:srgbClr val="1E2A45"/>
            </a:solidFill>
            <a:prstDash val="solid"/>
          </a:ln>
        </p:spPr>
      </p:sp>
      <p:sp>
        <p:nvSpPr>
          <p:cNvPr id="4" name="Text 2"/>
          <p:cNvSpPr/>
          <p:nvPr/>
        </p:nvSpPr>
        <p:spPr>
          <a:xfrm>
            <a:off x="548640" y="1463040"/>
            <a:ext cx="1874520" cy="777240"/>
          </a:xfrm>
          <a:prstGeom prst="rect">
            <a:avLst/>
          </a:prstGeom>
          <a:noFill/>
          <a:ln/>
        </p:spPr>
        <p:txBody>
          <a:bodyPr wrap="square" lIns="0" tIns="0" rIns="0" bIns="0" rtlCol="0" anchor="ctr"/>
          <a:lstStyle/>
          <a:p>
            <a:pPr algn="ctr" indent="0" marL="0">
              <a:buNone/>
            </a:pPr>
            <a:r>
              <a:rPr lang="en-US" sz="1100" b="1" dirty="0">
                <a:solidFill>
                  <a:srgbClr val="24406E"/>
                </a:solidFill>
                <a:latin typeface="Calibri" pitchFamily="34" charset="0"/>
                <a:ea typeface="Calibri" pitchFamily="34" charset="-122"/>
                <a:cs typeface="Calibri" pitchFamily="34" charset="-120"/>
              </a:rPr>
              <a:t>compose_draft</a:t>
            </a:r>
            <a:endParaRPr lang="en-US" sz="1100" dirty="0"/>
          </a:p>
          <a:p>
            <a:pPr algn="ctr" indent="0" marL="0">
              <a:buNone/>
            </a:pPr>
            <a:r>
              <a:rPr lang="en-US" sz="1100" b="1" dirty="0">
                <a:solidFill>
                  <a:srgbClr val="24406E"/>
                </a:solidFill>
                <a:latin typeface="Calibri" pitchFamily="34" charset="0"/>
                <a:ea typeface="Calibri" pitchFamily="34" charset="-122"/>
                <a:cs typeface="Calibri" pitchFamily="34" charset="-120"/>
              </a:rPr>
              <a:t>3.3s</a:t>
            </a:r>
            <a:endParaRPr lang="en-US" sz="1100" dirty="0"/>
          </a:p>
        </p:txBody>
      </p:sp>
      <p:sp>
        <p:nvSpPr>
          <p:cNvPr id="5" name="Shape 3"/>
          <p:cNvSpPr/>
          <p:nvPr/>
        </p:nvSpPr>
        <p:spPr>
          <a:xfrm>
            <a:off x="2926080" y="1463040"/>
            <a:ext cx="1965960" cy="777240"/>
          </a:xfrm>
          <a:prstGeom prst="roundRect">
            <a:avLst>
              <a:gd name="adj" fmla="val 8235"/>
            </a:avLst>
          </a:prstGeom>
          <a:solidFill>
            <a:srgbClr val="FFF6DF"/>
          </a:solidFill>
          <a:ln w="12700">
            <a:solidFill>
              <a:srgbClr val="1E2A45"/>
            </a:solidFill>
            <a:prstDash val="solid"/>
          </a:ln>
        </p:spPr>
      </p:sp>
      <p:sp>
        <p:nvSpPr>
          <p:cNvPr id="6" name="Text 4"/>
          <p:cNvSpPr/>
          <p:nvPr/>
        </p:nvSpPr>
        <p:spPr>
          <a:xfrm>
            <a:off x="2971800" y="1463040"/>
            <a:ext cx="1874520" cy="777240"/>
          </a:xfrm>
          <a:prstGeom prst="rect">
            <a:avLst/>
          </a:prstGeom>
          <a:noFill/>
          <a:ln/>
        </p:spPr>
        <p:txBody>
          <a:bodyPr wrap="square" lIns="0" tIns="0" rIns="0" bIns="0" rtlCol="0" anchor="ctr"/>
          <a:lstStyle/>
          <a:p>
            <a:pPr algn="ctr" indent="0" marL="0">
              <a:buNone/>
            </a:pPr>
            <a:r>
              <a:rPr lang="en-US" sz="1100" b="1" dirty="0">
                <a:solidFill>
                  <a:srgbClr val="7A5310"/>
                </a:solidFill>
                <a:latin typeface="Calibri" pitchFamily="34" charset="0"/>
                <a:ea typeface="Calibri" pitchFamily="34" charset="-122"/>
                <a:cs typeface="Calibri" pitchFamily="34" charset="-120"/>
              </a:rPr>
              <a:t>evaluate_draft</a:t>
            </a:r>
            <a:endParaRPr lang="en-US" sz="1100" dirty="0"/>
          </a:p>
          <a:p>
            <a:pPr algn="ctr" indent="0" marL="0">
              <a:buNone/>
            </a:pPr>
            <a:r>
              <a:rPr lang="en-US" sz="1100" b="1" dirty="0">
                <a:solidFill>
                  <a:srgbClr val="7A5310"/>
                </a:solidFill>
                <a:latin typeface="Calibri" pitchFamily="34" charset="0"/>
                <a:ea typeface="Calibri" pitchFamily="34" charset="-122"/>
                <a:cs typeface="Calibri" pitchFamily="34" charset="-120"/>
              </a:rPr>
              <a:t>DraftVerdict · up to 21.7s</a:t>
            </a:r>
            <a:endParaRPr lang="en-US" sz="1100" dirty="0"/>
          </a:p>
        </p:txBody>
      </p:sp>
      <p:sp>
        <p:nvSpPr>
          <p:cNvPr id="7" name="Shape 5"/>
          <p:cNvSpPr/>
          <p:nvPr/>
        </p:nvSpPr>
        <p:spPr>
          <a:xfrm>
            <a:off x="5349240" y="1463040"/>
            <a:ext cx="1965960" cy="777240"/>
          </a:xfrm>
          <a:prstGeom prst="roundRect">
            <a:avLst>
              <a:gd name="adj" fmla="val 8235"/>
            </a:avLst>
          </a:prstGeom>
          <a:solidFill>
            <a:srgbClr val="EDF2FB"/>
          </a:solidFill>
          <a:ln w="12700">
            <a:solidFill>
              <a:srgbClr val="1E2A45"/>
            </a:solidFill>
            <a:prstDash val="solid"/>
          </a:ln>
        </p:spPr>
      </p:sp>
      <p:sp>
        <p:nvSpPr>
          <p:cNvPr id="8" name="Text 6"/>
          <p:cNvSpPr/>
          <p:nvPr/>
        </p:nvSpPr>
        <p:spPr>
          <a:xfrm>
            <a:off x="5394960" y="1463040"/>
            <a:ext cx="1874520" cy="777240"/>
          </a:xfrm>
          <a:prstGeom prst="rect">
            <a:avLst/>
          </a:prstGeom>
          <a:noFill/>
          <a:ln/>
        </p:spPr>
        <p:txBody>
          <a:bodyPr wrap="square" lIns="0" tIns="0" rIns="0" bIns="0" rtlCol="0" anchor="ctr"/>
          <a:lstStyle/>
          <a:p>
            <a:pPr algn="ctr" indent="0" marL="0">
              <a:buNone/>
            </a:pPr>
            <a:r>
              <a:rPr lang="en-US" sz="1100" b="1" dirty="0">
                <a:solidFill>
                  <a:srgbClr val="24406E"/>
                </a:solidFill>
                <a:latin typeface="Calibri" pitchFamily="34" charset="0"/>
                <a:ea typeface="Calibri" pitchFamily="34" charset="-122"/>
                <a:cs typeface="Calibri" pitchFamily="34" charset="-120"/>
              </a:rPr>
              <a:t>improve_draft</a:t>
            </a:r>
            <a:endParaRPr lang="en-US" sz="1100" dirty="0"/>
          </a:p>
          <a:p>
            <a:pPr algn="ctr" indent="0" marL="0">
              <a:buNone/>
            </a:pPr>
            <a:r>
              <a:rPr lang="en-US" sz="1100" b="1" dirty="0">
                <a:solidFill>
                  <a:srgbClr val="24406E"/>
                </a:solidFill>
                <a:latin typeface="Calibri" pitchFamily="34" charset="0"/>
                <a:ea typeface="Calibri" pitchFamily="34" charset="-122"/>
                <a:cs typeface="Calibri" pitchFamily="34" charset="-120"/>
              </a:rPr>
              <a:t>(if not approved)</a:t>
            </a:r>
            <a:endParaRPr lang="en-US" sz="1100" dirty="0"/>
          </a:p>
        </p:txBody>
      </p:sp>
      <p:sp>
        <p:nvSpPr>
          <p:cNvPr id="9" name="Shape 7"/>
          <p:cNvSpPr/>
          <p:nvPr/>
        </p:nvSpPr>
        <p:spPr>
          <a:xfrm>
            <a:off x="7772400" y="1463040"/>
            <a:ext cx="1965960" cy="777240"/>
          </a:xfrm>
          <a:prstGeom prst="roundRect">
            <a:avLst>
              <a:gd name="adj" fmla="val 8235"/>
            </a:avLst>
          </a:prstGeom>
          <a:solidFill>
            <a:srgbClr val="FFF6DF"/>
          </a:solidFill>
          <a:ln w="12700">
            <a:solidFill>
              <a:srgbClr val="1E2A45"/>
            </a:solidFill>
            <a:prstDash val="solid"/>
          </a:ln>
        </p:spPr>
      </p:sp>
      <p:sp>
        <p:nvSpPr>
          <p:cNvPr id="10" name="Text 8"/>
          <p:cNvSpPr/>
          <p:nvPr/>
        </p:nvSpPr>
        <p:spPr>
          <a:xfrm>
            <a:off x="7818120" y="1463040"/>
            <a:ext cx="1874520" cy="777240"/>
          </a:xfrm>
          <a:prstGeom prst="rect">
            <a:avLst/>
          </a:prstGeom>
          <a:noFill/>
          <a:ln/>
        </p:spPr>
        <p:txBody>
          <a:bodyPr wrap="square" lIns="0" tIns="0" rIns="0" bIns="0" rtlCol="0" anchor="ctr"/>
          <a:lstStyle/>
          <a:p>
            <a:pPr algn="ctr" indent="0" marL="0">
              <a:buNone/>
            </a:pPr>
            <a:r>
              <a:rPr lang="en-US" sz="1100" b="1" dirty="0">
                <a:solidFill>
                  <a:srgbClr val="7A5310"/>
                </a:solidFill>
                <a:latin typeface="Calibri" pitchFamily="34" charset="0"/>
                <a:ea typeface="Calibri" pitchFamily="34" charset="-122"/>
                <a:cs typeface="Calibri" pitchFamily="34" charset="-120"/>
              </a:rPr>
              <a:t>evaluate again</a:t>
            </a:r>
            <a:endParaRPr lang="en-US" sz="1100" dirty="0"/>
          </a:p>
          <a:p>
            <a:pPr algn="ctr" indent="0" marL="0">
              <a:buNone/>
            </a:pPr>
            <a:r>
              <a:rPr lang="en-US" sz="1100" b="1" dirty="0">
                <a:solidFill>
                  <a:srgbClr val="7A5310"/>
                </a:solidFill>
                <a:latin typeface="Calibri" pitchFamily="34" charset="0"/>
                <a:ea typeface="Calibri" pitchFamily="34" charset="-122"/>
                <a:cs typeface="Calibri" pitchFamily="34" charset="-120"/>
              </a:rPr>
              <a:t>(≤ 2 rounds)</a:t>
            </a:r>
            <a:endParaRPr lang="en-US" sz="1100" dirty="0"/>
          </a:p>
        </p:txBody>
      </p:sp>
      <p:sp>
        <p:nvSpPr>
          <p:cNvPr id="11" name="Shape 9"/>
          <p:cNvSpPr/>
          <p:nvPr/>
        </p:nvSpPr>
        <p:spPr>
          <a:xfrm>
            <a:off x="10177272" y="1463040"/>
            <a:ext cx="1965960" cy="777240"/>
          </a:xfrm>
          <a:prstGeom prst="roundRect">
            <a:avLst>
              <a:gd name="adj" fmla="val 8235"/>
            </a:avLst>
          </a:prstGeom>
          <a:solidFill>
            <a:srgbClr val="FDECEA"/>
          </a:solidFill>
          <a:ln w="12700">
            <a:solidFill>
              <a:srgbClr val="1E2A45"/>
            </a:solidFill>
            <a:prstDash val="solid"/>
          </a:ln>
        </p:spPr>
      </p:sp>
      <p:sp>
        <p:nvSpPr>
          <p:cNvPr id="12" name="Text 10"/>
          <p:cNvSpPr/>
          <p:nvPr/>
        </p:nvSpPr>
        <p:spPr>
          <a:xfrm>
            <a:off x="10222992" y="1463040"/>
            <a:ext cx="1874520" cy="777240"/>
          </a:xfrm>
          <a:prstGeom prst="rect">
            <a:avLst/>
          </a:prstGeom>
          <a:noFill/>
          <a:ln/>
        </p:spPr>
        <p:txBody>
          <a:bodyPr wrap="square" lIns="0" tIns="0" rIns="0" bIns="0" rtlCol="0" anchor="ctr"/>
          <a:lstStyle/>
          <a:p>
            <a:pPr algn="ctr" indent="0" marL="0">
              <a:buNone/>
            </a:pPr>
            <a:r>
              <a:rPr lang="en-US" sz="1100" b="1" dirty="0">
                <a:solidFill>
                  <a:srgbClr val="8E2620"/>
                </a:solidFill>
                <a:latin typeface="Calibri" pitchFamily="34" charset="0"/>
                <a:ea typeface="Calibri" pitchFamily="34" charset="-122"/>
                <a:cs typeface="Calibri" pitchFamily="34" charset="-120"/>
              </a:rPr>
              <a:t>interrupt()</a:t>
            </a:r>
            <a:endParaRPr lang="en-US" sz="1100" dirty="0"/>
          </a:p>
          <a:p>
            <a:pPr algn="ctr" indent="0" marL="0">
              <a:buNone/>
            </a:pPr>
            <a:r>
              <a:rPr lang="en-US" sz="1100" b="1" dirty="0">
                <a:solidFill>
                  <a:srgbClr val="8E2620"/>
                </a:solidFill>
                <a:latin typeface="Calibri" pitchFamily="34" charset="0"/>
                <a:ea typeface="Calibri" pitchFamily="34" charset="-122"/>
                <a:cs typeface="Calibri" pitchFamily="34" charset="-120"/>
              </a:rPr>
              <a:t>human gate</a:t>
            </a:r>
            <a:endParaRPr lang="en-US" sz="1100" dirty="0"/>
          </a:p>
        </p:txBody>
      </p:sp>
      <p:sp>
        <p:nvSpPr>
          <p:cNvPr id="13" name="Shape 11"/>
          <p:cNvSpPr/>
          <p:nvPr/>
        </p:nvSpPr>
        <p:spPr>
          <a:xfrm>
            <a:off x="2514600" y="1828800"/>
            <a:ext cx="365760" cy="0"/>
          </a:xfrm>
          <a:prstGeom prst="line">
            <a:avLst/>
          </a:prstGeom>
          <a:noFill/>
          <a:ln w="22225">
            <a:solidFill>
              <a:srgbClr val="5A6478"/>
            </a:solidFill>
            <a:prstDash val="solid"/>
            <a:tailEnd type="triangle"/>
          </a:ln>
        </p:spPr>
      </p:sp>
      <p:sp>
        <p:nvSpPr>
          <p:cNvPr id="14" name="Shape 12"/>
          <p:cNvSpPr/>
          <p:nvPr/>
        </p:nvSpPr>
        <p:spPr>
          <a:xfrm>
            <a:off x="4937760" y="1828800"/>
            <a:ext cx="365760" cy="0"/>
          </a:xfrm>
          <a:prstGeom prst="line">
            <a:avLst/>
          </a:prstGeom>
          <a:noFill/>
          <a:ln w="22225">
            <a:solidFill>
              <a:srgbClr val="5A6478"/>
            </a:solidFill>
            <a:prstDash val="solid"/>
            <a:tailEnd type="triangle"/>
          </a:ln>
        </p:spPr>
      </p:sp>
      <p:sp>
        <p:nvSpPr>
          <p:cNvPr id="15" name="Shape 13"/>
          <p:cNvSpPr/>
          <p:nvPr/>
        </p:nvSpPr>
        <p:spPr>
          <a:xfrm>
            <a:off x="7360920" y="1828800"/>
            <a:ext cx="365760" cy="0"/>
          </a:xfrm>
          <a:prstGeom prst="line">
            <a:avLst/>
          </a:prstGeom>
          <a:noFill/>
          <a:ln w="22225">
            <a:solidFill>
              <a:srgbClr val="5A6478"/>
            </a:solidFill>
            <a:prstDash val="solid"/>
            <a:tailEnd type="triangle"/>
          </a:ln>
        </p:spPr>
      </p:sp>
      <p:sp>
        <p:nvSpPr>
          <p:cNvPr id="16" name="Shape 14"/>
          <p:cNvSpPr/>
          <p:nvPr/>
        </p:nvSpPr>
        <p:spPr>
          <a:xfrm>
            <a:off x="9784080" y="1828800"/>
            <a:ext cx="365760" cy="0"/>
          </a:xfrm>
          <a:prstGeom prst="line">
            <a:avLst/>
          </a:prstGeom>
          <a:noFill/>
          <a:ln w="22225">
            <a:solidFill>
              <a:srgbClr val="5A6478"/>
            </a:solidFill>
            <a:prstDash val="solid"/>
            <a:tailEnd type="triangle"/>
          </a:ln>
        </p:spPr>
      </p:sp>
      <p:sp>
        <p:nvSpPr>
          <p:cNvPr id="17" name="Text 15"/>
          <p:cNvSpPr/>
          <p:nvPr/>
        </p:nvSpPr>
        <p:spPr>
          <a:xfrm>
            <a:off x="502920" y="2743200"/>
            <a:ext cx="10881360" cy="1737360"/>
          </a:xfrm>
          <a:prstGeom prst="rect">
            <a:avLst/>
          </a:prstGeom>
          <a:noFill/>
          <a:ln/>
        </p:spPr>
        <p:txBody>
          <a:bodyPr wrap="square" lIns="0" tIns="0" rIns="0" bIns="0" rtlCol="0" anchor="t"/>
          <a:lstStyle/>
          <a:p>
            <a:pPr algn="l" marL="127000" indent="-127000">
              <a:spcAft>
                <a:spcPts val="1000"/>
              </a:spcAft>
              <a:buSzPct val="100000"/>
              <a:buChar char="•"/>
            </a:pPr>
            <a:r>
              <a:rPr lang="en-US" sz="1300" dirty="0">
                <a:solidFill>
                  <a:srgbClr val="1A2233"/>
                </a:solidFill>
                <a:latin typeface="Calibri" pitchFamily="34" charset="0"/>
                <a:ea typeface="Calibri" pitchFamily="34" charset="-122"/>
                <a:cs typeface="Calibri" pitchFamily="34" charset="-120"/>
              </a:rPr>
              <a:t>The verdict is a Pydantic object (score / approved / feedback) — approval is read from the field, never sniffed from text. The test plants «معتمدة» inside a rejection's feedback to prove it.</a:t>
            </a:r>
            <a:endParaRPr lang="en-US" sz="1300" dirty="0"/>
          </a:p>
          <a:p>
            <a:pPr algn="l" marL="127000" indent="-127000">
              <a:spcAft>
                <a:spcPts val="1000"/>
              </a:spcAft>
              <a:buSzPct val="100000"/>
              <a:buChar char="•"/>
            </a:pPr>
            <a:r>
              <a:rPr lang="en-US" sz="1300" dirty="0">
                <a:solidFill>
                  <a:srgbClr val="1A2233"/>
                </a:solidFill>
                <a:latin typeface="Calibri" pitchFamily="34" charset="0"/>
                <a:ea typeface="Calibri" pitchFamily="34" charset="-122"/>
                <a:cs typeface="Calibri" pitchFamily="34" charset="-120"/>
              </a:rPr>
              <a:t>The loop always finishes BEFORE the human gate — every draft a human sees has been judged.</a:t>
            </a:r>
            <a:endParaRPr lang="en-US" sz="1300" dirty="0"/>
          </a:p>
          <a:p>
            <a:pPr algn="l" marL="127000" indent="-127000">
              <a:spcAft>
                <a:spcPts val="1000"/>
              </a:spcAft>
              <a:buSzPct val="100000"/>
              <a:buChar char="•"/>
            </a:pPr>
            <a:r>
              <a:rPr lang="en-US" sz="1300" b="1" dirty="0">
                <a:solidFill>
                  <a:srgbClr val="1A2233"/>
                </a:solidFill>
                <a:latin typeface="Calibri" pitchFamily="34" charset="0"/>
                <a:ea typeface="Calibri" pitchFamily="34" charset="-122"/>
                <a:cs typeface="Calibri" pitchFamily="34" charset="-120"/>
              </a:rPr>
              <a:t>What the trace showed: the structured judge is ~7× slower than the writer (21.7s vs 3.3s) — constrained output makes the model plan harder.</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502920" y="292608"/>
            <a:ext cx="11183112" cy="777240"/>
          </a:xfrm>
          <a:prstGeom prst="rect">
            <a:avLst/>
          </a:prstGeom>
          <a:noFill/>
          <a:ln/>
        </p:spPr>
        <p:txBody>
          <a:bodyPr wrap="square" lIns="0" tIns="0" rIns="0" bIns="0" rtlCol="0" anchor="ctr"/>
          <a:lstStyle/>
          <a:p>
            <a:pPr algn="l" indent="0" marL="0">
              <a:buNone/>
            </a:pPr>
            <a:r>
              <a:rPr lang="en-US" sz="2700" b="1" dirty="0">
                <a:solidFill>
                  <a:srgbClr val="1E2A45"/>
                </a:solidFill>
                <a:latin typeface="Arial" pitchFamily="34" charset="0"/>
                <a:ea typeface="Arial" pitchFamily="34" charset="-122"/>
                <a:cs typeface="Arial" pitchFamily="34" charset="-120"/>
              </a:rPr>
              <a:t>Observability: the trap, the verifier, the finding</a:t>
            </a:r>
            <a:endParaRPr lang="en-US" sz="2700" dirty="0"/>
          </a:p>
        </p:txBody>
      </p:sp>
      <p:sp>
        <p:nvSpPr>
          <p:cNvPr id="3" name="Shape 1"/>
          <p:cNvSpPr/>
          <p:nvPr/>
        </p:nvSpPr>
        <p:spPr>
          <a:xfrm>
            <a:off x="502920" y="1188720"/>
            <a:ext cx="11183112" cy="868680"/>
          </a:xfrm>
          <a:prstGeom prst="roundRect">
            <a:avLst>
              <a:gd name="adj" fmla="val 6316"/>
            </a:avLst>
          </a:prstGeom>
          <a:solidFill>
            <a:srgbClr val="FDECEA"/>
          </a:solidFill>
          <a:ln w="12700">
            <a:solidFill>
              <a:srgbClr val="C0392B"/>
            </a:solidFill>
            <a:prstDash val="solid"/>
          </a:ln>
        </p:spPr>
      </p:sp>
      <p:sp>
        <p:nvSpPr>
          <p:cNvPr id="4" name="Text 2"/>
          <p:cNvSpPr/>
          <p:nvPr/>
        </p:nvSpPr>
        <p:spPr>
          <a:xfrm>
            <a:off x="630936" y="1243584"/>
            <a:ext cx="10927080" cy="758952"/>
          </a:xfrm>
          <a:prstGeom prst="rect">
            <a:avLst/>
          </a:prstGeom>
          <a:noFill/>
          <a:ln/>
        </p:spPr>
        <p:txBody>
          <a:bodyPr wrap="square" lIns="0" tIns="0" rIns="0" bIns="0" rtlCol="0" anchor="ctr"/>
          <a:lstStyle/>
          <a:p>
            <a:pPr indent="0" marL="0">
              <a:buNone/>
            </a:pPr>
            <a:r>
              <a:rPr lang="en-US" sz="1300" b="1" dirty="0">
                <a:solidFill>
                  <a:srgbClr val="8E2620"/>
                </a:solidFill>
                <a:latin typeface="Calibri" pitchFamily="34" charset="0"/>
                <a:ea typeface="Calibri" pitchFamily="34" charset="-122"/>
                <a:cs typeface="Calibri" pitchFamily="34" charset="-120"/>
              </a:rPr>
              <a:t>The env var is LANGCHAIN_TRACING_V2 — the lookalike LANGSMITH_TRACING_V2 fails SILENTLY. Our config raises on the wrong name, and a test enforces the raise.</a:t>
            </a:r>
            <a:endParaRPr lang="en-US" sz="1300" dirty="0"/>
          </a:p>
        </p:txBody>
      </p:sp>
      <p:sp>
        <p:nvSpPr>
          <p:cNvPr id="5" name="Text 3"/>
          <p:cNvSpPr/>
          <p:nvPr/>
        </p:nvSpPr>
        <p:spPr>
          <a:xfrm>
            <a:off x="502920" y="2331720"/>
            <a:ext cx="5669280" cy="2377440"/>
          </a:xfrm>
          <a:prstGeom prst="rect">
            <a:avLst/>
          </a:prstGeom>
          <a:noFill/>
          <a:ln/>
        </p:spPr>
        <p:txBody>
          <a:bodyPr wrap="square" lIns="0" tIns="0" rIns="0" bIns="0" rtlCol="0" anchor="t"/>
          <a:lstStyle/>
          <a:p>
            <a:pPr algn="l" marL="127000" indent="-127000">
              <a:spcAft>
                <a:spcPts val="1000"/>
              </a:spcAft>
              <a:buSzPct val="100000"/>
              <a:buChar char="•"/>
            </a:pPr>
            <a:r>
              <a:rPr lang="en-US" sz="1250" dirty="0">
                <a:solidFill>
                  <a:srgbClr val="1A2233"/>
                </a:solidFill>
                <a:latin typeface="Calibri" pitchFamily="34" charset="0"/>
                <a:ea typeface="Calibri" pitchFamily="34" charset="-122"/>
                <a:cs typeface="Calibri" pitchFamily="34" charset="-120"/>
              </a:rPr>
              <a:t>wait_for_recent_run(): polling with a deadline (not a single racy query) — prints id / name / status only.</a:t>
            </a:r>
            <a:endParaRPr lang="en-US" sz="1250" dirty="0"/>
          </a:p>
          <a:p>
            <a:pPr algn="l" marL="127000" indent="-127000">
              <a:spcAft>
                <a:spcPts val="1000"/>
              </a:spcAft>
              <a:buSzPct val="100000"/>
              <a:buChar char="•"/>
            </a:pPr>
            <a:r>
              <a:rPr lang="en-US" sz="1250" dirty="0">
                <a:solidFill>
                  <a:srgbClr val="1A2233"/>
                </a:solidFill>
                <a:latin typeface="Calibri" pitchFamily="34" charset="0"/>
                <a:ea typeface="Calibri" pitchFamily="34" charset="-122"/>
                <a:cs typeface="Calibri" pitchFamily="34" charset="-120"/>
              </a:rPr>
              <a:t>Redaction at the source: the query selects three fields, so message contents never enter memory.</a:t>
            </a:r>
            <a:endParaRPr lang="en-US" sz="1250" dirty="0"/>
          </a:p>
          <a:p>
            <a:pPr algn="l" marL="127000" indent="-127000">
              <a:spcAft>
                <a:spcPts val="1000"/>
              </a:spcAft>
              <a:buSzPct val="100000"/>
              <a:buChar char="•"/>
            </a:pPr>
            <a:r>
              <a:rPr lang="en-US" sz="1250" dirty="0">
                <a:solidFill>
                  <a:srgbClr val="1A2233"/>
                </a:solidFill>
                <a:latin typeface="Calibri" pitchFamily="34" charset="0"/>
                <a:ea typeface="Calibri" pitchFamily="34" charset="-122"/>
                <a:cs typeface="Calibri" pitchFamily="34" charset="-120"/>
              </a:rPr>
              <a:t>Every run in this deck's numbers is queryable in the munassiq-capstone project.</a:t>
            </a:r>
            <a:endParaRPr lang="en-US" sz="1250" dirty="0"/>
          </a:p>
        </p:txBody>
      </p:sp>
      <p:sp>
        <p:nvSpPr>
          <p:cNvPr id="6" name="Text 4"/>
          <p:cNvSpPr/>
          <p:nvPr/>
        </p:nvSpPr>
        <p:spPr>
          <a:xfrm>
            <a:off x="6583680" y="2331720"/>
            <a:ext cx="5029200" cy="365760"/>
          </a:xfrm>
          <a:prstGeom prst="rect">
            <a:avLst/>
          </a:prstGeom>
          <a:noFill/>
          <a:ln/>
        </p:spPr>
        <p:txBody>
          <a:bodyPr wrap="square" lIns="0" tIns="0" rIns="0" bIns="0" rtlCol="0" anchor="ctr"/>
          <a:lstStyle/>
          <a:p>
            <a:pPr indent="0" marL="0">
              <a:buNone/>
            </a:pPr>
            <a:r>
              <a:rPr lang="en-US" sz="1400" b="1" dirty="0">
                <a:solidFill>
                  <a:srgbClr val="1E2A45"/>
                </a:solidFill>
                <a:latin typeface="Arial" pitchFamily="34" charset="0"/>
                <a:ea typeface="Arial" pitchFamily="34" charset="-122"/>
                <a:cs typeface="Arial" pitchFamily="34" charset="-120"/>
              </a:rPr>
              <a:t>What the trace actually showed</a:t>
            </a:r>
            <a:endParaRPr lang="en-US" sz="14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6583680" y="2743200"/>
          <a:ext cx="5074920" cy="914400"/>
        </p:xfrm>
        <a:graphic>
          <a:graphicData uri="http://schemas.openxmlformats.org/drawingml/2006/table">
            <a:tbl>
              <a:tblPr/>
              <a:tblGrid>
                <a:gridCol w="3566160"/>
                <a:gridCol w="1508760"/>
              </a:tblGrid>
              <a:tr h="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node</a:t>
                      </a:r>
                      <a:endParaRPr lang="en-US" sz="1200" dirty="0">
                        <a:latin typeface="Calibri" charset="0"/>
                        <a:ea typeface="Calibri" charset="0"/>
                        <a:cs typeface="Calibri" charset="0"/>
                      </a:endParaRPr>
                    </a:p>
                  </a:txBody>
                  <a:tcPr marL="36576" marR="36576" marT="36576" marB="36576" anchor="ctr">
                    <a:lnL w="9525" cap="flat" cmpd="sng" algn="ctr">
                      <a:solidFill>
                        <a:srgbClr val="D8DEE9"/>
                      </a:solidFill>
                      <a:prstDash val="solid"/>
                      <a:round/>
                      <a:headEnd type="none" w="med" len="med"/>
                      <a:tailEnd type="none" w="med" len="med"/>
                    </a:lnL>
                    <a:lnR w="9525" cap="flat" cmpd="sng" algn="ctr">
                      <a:solidFill>
                        <a:srgbClr val="D8DEE9"/>
                      </a:solidFill>
                      <a:prstDash val="solid"/>
                      <a:round/>
                      <a:headEnd type="none" w="med" len="med"/>
                      <a:tailEnd type="none" w="med" len="med"/>
                    </a:lnR>
                    <a:lnT w="9525" cap="flat" cmpd="sng" algn="ctr">
                      <a:solidFill>
                        <a:srgbClr val="D8DEE9"/>
                      </a:solidFill>
                      <a:prstDash val="solid"/>
                      <a:round/>
                      <a:headEnd type="none" w="med" len="med"/>
                      <a:tailEnd type="none" w="med" len="med"/>
                    </a:lnT>
                    <a:lnB w="9525" cap="flat" cmpd="sng" algn="ctr">
                      <a:solidFill>
                        <a:srgbClr val="D8DEE9"/>
                      </a:solidFill>
                      <a:prstDash val="solid"/>
                      <a:round/>
                      <a:headEnd type="none" w="med" len="med"/>
                      <a:tailEnd type="none" w="med" len="med"/>
                    </a:lnB>
                    <a:solidFill>
                      <a:srgbClr val="1E2A45"/>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took</a:t>
                      </a:r>
                      <a:endParaRPr lang="en-US" sz="1200" dirty="0">
                        <a:latin typeface="Calibri" charset="0"/>
                        <a:ea typeface="Calibri" charset="0"/>
                        <a:cs typeface="Calibri" charset="0"/>
                      </a:endParaRPr>
                    </a:p>
                  </a:txBody>
                  <a:tcPr marL="36576" marR="36576" marT="36576" marB="36576" anchor="ctr">
                    <a:lnL w="9525" cap="flat" cmpd="sng" algn="ctr">
                      <a:solidFill>
                        <a:srgbClr val="D8DEE9"/>
                      </a:solidFill>
                      <a:prstDash val="solid"/>
                      <a:round/>
                      <a:headEnd type="none" w="med" len="med"/>
                      <a:tailEnd type="none" w="med" len="med"/>
                    </a:lnL>
                    <a:lnR w="9525" cap="flat" cmpd="sng" algn="ctr">
                      <a:solidFill>
                        <a:srgbClr val="D8DEE9"/>
                      </a:solidFill>
                      <a:prstDash val="solid"/>
                      <a:round/>
                      <a:headEnd type="none" w="med" len="med"/>
                      <a:tailEnd type="none" w="med" len="med"/>
                    </a:lnR>
                    <a:lnT w="9525" cap="flat" cmpd="sng" algn="ctr">
                      <a:solidFill>
                        <a:srgbClr val="D8DEE9"/>
                      </a:solidFill>
                      <a:prstDash val="solid"/>
                      <a:round/>
                      <a:headEnd type="none" w="med" len="med"/>
                      <a:tailEnd type="none" w="med" len="med"/>
                    </a:lnT>
                    <a:lnB w="9525" cap="flat" cmpd="sng" algn="ctr">
                      <a:solidFill>
                        <a:srgbClr val="D8DEE9"/>
                      </a:solidFill>
                      <a:prstDash val="solid"/>
                      <a:round/>
                      <a:headEnd type="none" w="med" len="med"/>
                      <a:tailEnd type="none" w="med" len="med"/>
                    </a:lnB>
                    <a:solidFill>
                      <a:srgbClr val="1E2A45"/>
                    </a:solidFill>
                  </a:tcPr>
                </a:tc>
              </a:tr>
              <a:tr h="0">
                <a:tc>
                  <a:txBody>
                    <a:bodyPr/>
                    <a:lstStyle/>
                    <a:p>
                      <a:pPr indent="0" marL="0">
                        <a:buNone/>
                      </a:pPr>
                      <a:r>
                        <a:rPr lang="en-US" sz="1100" dirty="0">
                          <a:solidFill>
                            <a:srgbClr val="1A2233"/>
                          </a:solidFill>
                          <a:latin typeface="Calibri" pitchFamily="34" charset="0"/>
                          <a:ea typeface="Calibri" pitchFamily="34" charset="-122"/>
                          <a:cs typeface="Calibri" pitchFamily="34" charset="-120"/>
                        </a:rPr>
                        <a:t>evaluate_draft (max)</a:t>
                      </a:r>
                      <a:endParaRPr lang="en-US" sz="1100" dirty="0">
                        <a:latin typeface="Calibri" charset="0"/>
                        <a:ea typeface="Calibri" charset="0"/>
                        <a:cs typeface="Calibri" charset="0"/>
                      </a:endParaRPr>
                    </a:p>
                  </a:txBody>
                  <a:tcPr marL="36576" marR="36576" marT="36576" marB="36576" anchor="ctr">
                    <a:lnL w="9525" cap="flat" cmpd="sng" algn="ctr">
                      <a:solidFill>
                        <a:srgbClr val="D8DEE9"/>
                      </a:solidFill>
                      <a:prstDash val="solid"/>
                      <a:round/>
                      <a:headEnd type="none" w="med" len="med"/>
                      <a:tailEnd type="none" w="med" len="med"/>
                    </a:lnL>
                    <a:lnR w="9525" cap="flat" cmpd="sng" algn="ctr">
                      <a:solidFill>
                        <a:srgbClr val="D8DEE9"/>
                      </a:solidFill>
                      <a:prstDash val="solid"/>
                      <a:round/>
                      <a:headEnd type="none" w="med" len="med"/>
                      <a:tailEnd type="none" w="med" len="med"/>
                    </a:lnR>
                    <a:lnT w="9525" cap="flat" cmpd="sng" algn="ctr">
                      <a:solidFill>
                        <a:srgbClr val="D8DEE9"/>
                      </a:solidFill>
                      <a:prstDash val="solid"/>
                      <a:round/>
                      <a:headEnd type="none" w="med" len="med"/>
                      <a:tailEnd type="none" w="med" len="med"/>
                    </a:lnT>
                    <a:lnB w="9525" cap="flat" cmpd="sng" algn="ctr">
                      <a:solidFill>
                        <a:srgbClr val="D8DEE9"/>
                      </a:solidFill>
                      <a:prstDash val="solid"/>
                      <a:round/>
                      <a:headEnd type="none" w="med" len="med"/>
                      <a:tailEnd type="none" w="med" len="med"/>
                    </a:lnB>
                    <a:solidFill>
                      <a:srgbClr val="FFFFFF"/>
                    </a:solidFill>
                  </a:tcPr>
                </a:tc>
                <a:tc>
                  <a:txBody>
                    <a:bodyPr/>
                    <a:lstStyle/>
                    <a:p>
                      <a:pPr indent="0" marL="0">
                        <a:buNone/>
                      </a:pPr>
                      <a:r>
                        <a:rPr lang="en-US" sz="1100" dirty="0">
                          <a:solidFill>
                            <a:srgbClr val="1A2233"/>
                          </a:solidFill>
                          <a:latin typeface="Calibri" pitchFamily="34" charset="0"/>
                          <a:ea typeface="Calibri" pitchFamily="34" charset="-122"/>
                          <a:cs typeface="Calibri" pitchFamily="34" charset="-120"/>
                        </a:rPr>
                        <a:t>21.7s</a:t>
                      </a:r>
                      <a:endParaRPr lang="en-US" sz="1100" dirty="0">
                        <a:latin typeface="Calibri" charset="0"/>
                        <a:ea typeface="Calibri" charset="0"/>
                        <a:cs typeface="Calibri" charset="0"/>
                      </a:endParaRPr>
                    </a:p>
                  </a:txBody>
                  <a:tcPr marL="36576" marR="36576" marT="36576" marB="36576" anchor="ctr">
                    <a:lnL w="9525" cap="flat" cmpd="sng" algn="ctr">
                      <a:solidFill>
                        <a:srgbClr val="D8DEE9"/>
                      </a:solidFill>
                      <a:prstDash val="solid"/>
                      <a:round/>
                      <a:headEnd type="none" w="med" len="med"/>
                      <a:tailEnd type="none" w="med" len="med"/>
                    </a:lnL>
                    <a:lnR w="9525" cap="flat" cmpd="sng" algn="ctr">
                      <a:solidFill>
                        <a:srgbClr val="D8DEE9"/>
                      </a:solidFill>
                      <a:prstDash val="solid"/>
                      <a:round/>
                      <a:headEnd type="none" w="med" len="med"/>
                      <a:tailEnd type="none" w="med" len="med"/>
                    </a:lnR>
                    <a:lnT w="9525" cap="flat" cmpd="sng" algn="ctr">
                      <a:solidFill>
                        <a:srgbClr val="D8DEE9"/>
                      </a:solidFill>
                      <a:prstDash val="solid"/>
                      <a:round/>
                      <a:headEnd type="none" w="med" len="med"/>
                      <a:tailEnd type="none" w="med" len="med"/>
                    </a:lnT>
                    <a:lnB w="9525" cap="flat" cmpd="sng" algn="ctr">
                      <a:solidFill>
                        <a:srgbClr val="D8DEE9"/>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A2233"/>
                          </a:solidFill>
                          <a:latin typeface="Calibri" pitchFamily="34" charset="0"/>
                          <a:ea typeface="Calibri" pitchFamily="34" charset="-122"/>
                          <a:cs typeface="Calibri" pitchFamily="34" charset="-120"/>
                        </a:rPr>
                        <a:t>run_tool_with_llm_recovery (2 calls)</a:t>
                      </a:r>
                      <a:endParaRPr lang="en-US" sz="1100" dirty="0">
                        <a:latin typeface="Calibri" charset="0"/>
                        <a:ea typeface="Calibri" charset="0"/>
                        <a:cs typeface="Calibri" charset="0"/>
                      </a:endParaRPr>
                    </a:p>
                  </a:txBody>
                  <a:tcPr marL="36576" marR="36576" marT="36576" marB="36576" anchor="ctr">
                    <a:lnL w="9525" cap="flat" cmpd="sng" algn="ctr">
                      <a:solidFill>
                        <a:srgbClr val="D8DEE9"/>
                      </a:solidFill>
                      <a:prstDash val="solid"/>
                      <a:round/>
                      <a:headEnd type="none" w="med" len="med"/>
                      <a:tailEnd type="none" w="med" len="med"/>
                    </a:lnL>
                    <a:lnR w="9525" cap="flat" cmpd="sng" algn="ctr">
                      <a:solidFill>
                        <a:srgbClr val="D8DEE9"/>
                      </a:solidFill>
                      <a:prstDash val="solid"/>
                      <a:round/>
                      <a:headEnd type="none" w="med" len="med"/>
                      <a:tailEnd type="none" w="med" len="med"/>
                    </a:lnR>
                    <a:lnT w="9525" cap="flat" cmpd="sng" algn="ctr">
                      <a:solidFill>
                        <a:srgbClr val="D8DEE9"/>
                      </a:solidFill>
                      <a:prstDash val="solid"/>
                      <a:round/>
                      <a:headEnd type="none" w="med" len="med"/>
                      <a:tailEnd type="none" w="med" len="med"/>
                    </a:lnT>
                    <a:lnB w="9525" cap="flat" cmpd="sng" algn="ctr">
                      <a:solidFill>
                        <a:srgbClr val="D8DEE9"/>
                      </a:solidFill>
                      <a:prstDash val="solid"/>
                      <a:round/>
                      <a:headEnd type="none" w="med" len="med"/>
                      <a:tailEnd type="none" w="med" len="med"/>
                    </a:lnB>
                    <a:solidFill>
                      <a:srgbClr val="F4F6FA"/>
                    </a:solidFill>
                  </a:tcPr>
                </a:tc>
                <a:tc>
                  <a:txBody>
                    <a:bodyPr/>
                    <a:lstStyle/>
                    <a:p>
                      <a:pPr indent="0" marL="0">
                        <a:buNone/>
                      </a:pPr>
                      <a:r>
                        <a:rPr lang="en-US" sz="1100" dirty="0">
                          <a:solidFill>
                            <a:srgbClr val="1A2233"/>
                          </a:solidFill>
                          <a:latin typeface="Calibri" pitchFamily="34" charset="0"/>
                          <a:ea typeface="Calibri" pitchFamily="34" charset="-122"/>
                          <a:cs typeface="Calibri" pitchFamily="34" charset="-120"/>
                        </a:rPr>
                        <a:t>35.3s</a:t>
                      </a:r>
                      <a:endParaRPr lang="en-US" sz="1100" dirty="0">
                        <a:latin typeface="Calibri" charset="0"/>
                        <a:ea typeface="Calibri" charset="0"/>
                        <a:cs typeface="Calibri" charset="0"/>
                      </a:endParaRPr>
                    </a:p>
                  </a:txBody>
                  <a:tcPr marL="36576" marR="36576" marT="36576" marB="36576" anchor="ctr">
                    <a:lnL w="9525" cap="flat" cmpd="sng" algn="ctr">
                      <a:solidFill>
                        <a:srgbClr val="D8DEE9"/>
                      </a:solidFill>
                      <a:prstDash val="solid"/>
                      <a:round/>
                      <a:headEnd type="none" w="med" len="med"/>
                      <a:tailEnd type="none" w="med" len="med"/>
                    </a:lnL>
                    <a:lnR w="9525" cap="flat" cmpd="sng" algn="ctr">
                      <a:solidFill>
                        <a:srgbClr val="D8DEE9"/>
                      </a:solidFill>
                      <a:prstDash val="solid"/>
                      <a:round/>
                      <a:headEnd type="none" w="med" len="med"/>
                      <a:tailEnd type="none" w="med" len="med"/>
                    </a:lnR>
                    <a:lnT w="9525" cap="flat" cmpd="sng" algn="ctr">
                      <a:solidFill>
                        <a:srgbClr val="D8DEE9"/>
                      </a:solidFill>
                      <a:prstDash val="solid"/>
                      <a:round/>
                      <a:headEnd type="none" w="med" len="med"/>
                      <a:tailEnd type="none" w="med" len="med"/>
                    </a:lnT>
                    <a:lnB w="9525" cap="flat" cmpd="sng" algn="ctr">
                      <a:solidFill>
                        <a:srgbClr val="D8DEE9"/>
                      </a:solidFill>
                      <a:prstDash val="solid"/>
                      <a:round/>
                      <a:headEnd type="none" w="med" len="med"/>
                      <a:tailEnd type="none" w="med" len="med"/>
                    </a:lnB>
                    <a:solidFill>
                      <a:srgbClr val="F4F6FA"/>
                    </a:solidFill>
                  </a:tcPr>
                </a:tc>
              </a:tr>
              <a:tr h="0">
                <a:tc>
                  <a:txBody>
                    <a:bodyPr/>
                    <a:lstStyle/>
                    <a:p>
                      <a:pPr indent="0" marL="0">
                        <a:buNone/>
                      </a:pPr>
                      <a:r>
                        <a:rPr lang="en-US" sz="1100" dirty="0">
                          <a:solidFill>
                            <a:srgbClr val="1A2233"/>
                          </a:solidFill>
                          <a:latin typeface="Calibri" pitchFamily="34" charset="0"/>
                          <a:ea typeface="Calibri" pitchFamily="34" charset="-122"/>
                          <a:cs typeface="Calibri" pitchFamily="34" charset="-120"/>
                        </a:rPr>
                        <a:t>classify_request</a:t>
                      </a:r>
                      <a:endParaRPr lang="en-US" sz="1100" dirty="0">
                        <a:latin typeface="Calibri" charset="0"/>
                        <a:ea typeface="Calibri" charset="0"/>
                        <a:cs typeface="Calibri" charset="0"/>
                      </a:endParaRPr>
                    </a:p>
                  </a:txBody>
                  <a:tcPr marL="36576" marR="36576" marT="36576" marB="36576" anchor="ctr">
                    <a:lnL w="9525" cap="flat" cmpd="sng" algn="ctr">
                      <a:solidFill>
                        <a:srgbClr val="D8DEE9"/>
                      </a:solidFill>
                      <a:prstDash val="solid"/>
                      <a:round/>
                      <a:headEnd type="none" w="med" len="med"/>
                      <a:tailEnd type="none" w="med" len="med"/>
                    </a:lnL>
                    <a:lnR w="9525" cap="flat" cmpd="sng" algn="ctr">
                      <a:solidFill>
                        <a:srgbClr val="D8DEE9"/>
                      </a:solidFill>
                      <a:prstDash val="solid"/>
                      <a:round/>
                      <a:headEnd type="none" w="med" len="med"/>
                      <a:tailEnd type="none" w="med" len="med"/>
                    </a:lnR>
                    <a:lnT w="9525" cap="flat" cmpd="sng" algn="ctr">
                      <a:solidFill>
                        <a:srgbClr val="D8DEE9"/>
                      </a:solidFill>
                      <a:prstDash val="solid"/>
                      <a:round/>
                      <a:headEnd type="none" w="med" len="med"/>
                      <a:tailEnd type="none" w="med" len="med"/>
                    </a:lnT>
                    <a:lnB w="9525" cap="flat" cmpd="sng" algn="ctr">
                      <a:solidFill>
                        <a:srgbClr val="D8DEE9"/>
                      </a:solidFill>
                      <a:prstDash val="solid"/>
                      <a:round/>
                      <a:headEnd type="none" w="med" len="med"/>
                      <a:tailEnd type="none" w="med" len="med"/>
                    </a:lnB>
                    <a:solidFill>
                      <a:srgbClr val="FFFFFF"/>
                    </a:solidFill>
                  </a:tcPr>
                </a:tc>
                <a:tc>
                  <a:txBody>
                    <a:bodyPr/>
                    <a:lstStyle/>
                    <a:p>
                      <a:pPr indent="0" marL="0">
                        <a:buNone/>
                      </a:pPr>
                      <a:r>
                        <a:rPr lang="en-US" sz="1100" dirty="0">
                          <a:solidFill>
                            <a:srgbClr val="1A2233"/>
                          </a:solidFill>
                          <a:latin typeface="Calibri" pitchFamily="34" charset="0"/>
                          <a:ea typeface="Calibri" pitchFamily="34" charset="-122"/>
                          <a:cs typeface="Calibri" pitchFamily="34" charset="-120"/>
                        </a:rPr>
                        <a:t>11.4s</a:t>
                      </a:r>
                      <a:endParaRPr lang="en-US" sz="1100" dirty="0">
                        <a:latin typeface="Calibri" charset="0"/>
                        <a:ea typeface="Calibri" charset="0"/>
                        <a:cs typeface="Calibri" charset="0"/>
                      </a:endParaRPr>
                    </a:p>
                  </a:txBody>
                  <a:tcPr marL="36576" marR="36576" marT="36576" marB="36576" anchor="ctr">
                    <a:lnL w="9525" cap="flat" cmpd="sng" algn="ctr">
                      <a:solidFill>
                        <a:srgbClr val="D8DEE9"/>
                      </a:solidFill>
                      <a:prstDash val="solid"/>
                      <a:round/>
                      <a:headEnd type="none" w="med" len="med"/>
                      <a:tailEnd type="none" w="med" len="med"/>
                    </a:lnL>
                    <a:lnR w="9525" cap="flat" cmpd="sng" algn="ctr">
                      <a:solidFill>
                        <a:srgbClr val="D8DEE9"/>
                      </a:solidFill>
                      <a:prstDash val="solid"/>
                      <a:round/>
                      <a:headEnd type="none" w="med" len="med"/>
                      <a:tailEnd type="none" w="med" len="med"/>
                    </a:lnR>
                    <a:lnT w="9525" cap="flat" cmpd="sng" algn="ctr">
                      <a:solidFill>
                        <a:srgbClr val="D8DEE9"/>
                      </a:solidFill>
                      <a:prstDash val="solid"/>
                      <a:round/>
                      <a:headEnd type="none" w="med" len="med"/>
                      <a:tailEnd type="none" w="med" len="med"/>
                    </a:lnT>
                    <a:lnB w="9525" cap="flat" cmpd="sng" algn="ctr">
                      <a:solidFill>
                        <a:srgbClr val="D8DEE9"/>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A2233"/>
                          </a:solidFill>
                          <a:latin typeface="Calibri" pitchFamily="34" charset="0"/>
                          <a:ea typeface="Calibri" pitchFamily="34" charset="-122"/>
                          <a:cs typeface="Calibri" pitchFamily="34" charset="-120"/>
                        </a:rPr>
                        <a:t>compose_draft</a:t>
                      </a:r>
                      <a:endParaRPr lang="en-US" sz="1100" dirty="0">
                        <a:latin typeface="Calibri" charset="0"/>
                        <a:ea typeface="Calibri" charset="0"/>
                        <a:cs typeface="Calibri" charset="0"/>
                      </a:endParaRPr>
                    </a:p>
                  </a:txBody>
                  <a:tcPr marL="36576" marR="36576" marT="36576" marB="36576" anchor="ctr">
                    <a:lnL w="9525" cap="flat" cmpd="sng" algn="ctr">
                      <a:solidFill>
                        <a:srgbClr val="D8DEE9"/>
                      </a:solidFill>
                      <a:prstDash val="solid"/>
                      <a:round/>
                      <a:headEnd type="none" w="med" len="med"/>
                      <a:tailEnd type="none" w="med" len="med"/>
                    </a:lnL>
                    <a:lnR w="9525" cap="flat" cmpd="sng" algn="ctr">
                      <a:solidFill>
                        <a:srgbClr val="D8DEE9"/>
                      </a:solidFill>
                      <a:prstDash val="solid"/>
                      <a:round/>
                      <a:headEnd type="none" w="med" len="med"/>
                      <a:tailEnd type="none" w="med" len="med"/>
                    </a:lnR>
                    <a:lnT w="9525" cap="flat" cmpd="sng" algn="ctr">
                      <a:solidFill>
                        <a:srgbClr val="D8DEE9"/>
                      </a:solidFill>
                      <a:prstDash val="solid"/>
                      <a:round/>
                      <a:headEnd type="none" w="med" len="med"/>
                      <a:tailEnd type="none" w="med" len="med"/>
                    </a:lnT>
                    <a:lnB w="9525" cap="flat" cmpd="sng" algn="ctr">
                      <a:solidFill>
                        <a:srgbClr val="D8DEE9"/>
                      </a:solidFill>
                      <a:prstDash val="solid"/>
                      <a:round/>
                      <a:headEnd type="none" w="med" len="med"/>
                      <a:tailEnd type="none" w="med" len="med"/>
                    </a:lnB>
                    <a:solidFill>
                      <a:srgbClr val="F4F6FA"/>
                    </a:solidFill>
                  </a:tcPr>
                </a:tc>
                <a:tc>
                  <a:txBody>
                    <a:bodyPr/>
                    <a:lstStyle/>
                    <a:p>
                      <a:pPr indent="0" marL="0">
                        <a:buNone/>
                      </a:pPr>
                      <a:r>
                        <a:rPr lang="en-US" sz="1100" dirty="0">
                          <a:solidFill>
                            <a:srgbClr val="1A2233"/>
                          </a:solidFill>
                          <a:latin typeface="Calibri" pitchFamily="34" charset="0"/>
                          <a:ea typeface="Calibri" pitchFamily="34" charset="-122"/>
                          <a:cs typeface="Calibri" pitchFamily="34" charset="-120"/>
                        </a:rPr>
                        <a:t>3.3s</a:t>
                      </a:r>
                      <a:endParaRPr lang="en-US" sz="1100" dirty="0">
                        <a:latin typeface="Calibri" charset="0"/>
                        <a:ea typeface="Calibri" charset="0"/>
                        <a:cs typeface="Calibri" charset="0"/>
                      </a:endParaRPr>
                    </a:p>
                  </a:txBody>
                  <a:tcPr marL="36576" marR="36576" marT="36576" marB="36576" anchor="ctr">
                    <a:lnL w="9525" cap="flat" cmpd="sng" algn="ctr">
                      <a:solidFill>
                        <a:srgbClr val="D8DEE9"/>
                      </a:solidFill>
                      <a:prstDash val="solid"/>
                      <a:round/>
                      <a:headEnd type="none" w="med" len="med"/>
                      <a:tailEnd type="none" w="med" len="med"/>
                    </a:lnL>
                    <a:lnR w="9525" cap="flat" cmpd="sng" algn="ctr">
                      <a:solidFill>
                        <a:srgbClr val="D8DEE9"/>
                      </a:solidFill>
                      <a:prstDash val="solid"/>
                      <a:round/>
                      <a:headEnd type="none" w="med" len="med"/>
                      <a:tailEnd type="none" w="med" len="med"/>
                    </a:lnR>
                    <a:lnT w="9525" cap="flat" cmpd="sng" algn="ctr">
                      <a:solidFill>
                        <a:srgbClr val="D8DEE9"/>
                      </a:solidFill>
                      <a:prstDash val="solid"/>
                      <a:round/>
                      <a:headEnd type="none" w="med" len="med"/>
                      <a:tailEnd type="none" w="med" len="med"/>
                    </a:lnT>
                    <a:lnB w="9525" cap="flat" cmpd="sng" algn="ctr">
                      <a:solidFill>
                        <a:srgbClr val="D8DEE9"/>
                      </a:solidFill>
                      <a:prstDash val="solid"/>
                      <a:round/>
                      <a:headEnd type="none" w="med" len="med"/>
                      <a:tailEnd type="none" w="med" len="med"/>
                    </a:lnB>
                    <a:solidFill>
                      <a:srgbClr val="F4F6FA"/>
                    </a:solidFill>
                  </a:tcPr>
                </a:tc>
              </a:tr>
            </a:tbl>
          </a:graphicData>
        </a:graphic>
      </p:graphicFrame>
      <p:sp>
        <p:nvSpPr>
          <p:cNvPr id="8" name="Shape 5"/>
          <p:cNvSpPr/>
          <p:nvPr/>
        </p:nvSpPr>
        <p:spPr>
          <a:xfrm>
            <a:off x="502920" y="5623560"/>
            <a:ext cx="11183112" cy="594360"/>
          </a:xfrm>
          <a:prstGeom prst="roundRect">
            <a:avLst>
              <a:gd name="adj" fmla="val 9231"/>
            </a:avLst>
          </a:prstGeom>
          <a:solidFill>
            <a:srgbClr val="E9F6EC"/>
          </a:solidFill>
          <a:ln w="12700">
            <a:solidFill>
              <a:srgbClr val="2E7D32"/>
            </a:solidFill>
            <a:prstDash val="solid"/>
          </a:ln>
        </p:spPr>
      </p:sp>
      <p:sp>
        <p:nvSpPr>
          <p:cNvPr id="9" name="Text 6"/>
          <p:cNvSpPr/>
          <p:nvPr/>
        </p:nvSpPr>
        <p:spPr>
          <a:xfrm>
            <a:off x="630936" y="5678424"/>
            <a:ext cx="10927080" cy="484632"/>
          </a:xfrm>
          <a:prstGeom prst="rect">
            <a:avLst/>
          </a:prstGeom>
          <a:noFill/>
          <a:ln/>
        </p:spPr>
        <p:txBody>
          <a:bodyPr wrap="square" lIns="0" tIns="0" rIns="0" bIns="0" rtlCol="0" anchor="ctr"/>
          <a:lstStyle/>
          <a:p>
            <a:pPr indent="0" marL="0">
              <a:buNone/>
            </a:pPr>
            <a:r>
              <a:rPr lang="en-US" sz="1300" dirty="0">
                <a:solidFill>
                  <a:srgbClr val="1B5E20"/>
                </a:solidFill>
                <a:latin typeface="Calibri" pitchFamily="34" charset="0"/>
                <a:ea typeface="Calibri" pitchFamily="34" charset="-122"/>
                <a:cs typeface="Calibri" pitchFamily="34" charset="-120"/>
              </a:rPr>
              <a:t>Findings, not vibes: the bottleneck is judging, not writing — and the recovery loop's two calls are visible by design.</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E2A45"/>
        </a:solidFill>
      </p:bgPr>
    </p:bg>
    <p:spTree>
      <p:nvGrpSpPr>
        <p:cNvPr id="1" name=""/>
        <p:cNvGrpSpPr/>
        <p:nvPr/>
      </p:nvGrpSpPr>
      <p:grpSpPr>
        <a:xfrm>
          <a:off x="0" y="0"/>
          <a:ext cx="0" cy="0"/>
          <a:chOff x="0" y="0"/>
          <a:chExt cx="0" cy="0"/>
        </a:xfrm>
      </p:grpSpPr>
      <p:sp>
        <p:nvSpPr>
          <p:cNvPr id="2" name="Text 0"/>
          <p:cNvSpPr/>
          <p:nvPr/>
        </p:nvSpPr>
        <p:spPr>
          <a:xfrm>
            <a:off x="822960" y="1051560"/>
            <a:ext cx="4023360" cy="3108960"/>
          </a:xfrm>
          <a:prstGeom prst="rect">
            <a:avLst/>
          </a:prstGeom>
          <a:noFill/>
          <a:ln/>
        </p:spPr>
        <p:txBody>
          <a:bodyPr wrap="square" lIns="0" tIns="0" rIns="0" bIns="0" rtlCol="0" anchor="ctr"/>
          <a:lstStyle/>
          <a:p>
            <a:pPr indent="0" marL="0">
              <a:buNone/>
            </a:pPr>
            <a:r>
              <a:rPr lang="en-US" sz="22000" b="1" dirty="0">
                <a:solidFill>
                  <a:srgbClr val="F2A900"/>
                </a:solidFill>
                <a:latin typeface="Arial" pitchFamily="34" charset="0"/>
                <a:ea typeface="Arial" pitchFamily="34" charset="-122"/>
                <a:cs typeface="Arial" pitchFamily="34" charset="-120"/>
              </a:rPr>
              <a:t>R</a:t>
            </a:r>
            <a:endParaRPr lang="en-US" sz="22000" dirty="0"/>
          </a:p>
        </p:txBody>
      </p:sp>
      <p:sp>
        <p:nvSpPr>
          <p:cNvPr id="3" name="Text 1"/>
          <p:cNvSpPr/>
          <p:nvPr/>
        </p:nvSpPr>
        <p:spPr>
          <a:xfrm>
            <a:off x="914400" y="4206240"/>
            <a:ext cx="7315200" cy="82296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Result</a:t>
            </a:r>
            <a:endParaRPr lang="en-US" sz="4000" dirty="0"/>
          </a:p>
        </p:txBody>
      </p:sp>
      <p:sp>
        <p:nvSpPr>
          <p:cNvPr id="4" name="Text 2"/>
          <p:cNvSpPr/>
          <p:nvPr/>
        </p:nvSpPr>
        <p:spPr>
          <a:xfrm>
            <a:off x="914400" y="5029200"/>
            <a:ext cx="9601200" cy="822960"/>
          </a:xfrm>
          <a:prstGeom prst="rect">
            <a:avLst/>
          </a:prstGeom>
          <a:noFill/>
          <a:ln/>
        </p:spPr>
        <p:txBody>
          <a:bodyPr wrap="square" lIns="0" tIns="0" rIns="0" bIns="0" rtlCol="0" anchor="ctr"/>
          <a:lstStyle/>
          <a:p>
            <a:pPr indent="0" marL="0">
              <a:buNone/>
            </a:pPr>
            <a:r>
              <a:rPr lang="en-US" sz="1600" dirty="0">
                <a:solidFill>
                  <a:srgbClr val="C9D3E8"/>
                </a:solidFill>
                <a:latin typeface="Calibri" pitchFamily="34" charset="0"/>
                <a:ea typeface="Calibri" pitchFamily="34" charset="-122"/>
                <a:cs typeface="Calibri" pitchFamily="34" charset="-120"/>
              </a:rPr>
              <a:t>Verified numbers, and where every one of them comes from.</a:t>
            </a:r>
            <a:endParaRPr lang="en-US" sz="1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502920" y="292608"/>
            <a:ext cx="11183112" cy="777240"/>
          </a:xfrm>
          <a:prstGeom prst="rect">
            <a:avLst/>
          </a:prstGeom>
          <a:noFill/>
          <a:ln/>
        </p:spPr>
        <p:txBody>
          <a:bodyPr wrap="square" lIns="0" tIns="0" rIns="0" bIns="0" rtlCol="0" anchor="ctr"/>
          <a:lstStyle/>
          <a:p>
            <a:pPr algn="l" indent="0" marL="0">
              <a:buNone/>
            </a:pPr>
            <a:r>
              <a:rPr lang="en-US" sz="2700" b="1" dirty="0">
                <a:solidFill>
                  <a:srgbClr val="1E2A45"/>
                </a:solidFill>
                <a:latin typeface="Arial" pitchFamily="34" charset="0"/>
                <a:ea typeface="Arial" pitchFamily="34" charset="-122"/>
                <a:cs typeface="Arial" pitchFamily="34" charset="-120"/>
              </a:rPr>
              <a:t>Verified numbers — every one traced to its source</a:t>
            </a:r>
            <a:endParaRPr lang="en-US" sz="2700" dirty="0"/>
          </a:p>
        </p:txBody>
      </p:sp>
      <p:sp>
        <p:nvSpPr>
          <p:cNvPr id="3" name="Shape 1"/>
          <p:cNvSpPr/>
          <p:nvPr/>
        </p:nvSpPr>
        <p:spPr>
          <a:xfrm>
            <a:off x="502920" y="1188720"/>
            <a:ext cx="2651760" cy="1143000"/>
          </a:xfrm>
          <a:prstGeom prst="roundRect">
            <a:avLst>
              <a:gd name="adj" fmla="val 5600"/>
            </a:avLst>
          </a:prstGeom>
          <a:solidFill>
            <a:srgbClr val="FFFFFF"/>
          </a:solidFill>
          <a:ln w="15875">
            <a:solidFill>
              <a:srgbClr val="1E2A45"/>
            </a:solidFill>
            <a:prstDash val="solid"/>
          </a:ln>
        </p:spPr>
      </p:sp>
      <p:sp>
        <p:nvSpPr>
          <p:cNvPr id="4" name="Text 2"/>
          <p:cNvSpPr/>
          <p:nvPr/>
        </p:nvSpPr>
        <p:spPr>
          <a:xfrm>
            <a:off x="594360" y="1261872"/>
            <a:ext cx="2468880" cy="640080"/>
          </a:xfrm>
          <a:prstGeom prst="rect">
            <a:avLst/>
          </a:prstGeom>
          <a:noFill/>
          <a:ln/>
        </p:spPr>
        <p:txBody>
          <a:bodyPr wrap="square" lIns="0" tIns="0" rIns="0" bIns="0" rtlCol="0" anchor="ctr"/>
          <a:lstStyle/>
          <a:p>
            <a:pPr algn="ctr" indent="0" marL="0">
              <a:buNone/>
            </a:pPr>
            <a:r>
              <a:rPr lang="en-US" sz="3000" b="1" dirty="0">
                <a:solidFill>
                  <a:srgbClr val="1E2A45"/>
                </a:solidFill>
                <a:latin typeface="Arial" pitchFamily="34" charset="0"/>
                <a:ea typeface="Arial" pitchFamily="34" charset="-122"/>
                <a:cs typeface="Arial" pitchFamily="34" charset="-120"/>
              </a:rPr>
              <a:t>40</a:t>
            </a:r>
            <a:endParaRPr lang="en-US" sz="3000" dirty="0"/>
          </a:p>
        </p:txBody>
      </p:sp>
      <p:sp>
        <p:nvSpPr>
          <p:cNvPr id="5" name="Text 3"/>
          <p:cNvSpPr/>
          <p:nvPr/>
        </p:nvSpPr>
        <p:spPr>
          <a:xfrm>
            <a:off x="594360" y="1901952"/>
            <a:ext cx="2468880" cy="384048"/>
          </a:xfrm>
          <a:prstGeom prst="rect">
            <a:avLst/>
          </a:prstGeom>
          <a:noFill/>
          <a:ln/>
        </p:spPr>
        <p:txBody>
          <a:bodyPr wrap="square" lIns="0" tIns="0" rIns="0" bIns="0" rtlCol="0" anchor="ctr"/>
          <a:lstStyle/>
          <a:p>
            <a:pPr algn="ctr" indent="0" marL="0">
              <a:buNone/>
            </a:pPr>
            <a:r>
              <a:rPr lang="en-US" sz="1050" dirty="0">
                <a:solidFill>
                  <a:srgbClr val="5A6478"/>
                </a:solidFill>
                <a:latin typeface="Calibri" pitchFamily="34" charset="0"/>
                <a:ea typeface="Calibri" pitchFamily="34" charset="-122"/>
                <a:cs typeface="Calibri" pitchFamily="34" charset="-120"/>
              </a:rPr>
              <a:t>tests — 31 offline · 9 live (api-marked)</a:t>
            </a:r>
            <a:endParaRPr lang="en-US" sz="1050" dirty="0"/>
          </a:p>
        </p:txBody>
      </p:sp>
      <p:sp>
        <p:nvSpPr>
          <p:cNvPr id="6" name="Shape 4"/>
          <p:cNvSpPr/>
          <p:nvPr/>
        </p:nvSpPr>
        <p:spPr>
          <a:xfrm>
            <a:off x="3337560" y="1188720"/>
            <a:ext cx="2651760" cy="1143000"/>
          </a:xfrm>
          <a:prstGeom prst="roundRect">
            <a:avLst>
              <a:gd name="adj" fmla="val 5600"/>
            </a:avLst>
          </a:prstGeom>
          <a:solidFill>
            <a:srgbClr val="FFFFFF"/>
          </a:solidFill>
          <a:ln w="15875">
            <a:solidFill>
              <a:srgbClr val="1E2A45"/>
            </a:solidFill>
            <a:prstDash val="solid"/>
          </a:ln>
        </p:spPr>
      </p:sp>
      <p:sp>
        <p:nvSpPr>
          <p:cNvPr id="7" name="Text 5"/>
          <p:cNvSpPr/>
          <p:nvPr/>
        </p:nvSpPr>
        <p:spPr>
          <a:xfrm>
            <a:off x="3429000" y="1261872"/>
            <a:ext cx="2468880" cy="640080"/>
          </a:xfrm>
          <a:prstGeom prst="rect">
            <a:avLst/>
          </a:prstGeom>
          <a:noFill/>
          <a:ln/>
        </p:spPr>
        <p:txBody>
          <a:bodyPr wrap="square" lIns="0" tIns="0" rIns="0" bIns="0" rtlCol="0" anchor="ctr"/>
          <a:lstStyle/>
          <a:p>
            <a:pPr algn="ctr" indent="0" marL="0">
              <a:buNone/>
            </a:pPr>
            <a:r>
              <a:rPr lang="en-US" sz="3000" b="1" dirty="0">
                <a:solidFill>
                  <a:srgbClr val="1E2A45"/>
                </a:solidFill>
                <a:latin typeface="Arial" pitchFamily="34" charset="0"/>
                <a:ea typeface="Arial" pitchFamily="34" charset="-122"/>
                <a:cs typeface="Arial" pitchFamily="34" charset="-120"/>
              </a:rPr>
              <a:t>15/15</a:t>
            </a:r>
            <a:endParaRPr lang="en-US" sz="3000" dirty="0"/>
          </a:p>
        </p:txBody>
      </p:sp>
      <p:sp>
        <p:nvSpPr>
          <p:cNvPr id="8" name="Text 6"/>
          <p:cNvSpPr/>
          <p:nvPr/>
        </p:nvSpPr>
        <p:spPr>
          <a:xfrm>
            <a:off x="3429000" y="1901952"/>
            <a:ext cx="2468880" cy="384048"/>
          </a:xfrm>
          <a:prstGeom prst="rect">
            <a:avLst/>
          </a:prstGeom>
          <a:noFill/>
          <a:ln/>
        </p:spPr>
        <p:txBody>
          <a:bodyPr wrap="square" lIns="0" tIns="0" rIns="0" bIns="0" rtlCol="0" anchor="ctr"/>
          <a:lstStyle/>
          <a:p>
            <a:pPr algn="ctr" indent="0" marL="0">
              <a:buNone/>
            </a:pPr>
            <a:r>
              <a:rPr lang="en-US" sz="1050" dirty="0">
                <a:solidFill>
                  <a:srgbClr val="5A6478"/>
                </a:solidFill>
                <a:latin typeface="Calibri" pitchFamily="34" charset="0"/>
                <a:ea typeface="Calibri" pitchFamily="34" charset="-122"/>
                <a:cs typeface="Calibri" pitchFamily="34" charset="-120"/>
              </a:rPr>
              <a:t>notebook cells executed · zero errors</a:t>
            </a:r>
            <a:endParaRPr lang="en-US" sz="1050" dirty="0"/>
          </a:p>
        </p:txBody>
      </p:sp>
      <p:sp>
        <p:nvSpPr>
          <p:cNvPr id="9" name="Shape 7"/>
          <p:cNvSpPr/>
          <p:nvPr/>
        </p:nvSpPr>
        <p:spPr>
          <a:xfrm>
            <a:off x="6172200" y="1188720"/>
            <a:ext cx="2651760" cy="1143000"/>
          </a:xfrm>
          <a:prstGeom prst="roundRect">
            <a:avLst>
              <a:gd name="adj" fmla="val 5600"/>
            </a:avLst>
          </a:prstGeom>
          <a:solidFill>
            <a:srgbClr val="FFFFFF"/>
          </a:solidFill>
          <a:ln w="15875">
            <a:solidFill>
              <a:srgbClr val="1E2A45"/>
            </a:solidFill>
            <a:prstDash val="solid"/>
          </a:ln>
        </p:spPr>
      </p:sp>
      <p:sp>
        <p:nvSpPr>
          <p:cNvPr id="10" name="Text 8"/>
          <p:cNvSpPr/>
          <p:nvPr/>
        </p:nvSpPr>
        <p:spPr>
          <a:xfrm>
            <a:off x="6263640" y="1261872"/>
            <a:ext cx="2468880" cy="640080"/>
          </a:xfrm>
          <a:prstGeom prst="rect">
            <a:avLst/>
          </a:prstGeom>
          <a:noFill/>
          <a:ln/>
        </p:spPr>
        <p:txBody>
          <a:bodyPr wrap="square" lIns="0" tIns="0" rIns="0" bIns="0" rtlCol="0" anchor="ctr"/>
          <a:lstStyle/>
          <a:p>
            <a:pPr algn="ctr" indent="0" marL="0">
              <a:buNone/>
            </a:pPr>
            <a:r>
              <a:rPr lang="en-US" sz="3000" b="1" dirty="0">
                <a:solidFill>
                  <a:srgbClr val="1E2A45"/>
                </a:solidFill>
                <a:latin typeface="Arial" pitchFamily="34" charset="0"/>
                <a:ea typeface="Arial" pitchFamily="34" charset="-122"/>
                <a:cs typeface="Arial" pitchFamily="34" charset="-120"/>
              </a:rPr>
              <a:t>14</a:t>
            </a:r>
            <a:endParaRPr lang="en-US" sz="3000" dirty="0"/>
          </a:p>
        </p:txBody>
      </p:sp>
      <p:sp>
        <p:nvSpPr>
          <p:cNvPr id="11" name="Text 9"/>
          <p:cNvSpPr/>
          <p:nvPr/>
        </p:nvSpPr>
        <p:spPr>
          <a:xfrm>
            <a:off x="6263640" y="1901952"/>
            <a:ext cx="2468880" cy="384048"/>
          </a:xfrm>
          <a:prstGeom prst="rect">
            <a:avLst/>
          </a:prstGeom>
          <a:noFill/>
          <a:ln/>
        </p:spPr>
        <p:txBody>
          <a:bodyPr wrap="square" lIns="0" tIns="0" rIns="0" bIns="0" rtlCol="0" anchor="ctr"/>
          <a:lstStyle/>
          <a:p>
            <a:pPr algn="ctr" indent="0" marL="0">
              <a:buNone/>
            </a:pPr>
            <a:r>
              <a:rPr lang="en-US" sz="1050" dirty="0">
                <a:solidFill>
                  <a:srgbClr val="5A6478"/>
                </a:solidFill>
                <a:latin typeface="Calibri" pitchFamily="34" charset="0"/>
                <a:ea typeface="Calibri" pitchFamily="34" charset="-122"/>
                <a:cs typeface="Calibri" pitchFamily="34" charset="-120"/>
              </a:rPr>
              <a:t>closure suite passed (integration+reliability+tracing+supervisor)</a:t>
            </a:r>
            <a:endParaRPr lang="en-US" sz="1050" dirty="0"/>
          </a:p>
        </p:txBody>
      </p:sp>
      <p:sp>
        <p:nvSpPr>
          <p:cNvPr id="12" name="Shape 10"/>
          <p:cNvSpPr/>
          <p:nvPr/>
        </p:nvSpPr>
        <p:spPr>
          <a:xfrm>
            <a:off x="9006840" y="1188720"/>
            <a:ext cx="2651760" cy="1143000"/>
          </a:xfrm>
          <a:prstGeom prst="roundRect">
            <a:avLst>
              <a:gd name="adj" fmla="val 5600"/>
            </a:avLst>
          </a:prstGeom>
          <a:solidFill>
            <a:srgbClr val="FFFFFF"/>
          </a:solidFill>
          <a:ln w="15875">
            <a:solidFill>
              <a:srgbClr val="1E2A45"/>
            </a:solidFill>
            <a:prstDash val="solid"/>
          </a:ln>
        </p:spPr>
      </p:sp>
      <p:sp>
        <p:nvSpPr>
          <p:cNvPr id="13" name="Text 11"/>
          <p:cNvSpPr/>
          <p:nvPr/>
        </p:nvSpPr>
        <p:spPr>
          <a:xfrm>
            <a:off x="9098280" y="1261872"/>
            <a:ext cx="2468880" cy="640080"/>
          </a:xfrm>
          <a:prstGeom prst="rect">
            <a:avLst/>
          </a:prstGeom>
          <a:noFill/>
          <a:ln/>
        </p:spPr>
        <p:txBody>
          <a:bodyPr wrap="square" lIns="0" tIns="0" rIns="0" bIns="0" rtlCol="0" anchor="ctr"/>
          <a:lstStyle/>
          <a:p>
            <a:pPr algn="ctr" indent="0" marL="0">
              <a:buNone/>
            </a:pPr>
            <a:r>
              <a:rPr lang="en-US" sz="3000" b="1" dirty="0">
                <a:solidFill>
                  <a:srgbClr val="1E2A45"/>
                </a:solidFill>
                <a:latin typeface="Arial" pitchFamily="34" charset="0"/>
                <a:ea typeface="Arial" pitchFamily="34" charset="-122"/>
                <a:cs typeface="Arial" pitchFamily="34" charset="-120"/>
              </a:rPr>
              <a:t>~$0</a:t>
            </a:r>
            <a:endParaRPr lang="en-US" sz="3000" dirty="0"/>
          </a:p>
        </p:txBody>
      </p:sp>
      <p:sp>
        <p:nvSpPr>
          <p:cNvPr id="14" name="Text 12"/>
          <p:cNvSpPr/>
          <p:nvPr/>
        </p:nvSpPr>
        <p:spPr>
          <a:xfrm>
            <a:off x="9098280" y="1901952"/>
            <a:ext cx="2468880" cy="384048"/>
          </a:xfrm>
          <a:prstGeom prst="rect">
            <a:avLst/>
          </a:prstGeom>
          <a:noFill/>
          <a:ln/>
        </p:spPr>
        <p:txBody>
          <a:bodyPr wrap="square" lIns="0" tIns="0" rIns="0" bIns="0" rtlCol="0" anchor="ctr"/>
          <a:lstStyle/>
          <a:p>
            <a:pPr algn="ctr" indent="0" marL="0">
              <a:buNone/>
            </a:pPr>
            <a:r>
              <a:rPr lang="en-US" sz="1050" dirty="0">
                <a:solidFill>
                  <a:srgbClr val="5A6478"/>
                </a:solidFill>
                <a:latin typeface="Calibri" pitchFamily="34" charset="0"/>
                <a:ea typeface="Calibri" pitchFamily="34" charset="-122"/>
                <a:cs typeface="Calibri" pitchFamily="34" charset="-120"/>
              </a:rPr>
              <a:t>total model cost (free tiers + cents on fallback)</a:t>
            </a:r>
            <a:endParaRPr lang="en-US" sz="10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02920" y="2743200"/>
          <a:ext cx="11183112" cy="914400"/>
        </p:xfrm>
        <a:graphic>
          <a:graphicData uri="http://schemas.openxmlformats.org/drawingml/2006/table">
            <a:tbl>
              <a:tblPr/>
              <a:tblGrid>
                <a:gridCol w="5577840"/>
                <a:gridCol w="5577840"/>
              </a:tblGrid>
              <a:tr h="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Claim</a:t>
                      </a:r>
                      <a:endParaRPr lang="en-US" sz="1200" dirty="0">
                        <a:latin typeface="Calibri" charset="0"/>
                        <a:ea typeface="Calibri" charset="0"/>
                        <a:cs typeface="Calibri" charset="0"/>
                      </a:endParaRPr>
                    </a:p>
                  </a:txBody>
                  <a:tcPr marL="36576" marR="36576" marT="36576" marB="36576" anchor="ctr">
                    <a:lnL w="9525" cap="flat" cmpd="sng" algn="ctr">
                      <a:solidFill>
                        <a:srgbClr val="D8DEE9"/>
                      </a:solidFill>
                      <a:prstDash val="solid"/>
                      <a:round/>
                      <a:headEnd type="none" w="med" len="med"/>
                      <a:tailEnd type="none" w="med" len="med"/>
                    </a:lnL>
                    <a:lnR w="9525" cap="flat" cmpd="sng" algn="ctr">
                      <a:solidFill>
                        <a:srgbClr val="D8DEE9"/>
                      </a:solidFill>
                      <a:prstDash val="solid"/>
                      <a:round/>
                      <a:headEnd type="none" w="med" len="med"/>
                      <a:tailEnd type="none" w="med" len="med"/>
                    </a:lnR>
                    <a:lnT w="9525" cap="flat" cmpd="sng" algn="ctr">
                      <a:solidFill>
                        <a:srgbClr val="D8DEE9"/>
                      </a:solidFill>
                      <a:prstDash val="solid"/>
                      <a:round/>
                      <a:headEnd type="none" w="med" len="med"/>
                      <a:tailEnd type="none" w="med" len="med"/>
                    </a:lnT>
                    <a:lnB w="9525" cap="flat" cmpd="sng" algn="ctr">
                      <a:solidFill>
                        <a:srgbClr val="D8DEE9"/>
                      </a:solidFill>
                      <a:prstDash val="solid"/>
                      <a:round/>
                      <a:headEnd type="none" w="med" len="med"/>
                      <a:tailEnd type="none" w="med" len="med"/>
                    </a:lnB>
                    <a:solidFill>
                      <a:srgbClr val="1E2A45"/>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Verified by</a:t>
                      </a:r>
                      <a:endParaRPr lang="en-US" sz="1200" dirty="0">
                        <a:latin typeface="Calibri" charset="0"/>
                        <a:ea typeface="Calibri" charset="0"/>
                        <a:cs typeface="Calibri" charset="0"/>
                      </a:endParaRPr>
                    </a:p>
                  </a:txBody>
                  <a:tcPr marL="36576" marR="36576" marT="36576" marB="36576" anchor="ctr">
                    <a:lnL w="9525" cap="flat" cmpd="sng" algn="ctr">
                      <a:solidFill>
                        <a:srgbClr val="D8DEE9"/>
                      </a:solidFill>
                      <a:prstDash val="solid"/>
                      <a:round/>
                      <a:headEnd type="none" w="med" len="med"/>
                      <a:tailEnd type="none" w="med" len="med"/>
                    </a:lnL>
                    <a:lnR w="9525" cap="flat" cmpd="sng" algn="ctr">
                      <a:solidFill>
                        <a:srgbClr val="D8DEE9"/>
                      </a:solidFill>
                      <a:prstDash val="solid"/>
                      <a:round/>
                      <a:headEnd type="none" w="med" len="med"/>
                      <a:tailEnd type="none" w="med" len="med"/>
                    </a:lnR>
                    <a:lnT w="9525" cap="flat" cmpd="sng" algn="ctr">
                      <a:solidFill>
                        <a:srgbClr val="D8DEE9"/>
                      </a:solidFill>
                      <a:prstDash val="solid"/>
                      <a:round/>
                      <a:headEnd type="none" w="med" len="med"/>
                      <a:tailEnd type="none" w="med" len="med"/>
                    </a:lnT>
                    <a:lnB w="9525" cap="flat" cmpd="sng" algn="ctr">
                      <a:solidFill>
                        <a:srgbClr val="D8DEE9"/>
                      </a:solidFill>
                      <a:prstDash val="solid"/>
                      <a:round/>
                      <a:headEnd type="none" w="med" len="med"/>
                      <a:tailEnd type="none" w="med" len="med"/>
                    </a:lnB>
                    <a:solidFill>
                      <a:srgbClr val="1E2A45"/>
                    </a:solidFill>
                  </a:tcPr>
                </a:tc>
              </a:tr>
              <a:tr h="0">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Integration test green — without its xfail marker</a:t>
                      </a:r>
                      <a:endParaRPr lang="en-US" sz="1150" dirty="0">
                        <a:latin typeface="Calibri" charset="0"/>
                        <a:ea typeface="Calibri" charset="0"/>
                        <a:cs typeface="Calibri" charset="0"/>
                      </a:endParaRPr>
                    </a:p>
                  </a:txBody>
                  <a:tcPr marL="36576" marR="36576" marT="36576" marB="36576" anchor="ctr">
                    <a:lnL w="9525" cap="flat" cmpd="sng" algn="ctr">
                      <a:solidFill>
                        <a:srgbClr val="D8DEE9"/>
                      </a:solidFill>
                      <a:prstDash val="solid"/>
                      <a:round/>
                      <a:headEnd type="none" w="med" len="med"/>
                      <a:tailEnd type="none" w="med" len="med"/>
                    </a:lnL>
                    <a:lnR w="9525" cap="flat" cmpd="sng" algn="ctr">
                      <a:solidFill>
                        <a:srgbClr val="D8DEE9"/>
                      </a:solidFill>
                      <a:prstDash val="solid"/>
                      <a:round/>
                      <a:headEnd type="none" w="med" len="med"/>
                      <a:tailEnd type="none" w="med" len="med"/>
                    </a:lnR>
                    <a:lnT w="9525" cap="flat" cmpd="sng" algn="ctr">
                      <a:solidFill>
                        <a:srgbClr val="D8DEE9"/>
                      </a:solidFill>
                      <a:prstDash val="solid"/>
                      <a:round/>
                      <a:headEnd type="none" w="med" len="med"/>
                      <a:tailEnd type="none" w="med" len="med"/>
                    </a:lnT>
                    <a:lnB w="9525" cap="flat" cmpd="sng" algn="ctr">
                      <a:solidFill>
                        <a:srgbClr val="D8DEE9"/>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closure-run.log (sanitized, committed) · 241s live run</a:t>
                      </a:r>
                      <a:endParaRPr lang="en-US" sz="1150" dirty="0">
                        <a:latin typeface="Calibri" charset="0"/>
                        <a:ea typeface="Calibri" charset="0"/>
                        <a:cs typeface="Calibri" charset="0"/>
                      </a:endParaRPr>
                    </a:p>
                  </a:txBody>
                  <a:tcPr marL="36576" marR="36576" marT="36576" marB="36576" anchor="ctr">
                    <a:lnL w="9525" cap="flat" cmpd="sng" algn="ctr">
                      <a:solidFill>
                        <a:srgbClr val="D8DEE9"/>
                      </a:solidFill>
                      <a:prstDash val="solid"/>
                      <a:round/>
                      <a:headEnd type="none" w="med" len="med"/>
                      <a:tailEnd type="none" w="med" len="med"/>
                    </a:lnL>
                    <a:lnR w="9525" cap="flat" cmpd="sng" algn="ctr">
                      <a:solidFill>
                        <a:srgbClr val="D8DEE9"/>
                      </a:solidFill>
                      <a:prstDash val="solid"/>
                      <a:round/>
                      <a:headEnd type="none" w="med" len="med"/>
                      <a:tailEnd type="none" w="med" len="med"/>
                    </a:lnR>
                    <a:lnT w="9525" cap="flat" cmpd="sng" algn="ctr">
                      <a:solidFill>
                        <a:srgbClr val="D8DEE9"/>
                      </a:solidFill>
                      <a:prstDash val="solid"/>
                      <a:round/>
                      <a:headEnd type="none" w="med" len="med"/>
                      <a:tailEnd type="none" w="med" len="med"/>
                    </a:lnT>
                    <a:lnB w="9525" cap="flat" cmpd="sng" algn="ctr">
                      <a:solidFill>
                        <a:srgbClr val="D8DEE9"/>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Cross-thread long-term memory</a:t>
                      </a:r>
                      <a:endParaRPr lang="en-US" sz="1150" dirty="0">
                        <a:latin typeface="Calibri" charset="0"/>
                        <a:ea typeface="Calibri" charset="0"/>
                        <a:cs typeface="Calibri" charset="0"/>
                      </a:endParaRPr>
                    </a:p>
                  </a:txBody>
                  <a:tcPr marL="36576" marR="36576" marT="36576" marB="36576" anchor="ctr">
                    <a:lnL w="9525" cap="flat" cmpd="sng" algn="ctr">
                      <a:solidFill>
                        <a:srgbClr val="D8DEE9"/>
                      </a:solidFill>
                      <a:prstDash val="solid"/>
                      <a:round/>
                      <a:headEnd type="none" w="med" len="med"/>
                      <a:tailEnd type="none" w="med" len="med"/>
                    </a:lnL>
                    <a:lnR w="9525" cap="flat" cmpd="sng" algn="ctr">
                      <a:solidFill>
                        <a:srgbClr val="D8DEE9"/>
                      </a:solidFill>
                      <a:prstDash val="solid"/>
                      <a:round/>
                      <a:headEnd type="none" w="med" len="med"/>
                      <a:tailEnd type="none" w="med" len="med"/>
                    </a:lnR>
                    <a:lnT w="9525" cap="flat" cmpd="sng" algn="ctr">
                      <a:solidFill>
                        <a:srgbClr val="D8DEE9"/>
                      </a:solidFill>
                      <a:prstDash val="solid"/>
                      <a:round/>
                      <a:headEnd type="none" w="med" len="med"/>
                      <a:tailEnd type="none" w="med" len="med"/>
                    </a:lnT>
                    <a:lnB w="9525" cap="flat" cmpd="sng" algn="ctr">
                      <a:solidFill>
                        <a:srgbClr val="D8DEE9"/>
                      </a:solidFill>
                      <a:prstDash val="solid"/>
                      <a:round/>
                      <a:headEnd type="none" w="med" len="med"/>
                      <a:tailEnd type="none" w="med" len="med"/>
                    </a:lnB>
                    <a:solidFill>
                      <a:srgbClr val="F4F6FA"/>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test_memory.py::test_cross_thread_store + the LangSmith trace</a:t>
                      </a:r>
                      <a:endParaRPr lang="en-US" sz="1150" dirty="0">
                        <a:latin typeface="Calibri" charset="0"/>
                        <a:ea typeface="Calibri" charset="0"/>
                        <a:cs typeface="Calibri" charset="0"/>
                      </a:endParaRPr>
                    </a:p>
                  </a:txBody>
                  <a:tcPr marL="36576" marR="36576" marT="36576" marB="36576" anchor="ctr">
                    <a:lnL w="9525" cap="flat" cmpd="sng" algn="ctr">
                      <a:solidFill>
                        <a:srgbClr val="D8DEE9"/>
                      </a:solidFill>
                      <a:prstDash val="solid"/>
                      <a:round/>
                      <a:headEnd type="none" w="med" len="med"/>
                      <a:tailEnd type="none" w="med" len="med"/>
                    </a:lnL>
                    <a:lnR w="9525" cap="flat" cmpd="sng" algn="ctr">
                      <a:solidFill>
                        <a:srgbClr val="D8DEE9"/>
                      </a:solidFill>
                      <a:prstDash val="solid"/>
                      <a:round/>
                      <a:headEnd type="none" w="med" len="med"/>
                      <a:tailEnd type="none" w="med" len="med"/>
                    </a:lnR>
                    <a:lnT w="9525" cap="flat" cmpd="sng" algn="ctr">
                      <a:solidFill>
                        <a:srgbClr val="D8DEE9"/>
                      </a:solidFill>
                      <a:prstDash val="solid"/>
                      <a:round/>
                      <a:headEnd type="none" w="med" len="med"/>
                      <a:tailEnd type="none" w="med" len="med"/>
                    </a:lnT>
                    <a:lnB w="9525" cap="flat" cmpd="sng" algn="ctr">
                      <a:solidFill>
                        <a:srgbClr val="D8DEE9"/>
                      </a:solidFill>
                      <a:prstDash val="solid"/>
                      <a:round/>
                      <a:headEnd type="none" w="med" len="med"/>
                      <a:tailEnd type="none" w="med" len="med"/>
                    </a:lnB>
                    <a:solidFill>
                      <a:srgbClr val="F4F6FA"/>
                    </a:solidFill>
                  </a:tcPr>
                </a:tc>
              </a:tr>
              <a:tr h="0">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Human's resume text lands verbatim in the outbox</a:t>
                      </a:r>
                      <a:endParaRPr lang="en-US" sz="1150" dirty="0">
                        <a:latin typeface="Calibri" charset="0"/>
                        <a:ea typeface="Calibri" charset="0"/>
                        <a:cs typeface="Calibri" charset="0"/>
                      </a:endParaRPr>
                    </a:p>
                  </a:txBody>
                  <a:tcPr marL="36576" marR="36576" marT="36576" marB="36576" anchor="ctr">
                    <a:lnL w="9525" cap="flat" cmpd="sng" algn="ctr">
                      <a:solidFill>
                        <a:srgbClr val="D8DEE9"/>
                      </a:solidFill>
                      <a:prstDash val="solid"/>
                      <a:round/>
                      <a:headEnd type="none" w="med" len="med"/>
                      <a:tailEnd type="none" w="med" len="med"/>
                    </a:lnL>
                    <a:lnR w="9525" cap="flat" cmpd="sng" algn="ctr">
                      <a:solidFill>
                        <a:srgbClr val="D8DEE9"/>
                      </a:solidFill>
                      <a:prstDash val="solid"/>
                      <a:round/>
                      <a:headEnd type="none" w="med" len="med"/>
                      <a:tailEnd type="none" w="med" len="med"/>
                    </a:lnR>
                    <a:lnT w="9525" cap="flat" cmpd="sng" algn="ctr">
                      <a:solidFill>
                        <a:srgbClr val="D8DEE9"/>
                      </a:solidFill>
                      <a:prstDash val="solid"/>
                      <a:round/>
                      <a:headEnd type="none" w="med" len="med"/>
                      <a:tailEnd type="none" w="med" len="med"/>
                    </a:lnT>
                    <a:lnB w="9525" cap="flat" cmpd="sng" algn="ctr">
                      <a:solidFill>
                        <a:srgbClr val="D8DEE9"/>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test_hitl.py — byte equality on the outbox file</a:t>
                      </a:r>
                      <a:endParaRPr lang="en-US" sz="1150" dirty="0">
                        <a:latin typeface="Calibri" charset="0"/>
                        <a:ea typeface="Calibri" charset="0"/>
                        <a:cs typeface="Calibri" charset="0"/>
                      </a:endParaRPr>
                    </a:p>
                  </a:txBody>
                  <a:tcPr marL="36576" marR="36576" marT="36576" marB="36576" anchor="ctr">
                    <a:lnL w="9525" cap="flat" cmpd="sng" algn="ctr">
                      <a:solidFill>
                        <a:srgbClr val="D8DEE9"/>
                      </a:solidFill>
                      <a:prstDash val="solid"/>
                      <a:round/>
                      <a:headEnd type="none" w="med" len="med"/>
                      <a:tailEnd type="none" w="med" len="med"/>
                    </a:lnL>
                    <a:lnR w="9525" cap="flat" cmpd="sng" algn="ctr">
                      <a:solidFill>
                        <a:srgbClr val="D8DEE9"/>
                      </a:solidFill>
                      <a:prstDash val="solid"/>
                      <a:round/>
                      <a:headEnd type="none" w="med" len="med"/>
                      <a:tailEnd type="none" w="med" len="med"/>
                    </a:lnR>
                    <a:lnT w="9525" cap="flat" cmpd="sng" algn="ctr">
                      <a:solidFill>
                        <a:srgbClr val="D8DEE9"/>
                      </a:solidFill>
                      <a:prstDash val="solid"/>
                      <a:round/>
                      <a:headEnd type="none" w="med" len="med"/>
                      <a:tailEnd type="none" w="med" len="med"/>
                    </a:lnT>
                    <a:lnB w="9525" cap="flat" cmpd="sng" algn="ctr">
                      <a:solidFill>
                        <a:srgbClr val="D8DEE9"/>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Both interrupt halves captured with outputs</a:t>
                      </a:r>
                      <a:endParaRPr lang="en-US" sz="1150" dirty="0">
                        <a:latin typeface="Calibri" charset="0"/>
                        <a:ea typeface="Calibri" charset="0"/>
                        <a:cs typeface="Calibri" charset="0"/>
                      </a:endParaRPr>
                    </a:p>
                  </a:txBody>
                  <a:tcPr marL="36576" marR="36576" marT="36576" marB="36576" anchor="ctr">
                    <a:lnL w="9525" cap="flat" cmpd="sng" algn="ctr">
                      <a:solidFill>
                        <a:srgbClr val="D8DEE9"/>
                      </a:solidFill>
                      <a:prstDash val="solid"/>
                      <a:round/>
                      <a:headEnd type="none" w="med" len="med"/>
                      <a:tailEnd type="none" w="med" len="med"/>
                    </a:lnL>
                    <a:lnR w="9525" cap="flat" cmpd="sng" algn="ctr">
                      <a:solidFill>
                        <a:srgbClr val="D8DEE9"/>
                      </a:solidFill>
                      <a:prstDash val="solid"/>
                      <a:round/>
                      <a:headEnd type="none" w="med" len="med"/>
                      <a:tailEnd type="none" w="med" len="med"/>
                    </a:lnR>
                    <a:lnT w="9525" cap="flat" cmpd="sng" algn="ctr">
                      <a:solidFill>
                        <a:srgbClr val="D8DEE9"/>
                      </a:solidFill>
                      <a:prstDash val="solid"/>
                      <a:round/>
                      <a:headEnd type="none" w="med" len="med"/>
                      <a:tailEnd type="none" w="med" len="med"/>
                    </a:lnT>
                    <a:lnB w="9525" cap="flat" cmpd="sng" algn="ctr">
                      <a:solidFill>
                        <a:srgbClr val="D8DEE9"/>
                      </a:solidFill>
                      <a:prstDash val="solid"/>
                      <a:round/>
                      <a:headEnd type="none" w="med" len="med"/>
                      <a:tailEnd type="none" w="med" len="med"/>
                    </a:lnB>
                    <a:solidFill>
                      <a:srgbClr val="F4F6FA"/>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notebook §5 — two cells, two outputs</a:t>
                      </a:r>
                      <a:endParaRPr lang="en-US" sz="1150" dirty="0">
                        <a:latin typeface="Calibri" charset="0"/>
                        <a:ea typeface="Calibri" charset="0"/>
                        <a:cs typeface="Calibri" charset="0"/>
                      </a:endParaRPr>
                    </a:p>
                  </a:txBody>
                  <a:tcPr marL="36576" marR="36576" marT="36576" marB="36576" anchor="ctr">
                    <a:lnL w="9525" cap="flat" cmpd="sng" algn="ctr">
                      <a:solidFill>
                        <a:srgbClr val="D8DEE9"/>
                      </a:solidFill>
                      <a:prstDash val="solid"/>
                      <a:round/>
                      <a:headEnd type="none" w="med" len="med"/>
                      <a:tailEnd type="none" w="med" len="med"/>
                    </a:lnL>
                    <a:lnR w="9525" cap="flat" cmpd="sng" algn="ctr">
                      <a:solidFill>
                        <a:srgbClr val="D8DEE9"/>
                      </a:solidFill>
                      <a:prstDash val="solid"/>
                      <a:round/>
                      <a:headEnd type="none" w="med" len="med"/>
                      <a:tailEnd type="none" w="med" len="med"/>
                    </a:lnR>
                    <a:lnT w="9525" cap="flat" cmpd="sng" algn="ctr">
                      <a:solidFill>
                        <a:srgbClr val="D8DEE9"/>
                      </a:solidFill>
                      <a:prstDash val="solid"/>
                      <a:round/>
                      <a:headEnd type="none" w="med" len="med"/>
                      <a:tailEnd type="none" w="med" len="med"/>
                    </a:lnT>
                    <a:lnB w="9525" cap="flat" cmpd="sng" algn="ctr">
                      <a:solidFill>
                        <a:srgbClr val="D8DEE9"/>
                      </a:solidFill>
                      <a:prstDash val="solid"/>
                      <a:round/>
                      <a:headEnd type="none" w="med" len="med"/>
                      <a:tailEnd type="none" w="med" len="med"/>
                    </a:lnB>
                    <a:solidFill>
                      <a:srgbClr val="F4F6FA"/>
                    </a:solidFill>
                  </a:tcPr>
                </a:tc>
              </a:tr>
              <a:tr h="0">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No secret / absolute path / identity in the repo</a:t>
                      </a:r>
                      <a:endParaRPr lang="en-US" sz="1150" dirty="0">
                        <a:latin typeface="Calibri" charset="0"/>
                        <a:ea typeface="Calibri" charset="0"/>
                        <a:cs typeface="Calibri" charset="0"/>
                      </a:endParaRPr>
                    </a:p>
                  </a:txBody>
                  <a:tcPr marL="36576" marR="36576" marT="36576" marB="36576" anchor="ctr">
                    <a:lnL w="9525" cap="flat" cmpd="sng" algn="ctr">
                      <a:solidFill>
                        <a:srgbClr val="D8DEE9"/>
                      </a:solidFill>
                      <a:prstDash val="solid"/>
                      <a:round/>
                      <a:headEnd type="none" w="med" len="med"/>
                      <a:tailEnd type="none" w="med" len="med"/>
                    </a:lnL>
                    <a:lnR w="9525" cap="flat" cmpd="sng" algn="ctr">
                      <a:solidFill>
                        <a:srgbClr val="D8DEE9"/>
                      </a:solidFill>
                      <a:prstDash val="solid"/>
                      <a:round/>
                      <a:headEnd type="none" w="med" len="med"/>
                      <a:tailEnd type="none" w="med" len="med"/>
                    </a:lnR>
                    <a:lnT w="9525" cap="flat" cmpd="sng" algn="ctr">
                      <a:solidFill>
                        <a:srgbClr val="D8DEE9"/>
                      </a:solidFill>
                      <a:prstDash val="solid"/>
                      <a:round/>
                      <a:headEnd type="none" w="med" len="med"/>
                      <a:tailEnd type="none" w="med" len="med"/>
                    </a:lnT>
                    <a:lnB w="9525" cap="flat" cmpd="sng" algn="ctr">
                      <a:solidFill>
                        <a:srgbClr val="D8DEE9"/>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tools/leak_scan.py — exit 0 over 33 tracked files, gate before every push</a:t>
                      </a:r>
                      <a:endParaRPr lang="en-US" sz="1150" dirty="0">
                        <a:latin typeface="Calibri" charset="0"/>
                        <a:ea typeface="Calibri" charset="0"/>
                        <a:cs typeface="Calibri" charset="0"/>
                      </a:endParaRPr>
                    </a:p>
                  </a:txBody>
                  <a:tcPr marL="36576" marR="36576" marT="36576" marB="36576" anchor="ctr">
                    <a:lnL w="9525" cap="flat" cmpd="sng" algn="ctr">
                      <a:solidFill>
                        <a:srgbClr val="D8DEE9"/>
                      </a:solidFill>
                      <a:prstDash val="solid"/>
                      <a:round/>
                      <a:headEnd type="none" w="med" len="med"/>
                      <a:tailEnd type="none" w="med" len="med"/>
                    </a:lnL>
                    <a:lnR w="9525" cap="flat" cmpd="sng" algn="ctr">
                      <a:solidFill>
                        <a:srgbClr val="D8DEE9"/>
                      </a:solidFill>
                      <a:prstDash val="solid"/>
                      <a:round/>
                      <a:headEnd type="none" w="med" len="med"/>
                      <a:tailEnd type="none" w="med" len="med"/>
                    </a:lnR>
                    <a:lnT w="9525" cap="flat" cmpd="sng" algn="ctr">
                      <a:solidFill>
                        <a:srgbClr val="D8DEE9"/>
                      </a:solidFill>
                      <a:prstDash val="solid"/>
                      <a:round/>
                      <a:headEnd type="none" w="med" len="med"/>
                      <a:tailEnd type="none" w="med" len="med"/>
                    </a:lnT>
                    <a:lnB w="9525" cap="flat" cmpd="sng" algn="ctr">
                      <a:solidFill>
                        <a:srgbClr val="D8DEE9"/>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502920" y="292608"/>
            <a:ext cx="11183112" cy="777240"/>
          </a:xfrm>
          <a:prstGeom prst="rect">
            <a:avLst/>
          </a:prstGeom>
          <a:noFill/>
          <a:ln/>
        </p:spPr>
        <p:txBody>
          <a:bodyPr wrap="square" lIns="0" tIns="0" rIns="0" bIns="0" rtlCol="0" anchor="ctr"/>
          <a:lstStyle/>
          <a:p>
            <a:pPr algn="l" indent="0" marL="0">
              <a:buNone/>
            </a:pPr>
            <a:r>
              <a:rPr lang="en-US" sz="2700" b="1" dirty="0">
                <a:solidFill>
                  <a:srgbClr val="1E2A45"/>
                </a:solidFill>
                <a:latin typeface="Arial" pitchFamily="34" charset="0"/>
                <a:ea typeface="Arial" pitchFamily="34" charset="-122"/>
                <a:cs typeface="Arial" pitchFamily="34" charset="-120"/>
              </a:rPr>
              <a:t>What production actually taught us — the battle scars</a:t>
            </a:r>
            <a:endParaRPr lang="en-US" sz="2700" dirty="0"/>
          </a:p>
        </p:txBody>
      </p:sp>
      <p:sp>
        <p:nvSpPr>
          <p:cNvPr id="3" name="Shape 1"/>
          <p:cNvSpPr/>
          <p:nvPr/>
        </p:nvSpPr>
        <p:spPr>
          <a:xfrm>
            <a:off x="502920" y="1234440"/>
            <a:ext cx="1051560" cy="914400"/>
          </a:xfrm>
          <a:prstGeom prst="roundRect">
            <a:avLst>
              <a:gd name="adj" fmla="val 7000"/>
            </a:avLst>
          </a:prstGeom>
          <a:solidFill>
            <a:srgbClr val="1E2A45"/>
          </a:solidFill>
          <a:ln w="12700">
            <a:solidFill>
              <a:srgbClr val="1E2A45"/>
            </a:solidFill>
            <a:prstDash val="solid"/>
          </a:ln>
        </p:spPr>
      </p:sp>
      <p:sp>
        <p:nvSpPr>
          <p:cNvPr id="4" name="Text 2"/>
          <p:cNvSpPr/>
          <p:nvPr/>
        </p:nvSpPr>
        <p:spPr>
          <a:xfrm>
            <a:off x="502920" y="1234440"/>
            <a:ext cx="1051560" cy="914400"/>
          </a:xfrm>
          <a:prstGeom prst="rect">
            <a:avLst/>
          </a:prstGeom>
          <a:noFill/>
          <a:ln/>
        </p:spPr>
        <p:txBody>
          <a:bodyPr wrap="square" lIns="0" tIns="0" rIns="0" bIns="0" rtlCol="0" anchor="ctr"/>
          <a:lstStyle/>
          <a:p>
            <a:pPr algn="ctr" indent="0" marL="0">
              <a:buNone/>
            </a:pPr>
            <a:r>
              <a:rPr lang="en-US" sz="1700" b="1" dirty="0">
                <a:solidFill>
                  <a:srgbClr val="F2A900"/>
                </a:solidFill>
                <a:latin typeface="Arial" pitchFamily="34" charset="0"/>
                <a:ea typeface="Arial" pitchFamily="34" charset="-122"/>
                <a:cs typeface="Arial" pitchFamily="34" charset="-120"/>
              </a:rPr>
              <a:t>404</a:t>
            </a:r>
            <a:endParaRPr lang="en-US" sz="1700" dirty="0"/>
          </a:p>
        </p:txBody>
      </p:sp>
      <p:sp>
        <p:nvSpPr>
          <p:cNvPr id="5" name="Text 3"/>
          <p:cNvSpPr/>
          <p:nvPr/>
        </p:nvSpPr>
        <p:spPr>
          <a:xfrm>
            <a:off x="1783080" y="1271016"/>
            <a:ext cx="9875520" cy="365760"/>
          </a:xfrm>
          <a:prstGeom prst="rect">
            <a:avLst/>
          </a:prstGeom>
          <a:noFill/>
          <a:ln/>
        </p:spPr>
        <p:txBody>
          <a:bodyPr wrap="square" lIns="0" tIns="0" rIns="0" bIns="0" rtlCol="0" anchor="ctr"/>
          <a:lstStyle/>
          <a:p>
            <a:pPr indent="0" marL="0">
              <a:buNone/>
            </a:pPr>
            <a:r>
              <a:rPr lang="en-US" sz="1350" b="1" dirty="0">
                <a:solidFill>
                  <a:srgbClr val="1A2233"/>
                </a:solidFill>
                <a:latin typeface="Arial" pitchFamily="34" charset="0"/>
                <a:ea typeface="Arial" pitchFamily="34" charset="-122"/>
                <a:cs typeface="Arial" pitchFamily="34" charset="-120"/>
              </a:rPr>
              <a:t>The course model does not exist on our account</a:t>
            </a:r>
            <a:endParaRPr lang="en-US" sz="1350" dirty="0"/>
          </a:p>
        </p:txBody>
      </p:sp>
      <p:sp>
        <p:nvSpPr>
          <p:cNvPr id="6" name="Text 4"/>
          <p:cNvSpPr/>
          <p:nvPr/>
        </p:nvSpPr>
        <p:spPr>
          <a:xfrm>
            <a:off x="1783080" y="1655064"/>
            <a:ext cx="9875520" cy="475488"/>
          </a:xfrm>
          <a:prstGeom prst="rect">
            <a:avLst/>
          </a:prstGeom>
          <a:noFill/>
          <a:ln/>
        </p:spPr>
        <p:txBody>
          <a:bodyPr wrap="square" lIns="0" tIns="0" rIns="0" bIns="0" rtlCol="0" anchor="ctr"/>
          <a:lstStyle/>
          <a:p>
            <a:pPr indent="0" marL="0">
              <a:buNone/>
            </a:pPr>
            <a:r>
              <a:rPr lang="en-US" sz="1150" dirty="0">
                <a:solidFill>
                  <a:srgbClr val="5A6478"/>
                </a:solidFill>
                <a:latin typeface="Calibri" pitchFamily="34" charset="0"/>
                <a:ea typeface="Calibri" pitchFamily="34" charset="-122"/>
                <a:cs typeface="Calibri" pitchFamily="34" charset="-120"/>
              </a:rPr>
              <a:t>a pre-build spike caught it → swapped to gpt-oss-120b, documented in the write-up</a:t>
            </a:r>
            <a:endParaRPr lang="en-US" sz="1150" dirty="0"/>
          </a:p>
        </p:txBody>
      </p:sp>
      <p:sp>
        <p:nvSpPr>
          <p:cNvPr id="7" name="Shape 5"/>
          <p:cNvSpPr/>
          <p:nvPr/>
        </p:nvSpPr>
        <p:spPr>
          <a:xfrm>
            <a:off x="502920" y="2313432"/>
            <a:ext cx="1051560" cy="914400"/>
          </a:xfrm>
          <a:prstGeom prst="roundRect">
            <a:avLst>
              <a:gd name="adj" fmla="val 7000"/>
            </a:avLst>
          </a:prstGeom>
          <a:solidFill>
            <a:srgbClr val="1E2A45"/>
          </a:solidFill>
          <a:ln w="12700">
            <a:solidFill>
              <a:srgbClr val="1E2A45"/>
            </a:solidFill>
            <a:prstDash val="solid"/>
          </a:ln>
        </p:spPr>
      </p:sp>
      <p:sp>
        <p:nvSpPr>
          <p:cNvPr id="8" name="Text 6"/>
          <p:cNvSpPr/>
          <p:nvPr/>
        </p:nvSpPr>
        <p:spPr>
          <a:xfrm>
            <a:off x="502920" y="2313432"/>
            <a:ext cx="1051560" cy="914400"/>
          </a:xfrm>
          <a:prstGeom prst="rect">
            <a:avLst/>
          </a:prstGeom>
          <a:noFill/>
          <a:ln/>
        </p:spPr>
        <p:txBody>
          <a:bodyPr wrap="square" lIns="0" tIns="0" rIns="0" bIns="0" rtlCol="0" anchor="ctr"/>
          <a:lstStyle/>
          <a:p>
            <a:pPr algn="ctr" indent="0" marL="0">
              <a:buNone/>
            </a:pPr>
            <a:r>
              <a:rPr lang="en-US" sz="1700" b="1" dirty="0">
                <a:solidFill>
                  <a:srgbClr val="F2A900"/>
                </a:solidFill>
                <a:latin typeface="Arial" pitchFamily="34" charset="0"/>
                <a:ea typeface="Arial" pitchFamily="34" charset="-122"/>
                <a:cs typeface="Arial" pitchFamily="34" charset="-120"/>
              </a:rPr>
              <a:t>200K</a:t>
            </a:r>
            <a:endParaRPr lang="en-US" sz="1700" dirty="0"/>
          </a:p>
        </p:txBody>
      </p:sp>
      <p:sp>
        <p:nvSpPr>
          <p:cNvPr id="9" name="Text 7"/>
          <p:cNvSpPr/>
          <p:nvPr/>
        </p:nvSpPr>
        <p:spPr>
          <a:xfrm>
            <a:off x="1783080" y="2350008"/>
            <a:ext cx="9875520" cy="365760"/>
          </a:xfrm>
          <a:prstGeom prst="rect">
            <a:avLst/>
          </a:prstGeom>
          <a:noFill/>
          <a:ln/>
        </p:spPr>
        <p:txBody>
          <a:bodyPr wrap="square" lIns="0" tIns="0" rIns="0" bIns="0" rtlCol="0" anchor="ctr"/>
          <a:lstStyle/>
          <a:p>
            <a:pPr indent="0" marL="0">
              <a:buNone/>
            </a:pPr>
            <a:r>
              <a:rPr lang="en-US" sz="1350" b="1" dirty="0">
                <a:solidFill>
                  <a:srgbClr val="1A2233"/>
                </a:solidFill>
                <a:latin typeface="Arial" pitchFamily="34" charset="0"/>
                <a:ea typeface="Arial" pitchFamily="34" charset="-122"/>
                <a:cs typeface="Arial" pitchFamily="34" charset="-120"/>
              </a:rPr>
              <a:t>Groq's free daily quota ran out mid-build</a:t>
            </a:r>
            <a:endParaRPr lang="en-US" sz="1350" dirty="0"/>
          </a:p>
        </p:txBody>
      </p:sp>
      <p:sp>
        <p:nvSpPr>
          <p:cNvPr id="10" name="Text 8"/>
          <p:cNvSpPr/>
          <p:nvPr/>
        </p:nvSpPr>
        <p:spPr>
          <a:xfrm>
            <a:off x="1783080" y="2734056"/>
            <a:ext cx="9875520" cy="475488"/>
          </a:xfrm>
          <a:prstGeom prst="rect">
            <a:avLst/>
          </a:prstGeom>
          <a:noFill/>
          <a:ln/>
        </p:spPr>
        <p:txBody>
          <a:bodyPr wrap="square" lIns="0" tIns="0" rIns="0" bIns="0" rtlCol="0" anchor="ctr"/>
          <a:lstStyle/>
          <a:p>
            <a:pPr indent="0" marL="0">
              <a:buNone/>
            </a:pPr>
            <a:r>
              <a:rPr lang="en-US" sz="1150" dirty="0">
                <a:solidFill>
                  <a:srgbClr val="5A6478"/>
                </a:solidFill>
                <a:latin typeface="Calibri" pitchFamily="34" charset="0"/>
                <a:ea typeface="Calibri" pitchFamily="34" charset="-122"/>
                <a:cs typeface="Calibri" pitchFamily="34" charset="-120"/>
              </a:rPr>
              <a:t>offline/live test split (-m "not api") · mechanics proven with stub tasks over the real infrastructure — zero build hours lost</a:t>
            </a:r>
            <a:endParaRPr lang="en-US" sz="1150" dirty="0"/>
          </a:p>
        </p:txBody>
      </p:sp>
      <p:sp>
        <p:nvSpPr>
          <p:cNvPr id="11" name="Shape 9"/>
          <p:cNvSpPr/>
          <p:nvPr/>
        </p:nvSpPr>
        <p:spPr>
          <a:xfrm>
            <a:off x="502920" y="3392424"/>
            <a:ext cx="1051560" cy="914400"/>
          </a:xfrm>
          <a:prstGeom prst="roundRect">
            <a:avLst>
              <a:gd name="adj" fmla="val 7000"/>
            </a:avLst>
          </a:prstGeom>
          <a:solidFill>
            <a:srgbClr val="1E2A45"/>
          </a:solidFill>
          <a:ln w="12700">
            <a:solidFill>
              <a:srgbClr val="1E2A45"/>
            </a:solidFill>
            <a:prstDash val="solid"/>
          </a:ln>
        </p:spPr>
      </p:sp>
      <p:sp>
        <p:nvSpPr>
          <p:cNvPr id="12" name="Text 10"/>
          <p:cNvSpPr/>
          <p:nvPr/>
        </p:nvSpPr>
        <p:spPr>
          <a:xfrm>
            <a:off x="502920" y="3392424"/>
            <a:ext cx="1051560" cy="914400"/>
          </a:xfrm>
          <a:prstGeom prst="rect">
            <a:avLst/>
          </a:prstGeom>
          <a:noFill/>
          <a:ln/>
        </p:spPr>
        <p:txBody>
          <a:bodyPr wrap="square" lIns="0" tIns="0" rIns="0" bIns="0" rtlCol="0" anchor="ctr"/>
          <a:lstStyle/>
          <a:p>
            <a:pPr algn="ctr" indent="0" marL="0">
              <a:buNone/>
            </a:pPr>
            <a:r>
              <a:rPr lang="en-US" sz="1700" b="1" dirty="0">
                <a:solidFill>
                  <a:srgbClr val="F2A900"/>
                </a:solidFill>
                <a:latin typeface="Arial" pitchFamily="34" charset="0"/>
                <a:ea typeface="Arial" pitchFamily="34" charset="-122"/>
                <a:cs typeface="Arial" pitchFamily="34" charset="-120"/>
              </a:rPr>
              <a:t>✕</a:t>
            </a:r>
            <a:endParaRPr lang="en-US" sz="1700" dirty="0"/>
          </a:p>
        </p:txBody>
      </p:sp>
      <p:sp>
        <p:nvSpPr>
          <p:cNvPr id="13" name="Text 11"/>
          <p:cNvSpPr/>
          <p:nvPr/>
        </p:nvSpPr>
        <p:spPr>
          <a:xfrm>
            <a:off x="1783080" y="3429000"/>
            <a:ext cx="9875520" cy="365760"/>
          </a:xfrm>
          <a:prstGeom prst="rect">
            <a:avLst/>
          </a:prstGeom>
          <a:noFill/>
          <a:ln/>
        </p:spPr>
        <p:txBody>
          <a:bodyPr wrap="square" lIns="0" tIns="0" rIns="0" bIns="0" rtlCol="0" anchor="ctr"/>
          <a:lstStyle/>
          <a:p>
            <a:pPr indent="0" marL="0">
              <a:buNone/>
            </a:pPr>
            <a:r>
              <a:rPr lang="en-US" sz="1350" b="1" dirty="0">
                <a:solidFill>
                  <a:srgbClr val="1A2233"/>
                </a:solidFill>
                <a:latin typeface="Arial" pitchFamily="34" charset="0"/>
                <a:ea typeface="Arial" pitchFamily="34" charset="-122"/>
                <a:cs typeface="Arial" pitchFamily="34" charset="-120"/>
              </a:rPr>
              <a:t>Smaller models failed structured output qualitatively</a:t>
            </a:r>
            <a:endParaRPr lang="en-US" sz="1350" dirty="0"/>
          </a:p>
        </p:txBody>
      </p:sp>
      <p:sp>
        <p:nvSpPr>
          <p:cNvPr id="14" name="Text 12"/>
          <p:cNvSpPr/>
          <p:nvPr/>
        </p:nvSpPr>
        <p:spPr>
          <a:xfrm>
            <a:off x="1783080" y="3813048"/>
            <a:ext cx="9875520" cy="475488"/>
          </a:xfrm>
          <a:prstGeom prst="rect">
            <a:avLst/>
          </a:prstGeom>
          <a:noFill/>
          <a:ln/>
        </p:spPr>
        <p:txBody>
          <a:bodyPr wrap="square" lIns="0" tIns="0" rIns="0" bIns="0" rtlCol="0" anchor="ctr"/>
          <a:lstStyle/>
          <a:p>
            <a:pPr indent="0" marL="0">
              <a:buNone/>
            </a:pPr>
            <a:r>
              <a:rPr lang="en-US" sz="1150" dirty="0">
                <a:solidFill>
                  <a:srgbClr val="5A6478"/>
                </a:solidFill>
                <a:latin typeface="Calibri" pitchFamily="34" charset="0"/>
                <a:ea typeface="Calibri" pitchFamily="34" charset="-122"/>
                <a:cs typeface="Calibri" pitchFamily="34" charset="-120"/>
              </a:rPr>
              <a:t>mangled tool names; booleans as strings — eliminated by evidence, not preference</a:t>
            </a:r>
            <a:endParaRPr lang="en-US" sz="1150" dirty="0"/>
          </a:p>
        </p:txBody>
      </p:sp>
      <p:sp>
        <p:nvSpPr>
          <p:cNvPr id="15" name="Shape 13"/>
          <p:cNvSpPr/>
          <p:nvPr/>
        </p:nvSpPr>
        <p:spPr>
          <a:xfrm>
            <a:off x="502920" y="4471416"/>
            <a:ext cx="1051560" cy="914400"/>
          </a:xfrm>
          <a:prstGeom prst="roundRect">
            <a:avLst>
              <a:gd name="adj" fmla="val 7000"/>
            </a:avLst>
          </a:prstGeom>
          <a:solidFill>
            <a:srgbClr val="1E2A45"/>
          </a:solidFill>
          <a:ln w="12700">
            <a:solidFill>
              <a:srgbClr val="1E2A45"/>
            </a:solidFill>
            <a:prstDash val="solid"/>
          </a:ln>
        </p:spPr>
      </p:sp>
      <p:sp>
        <p:nvSpPr>
          <p:cNvPr id="16" name="Text 14"/>
          <p:cNvSpPr/>
          <p:nvPr/>
        </p:nvSpPr>
        <p:spPr>
          <a:xfrm>
            <a:off x="502920" y="4471416"/>
            <a:ext cx="1051560" cy="914400"/>
          </a:xfrm>
          <a:prstGeom prst="rect">
            <a:avLst/>
          </a:prstGeom>
          <a:noFill/>
          <a:ln/>
        </p:spPr>
        <p:txBody>
          <a:bodyPr wrap="square" lIns="0" tIns="0" rIns="0" bIns="0" rtlCol="0" anchor="ctr"/>
          <a:lstStyle/>
          <a:p>
            <a:pPr algn="ctr" indent="0" marL="0">
              <a:buNone/>
            </a:pPr>
            <a:r>
              <a:rPr lang="en-US" sz="1700" b="1" dirty="0">
                <a:solidFill>
                  <a:srgbClr val="F2A900"/>
                </a:solidFill>
                <a:latin typeface="Arial" pitchFamily="34" charset="0"/>
                <a:ea typeface="Arial" pitchFamily="34" charset="-122"/>
                <a:cs typeface="Arial" pitchFamily="34" charset="-120"/>
              </a:rPr>
              <a:t>⇄</a:t>
            </a:r>
            <a:endParaRPr lang="en-US" sz="1700" dirty="0"/>
          </a:p>
        </p:txBody>
      </p:sp>
      <p:sp>
        <p:nvSpPr>
          <p:cNvPr id="17" name="Text 15"/>
          <p:cNvSpPr/>
          <p:nvPr/>
        </p:nvSpPr>
        <p:spPr>
          <a:xfrm>
            <a:off x="1783080" y="4507992"/>
            <a:ext cx="9875520" cy="365760"/>
          </a:xfrm>
          <a:prstGeom prst="rect">
            <a:avLst/>
          </a:prstGeom>
          <a:noFill/>
          <a:ln/>
        </p:spPr>
        <p:txBody>
          <a:bodyPr wrap="square" lIns="0" tIns="0" rIns="0" bIns="0" rtlCol="0" anchor="ctr"/>
          <a:lstStyle/>
          <a:p>
            <a:pPr indent="0" marL="0">
              <a:buNone/>
            </a:pPr>
            <a:r>
              <a:rPr lang="en-US" sz="1350" b="1" dirty="0">
                <a:solidFill>
                  <a:srgbClr val="1A2233"/>
                </a:solidFill>
                <a:latin typeface="Arial" pitchFamily="34" charset="0"/>
                <a:ea typeface="Arial" pitchFamily="34" charset="-122"/>
                <a:cs typeface="Arial" pitchFamily="34" charset="-120"/>
              </a:rPr>
              <a:t>A second host varied: transfer ping-pong, one reasoning leak</a:t>
            </a:r>
            <a:endParaRPr lang="en-US" sz="1350" dirty="0"/>
          </a:p>
        </p:txBody>
      </p:sp>
      <p:sp>
        <p:nvSpPr>
          <p:cNvPr id="18" name="Text 16"/>
          <p:cNvSpPr/>
          <p:nvPr/>
        </p:nvSpPr>
        <p:spPr>
          <a:xfrm>
            <a:off x="1783080" y="4892040"/>
            <a:ext cx="9875520" cy="475488"/>
          </a:xfrm>
          <a:prstGeom prst="rect">
            <a:avLst/>
          </a:prstGeom>
          <a:noFill/>
          <a:ln/>
        </p:spPr>
        <p:txBody>
          <a:bodyPr wrap="square" lIns="0" tIns="0" rIns="0" bIns="0" rtlCol="0" anchor="ctr"/>
          <a:lstStyle/>
          <a:p>
            <a:pPr indent="0" marL="0">
              <a:buNone/>
            </a:pPr>
            <a:r>
              <a:rPr lang="en-US" sz="1150" dirty="0">
                <a:solidFill>
                  <a:srgbClr val="5A6478"/>
                </a:solidFill>
                <a:latin typeface="Calibri" pitchFamily="34" charset="0"/>
                <a:ea typeface="Calibri" pitchFamily="34" charset="-122"/>
                <a:cs typeface="Calibri" pitchFamily="34" charset="-120"/>
              </a:rPr>
              <a:t>stop rule in the supervisor prompt · output_mode=full_history · final evidence captured on the primary provider</a:t>
            </a:r>
            <a:endParaRPr lang="en-US" sz="1150" dirty="0"/>
          </a:p>
        </p:txBody>
      </p:sp>
      <p:sp>
        <p:nvSpPr>
          <p:cNvPr id="19" name="Shape 17"/>
          <p:cNvSpPr/>
          <p:nvPr/>
        </p:nvSpPr>
        <p:spPr>
          <a:xfrm>
            <a:off x="502920" y="5806440"/>
            <a:ext cx="11183112" cy="548640"/>
          </a:xfrm>
          <a:prstGeom prst="roundRect">
            <a:avLst>
              <a:gd name="adj" fmla="val 10000"/>
            </a:avLst>
          </a:prstGeom>
          <a:solidFill>
            <a:srgbClr val="E9F6EC"/>
          </a:solidFill>
          <a:ln w="12700">
            <a:solidFill>
              <a:srgbClr val="2E7D32"/>
            </a:solidFill>
            <a:prstDash val="solid"/>
          </a:ln>
        </p:spPr>
      </p:sp>
      <p:sp>
        <p:nvSpPr>
          <p:cNvPr id="20" name="Text 18"/>
          <p:cNvSpPr/>
          <p:nvPr/>
        </p:nvSpPr>
        <p:spPr>
          <a:xfrm>
            <a:off x="630936" y="5861304"/>
            <a:ext cx="10927080" cy="438912"/>
          </a:xfrm>
          <a:prstGeom prst="rect">
            <a:avLst/>
          </a:prstGeom>
          <a:noFill/>
          <a:ln/>
        </p:spPr>
        <p:txBody>
          <a:bodyPr wrap="square" lIns="0" tIns="0" rIns="0" bIns="0" rtlCol="0" anchor="ctr"/>
          <a:lstStyle/>
          <a:p>
            <a:pPr indent="0" marL="0">
              <a:buNone/>
            </a:pPr>
            <a:r>
              <a:rPr lang="en-US" sz="1300" b="1" dirty="0">
                <a:solidFill>
                  <a:srgbClr val="1B5E20"/>
                </a:solidFill>
                <a:latin typeface="Calibri" pitchFamily="34" charset="0"/>
                <a:ea typeface="Calibri" pitchFamily="34" charset="-122"/>
                <a:cs typeface="Calibri" pitchFamily="34" charset="-120"/>
              </a:rPr>
              <a:t>None of this was in the plan. All of it is in the run log — docs/plan/…/RUN-LOG.md.</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502920" y="292608"/>
            <a:ext cx="11183112" cy="777240"/>
          </a:xfrm>
          <a:prstGeom prst="rect">
            <a:avLst/>
          </a:prstGeom>
          <a:noFill/>
          <a:ln/>
        </p:spPr>
        <p:txBody>
          <a:bodyPr wrap="square" lIns="0" tIns="0" rIns="0" bIns="0" rtlCol="0" anchor="ctr"/>
          <a:lstStyle/>
          <a:p>
            <a:pPr algn="l" indent="0" marL="0">
              <a:buNone/>
            </a:pPr>
            <a:r>
              <a:rPr lang="en-US" sz="2700" b="1" dirty="0">
                <a:solidFill>
                  <a:srgbClr val="1E2A45"/>
                </a:solidFill>
                <a:latin typeface="Arial" pitchFamily="34" charset="0"/>
                <a:ea typeface="Arial" pitchFamily="34" charset="-122"/>
                <a:cs typeface="Arial" pitchFamily="34" charset="-120"/>
              </a:rPr>
              <a:t>How it was built — the part that transfers to your projects</a:t>
            </a:r>
            <a:endParaRPr lang="en-US" sz="2700" dirty="0"/>
          </a:p>
        </p:txBody>
      </p:sp>
      <p:sp>
        <p:nvSpPr>
          <p:cNvPr id="3" name="Text 1"/>
          <p:cNvSpPr/>
          <p:nvPr/>
        </p:nvSpPr>
        <p:spPr>
          <a:xfrm>
            <a:off x="502920" y="1234440"/>
            <a:ext cx="6675120" cy="4389120"/>
          </a:xfrm>
          <a:prstGeom prst="rect">
            <a:avLst/>
          </a:prstGeom>
          <a:noFill/>
          <a:ln/>
        </p:spPr>
        <p:txBody>
          <a:bodyPr wrap="square" lIns="0" tIns="0" rIns="0" bIns="0" rtlCol="0" anchor="t"/>
          <a:lstStyle/>
          <a:p>
            <a:pPr algn="l" marL="127000" indent="-127000">
              <a:spcAft>
                <a:spcPts val="1400"/>
              </a:spcAft>
              <a:buSzPct val="100000"/>
              <a:buChar char="•"/>
            </a:pPr>
            <a:r>
              <a:rPr lang="en-US" sz="1350" b="1" dirty="0">
                <a:solidFill>
                  <a:srgbClr val="1A2233"/>
                </a:solidFill>
                <a:latin typeface="Calibri" pitchFamily="34" charset="0"/>
                <a:ea typeface="Calibri" pitchFamily="34" charset="-122"/>
                <a:cs typeface="Calibri" pitchFamily="34" charset="-120"/>
              </a:rPr>
              <a:t>Spikes before plans — risky assumptions burned down with throwaway code against the real APIs.</a:t>
            </a:r>
            <a:endParaRPr lang="en-US" sz="1350" dirty="0"/>
          </a:p>
          <a:p>
            <a:pPr algn="l" marL="127000" indent="-127000">
              <a:spcAft>
                <a:spcPts val="1400"/>
              </a:spcAft>
              <a:buSzPct val="100000"/>
              <a:buChar char="•"/>
            </a:pPr>
            <a:r>
              <a:rPr lang="en-US" sz="1350" dirty="0">
                <a:solidFill>
                  <a:srgbClr val="1A2233"/>
                </a:solidFill>
                <a:latin typeface="Calibri" pitchFamily="34" charset="0"/>
                <a:ea typeface="Calibri" pitchFamily="34" charset="-122"/>
                <a:cs typeface="Calibri" pitchFamily="34" charset="-120"/>
              </a:rPr>
              <a:t>A four-angle critique (architecture, rubric, security, reliability) ran before the first line of code — 8 blockers died on paper, where they cost minutes.</a:t>
            </a:r>
            <a:endParaRPr lang="en-US" sz="1350" dirty="0"/>
          </a:p>
          <a:p>
            <a:pPr algn="l" marL="127000" indent="-127000">
              <a:spcAft>
                <a:spcPts val="1400"/>
              </a:spcAft>
              <a:buSzPct val="100000"/>
              <a:buChar char="•"/>
            </a:pPr>
            <a:r>
              <a:rPr lang="en-US" sz="1350" dirty="0">
                <a:solidFill>
                  <a:srgbClr val="1A2233"/>
                </a:solidFill>
                <a:latin typeface="Calibri" pitchFamily="34" charset="0"/>
                <a:ea typeface="Calibri" pitchFamily="34" charset="-122"/>
                <a:cs typeface="Calibri" pitchFamily="34" charset="-120"/>
              </a:rPr>
              <a:t>Ten vertical slices, each: a red test committed first → the minimal green → central re-verification (an agent's word is not evidence).</a:t>
            </a:r>
            <a:endParaRPr lang="en-US" sz="1350" dirty="0"/>
          </a:p>
          <a:p>
            <a:pPr algn="l" marL="127000" indent="-127000">
              <a:spcAft>
                <a:spcPts val="1400"/>
              </a:spcAft>
              <a:buSzPct val="100000"/>
              <a:buChar char="•"/>
            </a:pPr>
            <a:r>
              <a:rPr lang="en-US" sz="1350" dirty="0">
                <a:solidFill>
                  <a:srgbClr val="1A2233"/>
                </a:solidFill>
                <a:latin typeface="Calibri" pitchFamily="34" charset="0"/>
                <a:ea typeface="Calibri" pitchFamily="34" charset="-122"/>
                <a:cs typeface="Calibri" pitchFamily="34" charset="-120"/>
              </a:rPr>
              <a:t>A leak-scan gate before every push: key patterns, absolute paths, machine identity — it once flagged the author's own name.</a:t>
            </a:r>
            <a:endParaRPr lang="en-US" sz="1350" dirty="0"/>
          </a:p>
          <a:p>
            <a:pPr algn="l" marL="127000" indent="-127000">
              <a:spcAft>
                <a:spcPts val="1400"/>
              </a:spcAft>
              <a:buSzPct val="100000"/>
              <a:buChar char="•"/>
            </a:pPr>
            <a:r>
              <a:rPr lang="en-US" sz="1350" dirty="0">
                <a:solidFill>
                  <a:srgbClr val="1A2233"/>
                </a:solidFill>
                <a:latin typeface="Calibri" pitchFamily="34" charset="0"/>
                <a:ea typeface="Calibri" pitchFamily="34" charset="-122"/>
                <a:cs typeface="Calibri" pitchFamily="34" charset="-120"/>
              </a:rPr>
              <a:t>Final review, two independent axes + a mechanical pass → 5 more blockers found and fixed before delivery.</a:t>
            </a:r>
            <a:endParaRPr lang="en-US" sz="1350" dirty="0"/>
          </a:p>
        </p:txBody>
      </p:sp>
      <p:sp>
        <p:nvSpPr>
          <p:cNvPr id="4" name="Text 2"/>
          <p:cNvSpPr/>
          <p:nvPr/>
        </p:nvSpPr>
        <p:spPr>
          <a:xfrm>
            <a:off x="7589520" y="1234440"/>
            <a:ext cx="4023360" cy="365760"/>
          </a:xfrm>
          <a:prstGeom prst="rect">
            <a:avLst/>
          </a:prstGeom>
          <a:noFill/>
          <a:ln/>
        </p:spPr>
        <p:txBody>
          <a:bodyPr wrap="square" lIns="0" tIns="0" rIns="0" bIns="0" rtlCol="0" anchor="ctr"/>
          <a:lstStyle/>
          <a:p>
            <a:pPr indent="0" marL="0">
              <a:buNone/>
            </a:pPr>
            <a:r>
              <a:rPr lang="en-US" sz="1400" b="1" dirty="0">
                <a:solidFill>
                  <a:srgbClr val="1E2A45"/>
                </a:solidFill>
                <a:latin typeface="Arial" pitchFamily="34" charset="0"/>
                <a:ea typeface="Arial" pitchFamily="34" charset="-122"/>
                <a:cs typeface="Arial" pitchFamily="34" charset="-120"/>
              </a:rPr>
              <a:t>The delivery discipline</a:t>
            </a:r>
            <a:endParaRPr lang="en-US" sz="1400" dirty="0"/>
          </a:p>
        </p:txBody>
      </p:sp>
      <p:sp>
        <p:nvSpPr>
          <p:cNvPr id="5" name="Shape 3"/>
          <p:cNvSpPr/>
          <p:nvPr/>
        </p:nvSpPr>
        <p:spPr>
          <a:xfrm>
            <a:off x="7589520" y="1645920"/>
            <a:ext cx="4069080" cy="1143000"/>
          </a:xfrm>
          <a:prstGeom prst="roundRect">
            <a:avLst>
              <a:gd name="adj" fmla="val 4800"/>
            </a:avLst>
          </a:prstGeom>
          <a:solidFill>
            <a:srgbClr val="EDF2FB"/>
          </a:solidFill>
          <a:ln w="12700">
            <a:solidFill>
              <a:srgbClr val="3457A0"/>
            </a:solidFill>
            <a:prstDash val="solid"/>
          </a:ln>
        </p:spPr>
      </p:sp>
      <p:sp>
        <p:nvSpPr>
          <p:cNvPr id="6" name="Text 4"/>
          <p:cNvSpPr/>
          <p:nvPr/>
        </p:nvSpPr>
        <p:spPr>
          <a:xfrm>
            <a:off x="7717536" y="1700784"/>
            <a:ext cx="3813048" cy="1033272"/>
          </a:xfrm>
          <a:prstGeom prst="rect">
            <a:avLst/>
          </a:prstGeom>
          <a:noFill/>
          <a:ln/>
        </p:spPr>
        <p:txBody>
          <a:bodyPr wrap="square" lIns="0" tIns="0" rIns="0" bIns="0" rtlCol="0" anchor="ctr"/>
          <a:lstStyle/>
          <a:p>
            <a:pPr indent="0" marL="0">
              <a:buNone/>
            </a:pPr>
            <a:r>
              <a:rPr lang="en-US" sz="1250" dirty="0">
                <a:solidFill>
                  <a:srgbClr val="24406E"/>
                </a:solidFill>
                <a:latin typeface="Calibri" pitchFamily="34" charset="0"/>
                <a:ea typeface="Calibri" pitchFamily="34" charset="-122"/>
                <a:cs typeface="Calibri" pitchFamily="34" charset="-120"/>
              </a:rPr>
              <a:t>Red commit carries the first failure line; green commit carries the minimal fix — the history reads as proof.</a:t>
            </a:r>
            <a:endParaRPr lang="en-US" sz="1250" dirty="0"/>
          </a:p>
        </p:txBody>
      </p:sp>
      <p:sp>
        <p:nvSpPr>
          <p:cNvPr id="7" name="Shape 5"/>
          <p:cNvSpPr/>
          <p:nvPr/>
        </p:nvSpPr>
        <p:spPr>
          <a:xfrm>
            <a:off x="7589520" y="2926080"/>
            <a:ext cx="4069080" cy="1143000"/>
          </a:xfrm>
          <a:prstGeom prst="roundRect">
            <a:avLst>
              <a:gd name="adj" fmla="val 4800"/>
            </a:avLst>
          </a:prstGeom>
          <a:solidFill>
            <a:srgbClr val="EDF2FB"/>
          </a:solidFill>
          <a:ln w="12700">
            <a:solidFill>
              <a:srgbClr val="3457A0"/>
            </a:solidFill>
            <a:prstDash val="solid"/>
          </a:ln>
        </p:spPr>
      </p:sp>
      <p:sp>
        <p:nvSpPr>
          <p:cNvPr id="8" name="Text 6"/>
          <p:cNvSpPr/>
          <p:nvPr/>
        </p:nvSpPr>
        <p:spPr>
          <a:xfrm>
            <a:off x="7717536" y="2980944"/>
            <a:ext cx="3813048" cy="1033272"/>
          </a:xfrm>
          <a:prstGeom prst="rect">
            <a:avLst/>
          </a:prstGeom>
          <a:noFill/>
          <a:ln/>
        </p:spPr>
        <p:txBody>
          <a:bodyPr wrap="square" lIns="0" tIns="0" rIns="0" bIns="0" rtlCol="0" anchor="ctr"/>
          <a:lstStyle/>
          <a:p>
            <a:pPr indent="0" marL="0">
              <a:buNone/>
            </a:pPr>
            <a:r>
              <a:rPr lang="en-US" sz="1250" dirty="0">
                <a:solidFill>
                  <a:srgbClr val="24406E"/>
                </a:solidFill>
                <a:latin typeface="Calibri" pitchFamily="34" charset="0"/>
                <a:ea typeface="Calibri" pitchFamily="34" charset="-122"/>
                <a:cs typeface="Calibri" pitchFamily="34" charset="-120"/>
              </a:rPr>
              <a:t>Write-ups are written FROM results, not plans — the one contradiction found in review was fixed before push.</a:t>
            </a:r>
            <a:endParaRPr lang="en-US" sz="1250" dirty="0"/>
          </a:p>
        </p:txBody>
      </p:sp>
      <p:sp>
        <p:nvSpPr>
          <p:cNvPr id="9" name="Shape 7"/>
          <p:cNvSpPr/>
          <p:nvPr/>
        </p:nvSpPr>
        <p:spPr>
          <a:xfrm>
            <a:off x="7589520" y="4206240"/>
            <a:ext cx="4069080" cy="1143000"/>
          </a:xfrm>
          <a:prstGeom prst="roundRect">
            <a:avLst>
              <a:gd name="adj" fmla="val 4800"/>
            </a:avLst>
          </a:prstGeom>
          <a:solidFill>
            <a:srgbClr val="EDF2FB"/>
          </a:solidFill>
          <a:ln w="12700">
            <a:solidFill>
              <a:srgbClr val="3457A0"/>
            </a:solidFill>
            <a:prstDash val="solid"/>
          </a:ln>
        </p:spPr>
      </p:sp>
      <p:sp>
        <p:nvSpPr>
          <p:cNvPr id="10" name="Text 8"/>
          <p:cNvSpPr/>
          <p:nvPr/>
        </p:nvSpPr>
        <p:spPr>
          <a:xfrm>
            <a:off x="7717536" y="4261104"/>
            <a:ext cx="3813048" cy="1033272"/>
          </a:xfrm>
          <a:prstGeom prst="rect">
            <a:avLst/>
          </a:prstGeom>
          <a:noFill/>
          <a:ln/>
        </p:spPr>
        <p:txBody>
          <a:bodyPr wrap="square" lIns="0" tIns="0" rIns="0" bIns="0" rtlCol="0" anchor="ctr"/>
          <a:lstStyle/>
          <a:p>
            <a:pPr indent="0" marL="0">
              <a:buNone/>
            </a:pPr>
            <a:r>
              <a:rPr lang="en-US" sz="1250" dirty="0">
                <a:solidFill>
                  <a:srgbClr val="24406E"/>
                </a:solidFill>
                <a:latin typeface="Calibri" pitchFamily="34" charset="0"/>
                <a:ea typeface="Calibri" pitchFamily="34" charset="-122"/>
                <a:cs typeface="Calibri" pitchFamily="34" charset="-120"/>
              </a:rPr>
              <a:t>Evidence is captured from clean state — kernel restarted, top-to-bottom, outputs saved.</a:t>
            </a:r>
            <a:endParaRPr lang="en-US" sz="12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502920" y="292608"/>
            <a:ext cx="11183112" cy="777240"/>
          </a:xfrm>
          <a:prstGeom prst="rect">
            <a:avLst/>
          </a:prstGeom>
          <a:noFill/>
          <a:ln/>
        </p:spPr>
        <p:txBody>
          <a:bodyPr wrap="square" lIns="0" tIns="0" rIns="0" bIns="0" rtlCol="0" anchor="ctr"/>
          <a:lstStyle/>
          <a:p>
            <a:pPr algn="l" indent="0" marL="0">
              <a:buNone/>
            </a:pPr>
            <a:r>
              <a:rPr lang="en-US" sz="2700" b="1" dirty="0">
                <a:solidFill>
                  <a:srgbClr val="1E2A45"/>
                </a:solidFill>
                <a:latin typeface="Arial" pitchFamily="34" charset="0"/>
                <a:ea typeface="Arial" pitchFamily="34" charset="-122"/>
                <a:cs typeface="Arial" pitchFamily="34" charset="-120"/>
              </a:rPr>
              <a:t>Where the grader finds the proof</a:t>
            </a:r>
            <a:endParaRPr lang="en-US" sz="27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02920" y="1188720"/>
          <a:ext cx="11183112" cy="914400"/>
        </p:xfrm>
        <a:graphic>
          <a:graphicData uri="http://schemas.openxmlformats.org/drawingml/2006/table">
            <a:tbl>
              <a:tblPr/>
              <a:tblGrid>
                <a:gridCol w="2834640"/>
                <a:gridCol w="3931920"/>
                <a:gridCol w="2651760"/>
                <a:gridCol w="1737360"/>
              </a:tblGrid>
              <a:tr h="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Rubric section</a:t>
                      </a:r>
                      <a:endParaRPr lang="en-US" sz="1200" dirty="0">
                        <a:latin typeface="Calibri" charset="0"/>
                        <a:ea typeface="Calibri" charset="0"/>
                        <a:cs typeface="Calibri" charset="0"/>
                      </a:endParaRPr>
                    </a:p>
                  </a:txBody>
                  <a:tcPr marL="36576" marR="36576" marT="36576" marB="36576" anchor="ctr">
                    <a:lnL w="9525" cap="flat" cmpd="sng" algn="ctr">
                      <a:solidFill>
                        <a:srgbClr val="D8DEE9"/>
                      </a:solidFill>
                      <a:prstDash val="solid"/>
                      <a:round/>
                      <a:headEnd type="none" w="med" len="med"/>
                      <a:tailEnd type="none" w="med" len="med"/>
                    </a:lnL>
                    <a:lnR w="9525" cap="flat" cmpd="sng" algn="ctr">
                      <a:solidFill>
                        <a:srgbClr val="D8DEE9"/>
                      </a:solidFill>
                      <a:prstDash val="solid"/>
                      <a:round/>
                      <a:headEnd type="none" w="med" len="med"/>
                      <a:tailEnd type="none" w="med" len="med"/>
                    </a:lnR>
                    <a:lnT w="9525" cap="flat" cmpd="sng" algn="ctr">
                      <a:solidFill>
                        <a:srgbClr val="D8DEE9"/>
                      </a:solidFill>
                      <a:prstDash val="solid"/>
                      <a:round/>
                      <a:headEnd type="none" w="med" len="med"/>
                      <a:tailEnd type="none" w="med" len="med"/>
                    </a:lnT>
                    <a:lnB w="9525" cap="flat" cmpd="sng" algn="ctr">
                      <a:solidFill>
                        <a:srgbClr val="D8DEE9"/>
                      </a:solidFill>
                      <a:prstDash val="solid"/>
                      <a:round/>
                      <a:headEnd type="none" w="med" len="med"/>
                      <a:tailEnd type="none" w="med" len="med"/>
                    </a:lnB>
                    <a:solidFill>
                      <a:srgbClr val="1E2A45"/>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Implementation</a:t>
                      </a:r>
                      <a:endParaRPr lang="en-US" sz="1200" dirty="0">
                        <a:latin typeface="Calibri" charset="0"/>
                        <a:ea typeface="Calibri" charset="0"/>
                        <a:cs typeface="Calibri" charset="0"/>
                      </a:endParaRPr>
                    </a:p>
                  </a:txBody>
                  <a:tcPr marL="36576" marR="36576" marT="36576" marB="36576" anchor="ctr">
                    <a:lnL w="9525" cap="flat" cmpd="sng" algn="ctr">
                      <a:solidFill>
                        <a:srgbClr val="D8DEE9"/>
                      </a:solidFill>
                      <a:prstDash val="solid"/>
                      <a:round/>
                      <a:headEnd type="none" w="med" len="med"/>
                      <a:tailEnd type="none" w="med" len="med"/>
                    </a:lnL>
                    <a:lnR w="9525" cap="flat" cmpd="sng" algn="ctr">
                      <a:solidFill>
                        <a:srgbClr val="D8DEE9"/>
                      </a:solidFill>
                      <a:prstDash val="solid"/>
                      <a:round/>
                      <a:headEnd type="none" w="med" len="med"/>
                      <a:tailEnd type="none" w="med" len="med"/>
                    </a:lnR>
                    <a:lnT w="9525" cap="flat" cmpd="sng" algn="ctr">
                      <a:solidFill>
                        <a:srgbClr val="D8DEE9"/>
                      </a:solidFill>
                      <a:prstDash val="solid"/>
                      <a:round/>
                      <a:headEnd type="none" w="med" len="med"/>
                      <a:tailEnd type="none" w="med" len="med"/>
                    </a:lnT>
                    <a:lnB w="9525" cap="flat" cmpd="sng" algn="ctr">
                      <a:solidFill>
                        <a:srgbClr val="D8DEE9"/>
                      </a:solidFill>
                      <a:prstDash val="solid"/>
                      <a:round/>
                      <a:headEnd type="none" w="med" len="med"/>
                      <a:tailEnd type="none" w="med" len="med"/>
                    </a:lnB>
                    <a:solidFill>
                      <a:srgbClr val="1E2A45"/>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Test</a:t>
                      </a:r>
                      <a:endParaRPr lang="en-US" sz="1200" dirty="0">
                        <a:latin typeface="Calibri" charset="0"/>
                        <a:ea typeface="Calibri" charset="0"/>
                        <a:cs typeface="Calibri" charset="0"/>
                      </a:endParaRPr>
                    </a:p>
                  </a:txBody>
                  <a:tcPr marL="36576" marR="36576" marT="36576" marB="36576" anchor="ctr">
                    <a:lnL w="9525" cap="flat" cmpd="sng" algn="ctr">
                      <a:solidFill>
                        <a:srgbClr val="D8DEE9"/>
                      </a:solidFill>
                      <a:prstDash val="solid"/>
                      <a:round/>
                      <a:headEnd type="none" w="med" len="med"/>
                      <a:tailEnd type="none" w="med" len="med"/>
                    </a:lnL>
                    <a:lnR w="9525" cap="flat" cmpd="sng" algn="ctr">
                      <a:solidFill>
                        <a:srgbClr val="D8DEE9"/>
                      </a:solidFill>
                      <a:prstDash val="solid"/>
                      <a:round/>
                      <a:headEnd type="none" w="med" len="med"/>
                      <a:tailEnd type="none" w="med" len="med"/>
                    </a:lnR>
                    <a:lnT w="9525" cap="flat" cmpd="sng" algn="ctr">
                      <a:solidFill>
                        <a:srgbClr val="D8DEE9"/>
                      </a:solidFill>
                      <a:prstDash val="solid"/>
                      <a:round/>
                      <a:headEnd type="none" w="med" len="med"/>
                      <a:tailEnd type="none" w="med" len="med"/>
                    </a:lnT>
                    <a:lnB w="9525" cap="flat" cmpd="sng" algn="ctr">
                      <a:solidFill>
                        <a:srgbClr val="D8DEE9"/>
                      </a:solidFill>
                      <a:prstDash val="solid"/>
                      <a:round/>
                      <a:headEnd type="none" w="med" len="med"/>
                      <a:tailEnd type="none" w="med" len="med"/>
                    </a:lnB>
                    <a:solidFill>
                      <a:srgbClr val="1E2A45"/>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Notebook</a:t>
                      </a:r>
                      <a:endParaRPr lang="en-US" sz="1200" dirty="0">
                        <a:latin typeface="Calibri" charset="0"/>
                        <a:ea typeface="Calibri" charset="0"/>
                        <a:cs typeface="Calibri" charset="0"/>
                      </a:endParaRPr>
                    </a:p>
                  </a:txBody>
                  <a:tcPr marL="36576" marR="36576" marT="36576" marB="36576" anchor="ctr">
                    <a:lnL w="9525" cap="flat" cmpd="sng" algn="ctr">
                      <a:solidFill>
                        <a:srgbClr val="D8DEE9"/>
                      </a:solidFill>
                      <a:prstDash val="solid"/>
                      <a:round/>
                      <a:headEnd type="none" w="med" len="med"/>
                      <a:tailEnd type="none" w="med" len="med"/>
                    </a:lnL>
                    <a:lnR w="9525" cap="flat" cmpd="sng" algn="ctr">
                      <a:solidFill>
                        <a:srgbClr val="D8DEE9"/>
                      </a:solidFill>
                      <a:prstDash val="solid"/>
                      <a:round/>
                      <a:headEnd type="none" w="med" len="med"/>
                      <a:tailEnd type="none" w="med" len="med"/>
                    </a:lnR>
                    <a:lnT w="9525" cap="flat" cmpd="sng" algn="ctr">
                      <a:solidFill>
                        <a:srgbClr val="D8DEE9"/>
                      </a:solidFill>
                      <a:prstDash val="solid"/>
                      <a:round/>
                      <a:headEnd type="none" w="med" len="med"/>
                      <a:tailEnd type="none" w="med" len="med"/>
                    </a:lnT>
                    <a:lnB w="9525" cap="flat" cmpd="sng" algn="ctr">
                      <a:solidFill>
                        <a:srgbClr val="D8DEE9"/>
                      </a:solidFill>
                      <a:prstDash val="solid"/>
                      <a:round/>
                      <a:headEnd type="none" w="med" len="med"/>
                      <a:tailEnd type="none" w="med" len="med"/>
                    </a:lnB>
                    <a:solidFill>
                      <a:srgbClr val="1E2A45"/>
                    </a:solidFill>
                  </a:tcPr>
                </a:tc>
              </a:tr>
              <a:tr h="0">
                <a:tc>
                  <a:txBody>
                    <a:bodyPr/>
                    <a:lstStyle/>
                    <a:p>
                      <a:pPr indent="0" marL="0">
                        <a:buNone/>
                      </a:pPr>
                      <a:r>
                        <a:rPr lang="en-US" sz="1100" dirty="0">
                          <a:solidFill>
                            <a:srgbClr val="1A2233"/>
                          </a:solidFill>
                          <a:latin typeface="Calibri" pitchFamily="34" charset="0"/>
                          <a:ea typeface="Calibri" pitchFamily="34" charset="-122"/>
                          <a:cs typeface="Calibri" pitchFamily="34" charset="-120"/>
                        </a:rPr>
                        <a:t>1 · Agent fundamentals</a:t>
                      </a:r>
                      <a:endParaRPr lang="en-US" sz="1100" dirty="0">
                        <a:latin typeface="Calibri" charset="0"/>
                        <a:ea typeface="Calibri" charset="0"/>
                        <a:cs typeface="Calibri" charset="0"/>
                      </a:endParaRPr>
                    </a:p>
                  </a:txBody>
                  <a:tcPr marL="36576" marR="36576" marT="36576" marB="36576" anchor="ctr">
                    <a:lnL w="9525" cap="flat" cmpd="sng" algn="ctr">
                      <a:solidFill>
                        <a:srgbClr val="D8DEE9"/>
                      </a:solidFill>
                      <a:prstDash val="solid"/>
                      <a:round/>
                      <a:headEnd type="none" w="med" len="med"/>
                      <a:tailEnd type="none" w="med" len="med"/>
                    </a:lnL>
                    <a:lnR w="9525" cap="flat" cmpd="sng" algn="ctr">
                      <a:solidFill>
                        <a:srgbClr val="D8DEE9"/>
                      </a:solidFill>
                      <a:prstDash val="solid"/>
                      <a:round/>
                      <a:headEnd type="none" w="med" len="med"/>
                      <a:tailEnd type="none" w="med" len="med"/>
                    </a:lnR>
                    <a:lnT w="9525" cap="flat" cmpd="sng" algn="ctr">
                      <a:solidFill>
                        <a:srgbClr val="D8DEE9"/>
                      </a:solidFill>
                      <a:prstDash val="solid"/>
                      <a:round/>
                      <a:headEnd type="none" w="med" len="med"/>
                      <a:tailEnd type="none" w="med" len="med"/>
                    </a:lnT>
                    <a:lnB w="9525" cap="flat" cmpd="sng" algn="ctr">
                      <a:solidFill>
                        <a:srgbClr val="D8DEE9"/>
                      </a:solidFill>
                      <a:prstDash val="solid"/>
                      <a:round/>
                      <a:headEnd type="none" w="med" len="med"/>
                      <a:tailEnd type="none" w="med" len="med"/>
                    </a:lnB>
                    <a:solidFill>
                      <a:srgbClr val="FFFFFF"/>
                    </a:solidFill>
                  </a:tcPr>
                </a:tc>
                <a:tc>
                  <a:txBody>
                    <a:bodyPr/>
                    <a:lstStyle/>
                    <a:p>
                      <a:pPr indent="0" marL="0">
                        <a:buNone/>
                      </a:pPr>
                      <a:r>
                        <a:rPr lang="en-US" sz="1100" dirty="0">
                          <a:solidFill>
                            <a:srgbClr val="1A2233"/>
                          </a:solidFill>
                          <a:latin typeface="Calibri" pitchFamily="34" charset="0"/>
                          <a:ea typeface="Calibri" pitchFamily="34" charset="-122"/>
                          <a:cs typeface="Calibri" pitchFamily="34" charset="-120"/>
                        </a:rPr>
                        <a:t>src/munassiq/tools.py</a:t>
                      </a:r>
                      <a:endParaRPr lang="en-US" sz="1100" dirty="0">
                        <a:latin typeface="Calibri" charset="0"/>
                        <a:ea typeface="Calibri" charset="0"/>
                        <a:cs typeface="Calibri" charset="0"/>
                      </a:endParaRPr>
                    </a:p>
                  </a:txBody>
                  <a:tcPr marL="36576" marR="36576" marT="36576" marB="36576" anchor="ctr">
                    <a:lnL w="9525" cap="flat" cmpd="sng" algn="ctr">
                      <a:solidFill>
                        <a:srgbClr val="D8DEE9"/>
                      </a:solidFill>
                      <a:prstDash val="solid"/>
                      <a:round/>
                      <a:headEnd type="none" w="med" len="med"/>
                      <a:tailEnd type="none" w="med" len="med"/>
                    </a:lnL>
                    <a:lnR w="9525" cap="flat" cmpd="sng" algn="ctr">
                      <a:solidFill>
                        <a:srgbClr val="D8DEE9"/>
                      </a:solidFill>
                      <a:prstDash val="solid"/>
                      <a:round/>
                      <a:headEnd type="none" w="med" len="med"/>
                      <a:tailEnd type="none" w="med" len="med"/>
                    </a:lnR>
                    <a:lnT w="9525" cap="flat" cmpd="sng" algn="ctr">
                      <a:solidFill>
                        <a:srgbClr val="D8DEE9"/>
                      </a:solidFill>
                      <a:prstDash val="solid"/>
                      <a:round/>
                      <a:headEnd type="none" w="med" len="med"/>
                      <a:tailEnd type="none" w="med" len="med"/>
                    </a:lnT>
                    <a:lnB w="9525" cap="flat" cmpd="sng" algn="ctr">
                      <a:solidFill>
                        <a:srgbClr val="D8DEE9"/>
                      </a:solidFill>
                      <a:prstDash val="solid"/>
                      <a:round/>
                      <a:headEnd type="none" w="med" len="med"/>
                      <a:tailEnd type="none" w="med" len="med"/>
                    </a:lnB>
                    <a:solidFill>
                      <a:srgbClr val="FFFFFF"/>
                    </a:solidFill>
                  </a:tcPr>
                </a:tc>
                <a:tc>
                  <a:txBody>
                    <a:bodyPr/>
                    <a:lstStyle/>
                    <a:p>
                      <a:pPr indent="0" marL="0">
                        <a:buNone/>
                      </a:pPr>
                      <a:r>
                        <a:rPr lang="en-US" sz="1100" dirty="0">
                          <a:solidFill>
                            <a:srgbClr val="1A2233"/>
                          </a:solidFill>
                          <a:latin typeface="Calibri" pitchFamily="34" charset="0"/>
                          <a:ea typeface="Calibri" pitchFamily="34" charset="-122"/>
                          <a:cs typeface="Calibri" pitchFamily="34" charset="-120"/>
                        </a:rPr>
                        <a:t>test_tools.py</a:t>
                      </a:r>
                      <a:endParaRPr lang="en-US" sz="1100" dirty="0">
                        <a:latin typeface="Calibri" charset="0"/>
                        <a:ea typeface="Calibri" charset="0"/>
                        <a:cs typeface="Calibri" charset="0"/>
                      </a:endParaRPr>
                    </a:p>
                  </a:txBody>
                  <a:tcPr marL="36576" marR="36576" marT="36576" marB="36576" anchor="ctr">
                    <a:lnL w="9525" cap="flat" cmpd="sng" algn="ctr">
                      <a:solidFill>
                        <a:srgbClr val="D8DEE9"/>
                      </a:solidFill>
                      <a:prstDash val="solid"/>
                      <a:round/>
                      <a:headEnd type="none" w="med" len="med"/>
                      <a:tailEnd type="none" w="med" len="med"/>
                    </a:lnL>
                    <a:lnR w="9525" cap="flat" cmpd="sng" algn="ctr">
                      <a:solidFill>
                        <a:srgbClr val="D8DEE9"/>
                      </a:solidFill>
                      <a:prstDash val="solid"/>
                      <a:round/>
                      <a:headEnd type="none" w="med" len="med"/>
                      <a:tailEnd type="none" w="med" len="med"/>
                    </a:lnR>
                    <a:lnT w="9525" cap="flat" cmpd="sng" algn="ctr">
                      <a:solidFill>
                        <a:srgbClr val="D8DEE9"/>
                      </a:solidFill>
                      <a:prstDash val="solid"/>
                      <a:round/>
                      <a:headEnd type="none" w="med" len="med"/>
                      <a:tailEnd type="none" w="med" len="med"/>
                    </a:lnT>
                    <a:lnB w="9525" cap="flat" cmpd="sng" algn="ctr">
                      <a:solidFill>
                        <a:srgbClr val="D8DEE9"/>
                      </a:solidFill>
                      <a:prstDash val="solid"/>
                      <a:round/>
                      <a:headEnd type="none" w="med" len="med"/>
                      <a:tailEnd type="none" w="med" len="med"/>
                    </a:lnB>
                    <a:solidFill>
                      <a:srgbClr val="FFFFFF"/>
                    </a:solidFill>
                  </a:tcPr>
                </a:tc>
                <a:tc>
                  <a:txBody>
                    <a:bodyPr/>
                    <a:lstStyle/>
                    <a:p>
                      <a:pPr indent="0" marL="0">
                        <a:buNone/>
                      </a:pPr>
                      <a:r>
                        <a:rPr lang="en-US" sz="1100" dirty="0">
                          <a:solidFill>
                            <a:srgbClr val="1A22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36576" marR="36576" marT="36576" marB="36576" anchor="ctr">
                    <a:lnL w="9525" cap="flat" cmpd="sng" algn="ctr">
                      <a:solidFill>
                        <a:srgbClr val="D8DEE9"/>
                      </a:solidFill>
                      <a:prstDash val="solid"/>
                      <a:round/>
                      <a:headEnd type="none" w="med" len="med"/>
                      <a:tailEnd type="none" w="med" len="med"/>
                    </a:lnL>
                    <a:lnR w="9525" cap="flat" cmpd="sng" algn="ctr">
                      <a:solidFill>
                        <a:srgbClr val="D8DEE9"/>
                      </a:solidFill>
                      <a:prstDash val="solid"/>
                      <a:round/>
                      <a:headEnd type="none" w="med" len="med"/>
                      <a:tailEnd type="none" w="med" len="med"/>
                    </a:lnR>
                    <a:lnT w="9525" cap="flat" cmpd="sng" algn="ctr">
                      <a:solidFill>
                        <a:srgbClr val="D8DEE9"/>
                      </a:solidFill>
                      <a:prstDash val="solid"/>
                      <a:round/>
                      <a:headEnd type="none" w="med" len="med"/>
                      <a:tailEnd type="none" w="med" len="med"/>
                    </a:lnT>
                    <a:lnB w="9525" cap="flat" cmpd="sng" algn="ctr">
                      <a:solidFill>
                        <a:srgbClr val="D8DEE9"/>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A2233"/>
                          </a:solidFill>
                          <a:latin typeface="Calibri" pitchFamily="34" charset="0"/>
                          <a:ea typeface="Calibri" pitchFamily="34" charset="-122"/>
                          <a:cs typeface="Calibri" pitchFamily="34" charset="-120"/>
                        </a:rPr>
                        <a:t>2 · Multi-agent routing</a:t>
                      </a:r>
                      <a:endParaRPr lang="en-US" sz="1100" dirty="0">
                        <a:latin typeface="Calibri" charset="0"/>
                        <a:ea typeface="Calibri" charset="0"/>
                        <a:cs typeface="Calibri" charset="0"/>
                      </a:endParaRPr>
                    </a:p>
                  </a:txBody>
                  <a:tcPr marL="36576" marR="36576" marT="36576" marB="36576" anchor="ctr">
                    <a:lnL w="9525" cap="flat" cmpd="sng" algn="ctr">
                      <a:solidFill>
                        <a:srgbClr val="D8DEE9"/>
                      </a:solidFill>
                      <a:prstDash val="solid"/>
                      <a:round/>
                      <a:headEnd type="none" w="med" len="med"/>
                      <a:tailEnd type="none" w="med" len="med"/>
                    </a:lnL>
                    <a:lnR w="9525" cap="flat" cmpd="sng" algn="ctr">
                      <a:solidFill>
                        <a:srgbClr val="D8DEE9"/>
                      </a:solidFill>
                      <a:prstDash val="solid"/>
                      <a:round/>
                      <a:headEnd type="none" w="med" len="med"/>
                      <a:tailEnd type="none" w="med" len="med"/>
                    </a:lnR>
                    <a:lnT w="9525" cap="flat" cmpd="sng" algn="ctr">
                      <a:solidFill>
                        <a:srgbClr val="D8DEE9"/>
                      </a:solidFill>
                      <a:prstDash val="solid"/>
                      <a:round/>
                      <a:headEnd type="none" w="med" len="med"/>
                      <a:tailEnd type="none" w="med" len="med"/>
                    </a:lnT>
                    <a:lnB w="9525" cap="flat" cmpd="sng" algn="ctr">
                      <a:solidFill>
                        <a:srgbClr val="D8DEE9"/>
                      </a:solidFill>
                      <a:prstDash val="solid"/>
                      <a:round/>
                      <a:headEnd type="none" w="med" len="med"/>
                      <a:tailEnd type="none" w="med" len="med"/>
                    </a:lnB>
                    <a:solidFill>
                      <a:srgbClr val="F4F6FA"/>
                    </a:solidFill>
                  </a:tcPr>
                </a:tc>
                <a:tc>
                  <a:txBody>
                    <a:bodyPr/>
                    <a:lstStyle/>
                    <a:p>
                      <a:pPr indent="0" marL="0">
                        <a:buNone/>
                      </a:pPr>
                      <a:r>
                        <a:rPr lang="en-US" sz="1100" dirty="0">
                          <a:solidFill>
                            <a:srgbClr val="1A2233"/>
                          </a:solidFill>
                          <a:latin typeface="Calibri" pitchFamily="34" charset="0"/>
                          <a:ea typeface="Calibri" pitchFamily="34" charset="-122"/>
                          <a:cs typeface="Calibri" pitchFamily="34" charset="-120"/>
                        </a:rPr>
                        <a:t>supervisor.py + workers.py</a:t>
                      </a:r>
                      <a:endParaRPr lang="en-US" sz="1100" dirty="0">
                        <a:latin typeface="Calibri" charset="0"/>
                        <a:ea typeface="Calibri" charset="0"/>
                        <a:cs typeface="Calibri" charset="0"/>
                      </a:endParaRPr>
                    </a:p>
                  </a:txBody>
                  <a:tcPr marL="36576" marR="36576" marT="36576" marB="36576" anchor="ctr">
                    <a:lnL w="9525" cap="flat" cmpd="sng" algn="ctr">
                      <a:solidFill>
                        <a:srgbClr val="D8DEE9"/>
                      </a:solidFill>
                      <a:prstDash val="solid"/>
                      <a:round/>
                      <a:headEnd type="none" w="med" len="med"/>
                      <a:tailEnd type="none" w="med" len="med"/>
                    </a:lnL>
                    <a:lnR w="9525" cap="flat" cmpd="sng" algn="ctr">
                      <a:solidFill>
                        <a:srgbClr val="D8DEE9"/>
                      </a:solidFill>
                      <a:prstDash val="solid"/>
                      <a:round/>
                      <a:headEnd type="none" w="med" len="med"/>
                      <a:tailEnd type="none" w="med" len="med"/>
                    </a:lnR>
                    <a:lnT w="9525" cap="flat" cmpd="sng" algn="ctr">
                      <a:solidFill>
                        <a:srgbClr val="D8DEE9"/>
                      </a:solidFill>
                      <a:prstDash val="solid"/>
                      <a:round/>
                      <a:headEnd type="none" w="med" len="med"/>
                      <a:tailEnd type="none" w="med" len="med"/>
                    </a:lnT>
                    <a:lnB w="9525" cap="flat" cmpd="sng" algn="ctr">
                      <a:solidFill>
                        <a:srgbClr val="D8DEE9"/>
                      </a:solidFill>
                      <a:prstDash val="solid"/>
                      <a:round/>
                      <a:headEnd type="none" w="med" len="med"/>
                      <a:tailEnd type="none" w="med" len="med"/>
                    </a:lnB>
                    <a:solidFill>
                      <a:srgbClr val="F4F6FA"/>
                    </a:solidFill>
                  </a:tcPr>
                </a:tc>
                <a:tc>
                  <a:txBody>
                    <a:bodyPr/>
                    <a:lstStyle/>
                    <a:p>
                      <a:pPr indent="0" marL="0">
                        <a:buNone/>
                      </a:pPr>
                      <a:r>
                        <a:rPr lang="en-US" sz="1100" dirty="0">
                          <a:solidFill>
                            <a:srgbClr val="1A2233"/>
                          </a:solidFill>
                          <a:latin typeface="Calibri" pitchFamily="34" charset="0"/>
                          <a:ea typeface="Calibri" pitchFamily="34" charset="-122"/>
                          <a:cs typeface="Calibri" pitchFamily="34" charset="-120"/>
                        </a:rPr>
                        <a:t>test_supervisor.py</a:t>
                      </a:r>
                      <a:endParaRPr lang="en-US" sz="1100" dirty="0">
                        <a:latin typeface="Calibri" charset="0"/>
                        <a:ea typeface="Calibri" charset="0"/>
                        <a:cs typeface="Calibri" charset="0"/>
                      </a:endParaRPr>
                    </a:p>
                  </a:txBody>
                  <a:tcPr marL="36576" marR="36576" marT="36576" marB="36576" anchor="ctr">
                    <a:lnL w="9525" cap="flat" cmpd="sng" algn="ctr">
                      <a:solidFill>
                        <a:srgbClr val="D8DEE9"/>
                      </a:solidFill>
                      <a:prstDash val="solid"/>
                      <a:round/>
                      <a:headEnd type="none" w="med" len="med"/>
                      <a:tailEnd type="none" w="med" len="med"/>
                    </a:lnL>
                    <a:lnR w="9525" cap="flat" cmpd="sng" algn="ctr">
                      <a:solidFill>
                        <a:srgbClr val="D8DEE9"/>
                      </a:solidFill>
                      <a:prstDash val="solid"/>
                      <a:round/>
                      <a:headEnd type="none" w="med" len="med"/>
                      <a:tailEnd type="none" w="med" len="med"/>
                    </a:lnR>
                    <a:lnT w="9525" cap="flat" cmpd="sng" algn="ctr">
                      <a:solidFill>
                        <a:srgbClr val="D8DEE9"/>
                      </a:solidFill>
                      <a:prstDash val="solid"/>
                      <a:round/>
                      <a:headEnd type="none" w="med" len="med"/>
                      <a:tailEnd type="none" w="med" len="med"/>
                    </a:lnT>
                    <a:lnB w="9525" cap="flat" cmpd="sng" algn="ctr">
                      <a:solidFill>
                        <a:srgbClr val="D8DEE9"/>
                      </a:solidFill>
                      <a:prstDash val="solid"/>
                      <a:round/>
                      <a:headEnd type="none" w="med" len="med"/>
                      <a:tailEnd type="none" w="med" len="med"/>
                    </a:lnB>
                    <a:solidFill>
                      <a:srgbClr val="F4F6FA"/>
                    </a:solidFill>
                  </a:tcPr>
                </a:tc>
                <a:tc>
                  <a:txBody>
                    <a:bodyPr/>
                    <a:lstStyle/>
                    <a:p>
                      <a:pPr indent="0" marL="0">
                        <a:buNone/>
                      </a:pPr>
                      <a:r>
                        <a:rPr lang="en-US" sz="1100" dirty="0">
                          <a:solidFill>
                            <a:srgbClr val="1A22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36576" marR="36576" marT="36576" marB="36576" anchor="ctr">
                    <a:lnL w="9525" cap="flat" cmpd="sng" algn="ctr">
                      <a:solidFill>
                        <a:srgbClr val="D8DEE9"/>
                      </a:solidFill>
                      <a:prstDash val="solid"/>
                      <a:round/>
                      <a:headEnd type="none" w="med" len="med"/>
                      <a:tailEnd type="none" w="med" len="med"/>
                    </a:lnL>
                    <a:lnR w="9525" cap="flat" cmpd="sng" algn="ctr">
                      <a:solidFill>
                        <a:srgbClr val="D8DEE9"/>
                      </a:solidFill>
                      <a:prstDash val="solid"/>
                      <a:round/>
                      <a:headEnd type="none" w="med" len="med"/>
                      <a:tailEnd type="none" w="med" len="med"/>
                    </a:lnR>
                    <a:lnT w="9525" cap="flat" cmpd="sng" algn="ctr">
                      <a:solidFill>
                        <a:srgbClr val="D8DEE9"/>
                      </a:solidFill>
                      <a:prstDash val="solid"/>
                      <a:round/>
                      <a:headEnd type="none" w="med" len="med"/>
                      <a:tailEnd type="none" w="med" len="med"/>
                    </a:lnT>
                    <a:lnB w="9525" cap="flat" cmpd="sng" algn="ctr">
                      <a:solidFill>
                        <a:srgbClr val="D8DEE9"/>
                      </a:solidFill>
                      <a:prstDash val="solid"/>
                      <a:round/>
                      <a:headEnd type="none" w="med" len="med"/>
                      <a:tailEnd type="none" w="med" len="med"/>
                    </a:lnB>
                    <a:solidFill>
                      <a:srgbClr val="F4F6FA"/>
                    </a:solidFill>
                  </a:tcPr>
                </a:tc>
              </a:tr>
              <a:tr h="0">
                <a:tc>
                  <a:txBody>
                    <a:bodyPr/>
                    <a:lstStyle/>
                    <a:p>
                      <a:pPr indent="0" marL="0">
                        <a:buNone/>
                      </a:pPr>
                      <a:r>
                        <a:rPr lang="en-US" sz="1100" dirty="0">
                          <a:solidFill>
                            <a:srgbClr val="1A2233"/>
                          </a:solidFill>
                          <a:latin typeface="Calibri" pitchFamily="34" charset="0"/>
                          <a:ea typeface="Calibri" pitchFamily="34" charset="-122"/>
                          <a:cs typeface="Calibri" pitchFamily="34" charset="-120"/>
                        </a:rPr>
                        <a:t>3 · RAG pipeline</a:t>
                      </a:r>
                      <a:endParaRPr lang="en-US" sz="1100" dirty="0">
                        <a:latin typeface="Calibri" charset="0"/>
                        <a:ea typeface="Calibri" charset="0"/>
                        <a:cs typeface="Calibri" charset="0"/>
                      </a:endParaRPr>
                    </a:p>
                  </a:txBody>
                  <a:tcPr marL="36576" marR="36576" marT="36576" marB="36576" anchor="ctr">
                    <a:lnL w="9525" cap="flat" cmpd="sng" algn="ctr">
                      <a:solidFill>
                        <a:srgbClr val="D8DEE9"/>
                      </a:solidFill>
                      <a:prstDash val="solid"/>
                      <a:round/>
                      <a:headEnd type="none" w="med" len="med"/>
                      <a:tailEnd type="none" w="med" len="med"/>
                    </a:lnL>
                    <a:lnR w="9525" cap="flat" cmpd="sng" algn="ctr">
                      <a:solidFill>
                        <a:srgbClr val="D8DEE9"/>
                      </a:solidFill>
                      <a:prstDash val="solid"/>
                      <a:round/>
                      <a:headEnd type="none" w="med" len="med"/>
                      <a:tailEnd type="none" w="med" len="med"/>
                    </a:lnR>
                    <a:lnT w="9525" cap="flat" cmpd="sng" algn="ctr">
                      <a:solidFill>
                        <a:srgbClr val="D8DEE9"/>
                      </a:solidFill>
                      <a:prstDash val="solid"/>
                      <a:round/>
                      <a:headEnd type="none" w="med" len="med"/>
                      <a:tailEnd type="none" w="med" len="med"/>
                    </a:lnT>
                    <a:lnB w="9525" cap="flat" cmpd="sng" algn="ctr">
                      <a:solidFill>
                        <a:srgbClr val="D8DEE9"/>
                      </a:solidFill>
                      <a:prstDash val="solid"/>
                      <a:round/>
                      <a:headEnd type="none" w="med" len="med"/>
                      <a:tailEnd type="none" w="med" len="med"/>
                    </a:lnB>
                    <a:solidFill>
                      <a:srgbClr val="FFFFFF"/>
                    </a:solidFill>
                  </a:tcPr>
                </a:tc>
                <a:tc>
                  <a:txBody>
                    <a:bodyPr/>
                    <a:lstStyle/>
                    <a:p>
                      <a:pPr indent="0" marL="0">
                        <a:buNone/>
                      </a:pPr>
                      <a:r>
                        <a:rPr lang="en-US" sz="1100" dirty="0">
                          <a:solidFill>
                            <a:srgbClr val="1A2233"/>
                          </a:solidFill>
                          <a:latin typeface="Calibri" pitchFamily="34" charset="0"/>
                          <a:ea typeface="Calibri" pitchFamily="34" charset="-122"/>
                          <a:cs typeface="Calibri" pitchFamily="34" charset="-120"/>
                        </a:rPr>
                        <a:t>rag.py (+ written justification)</a:t>
                      </a:r>
                      <a:endParaRPr lang="en-US" sz="1100" dirty="0">
                        <a:latin typeface="Calibri" charset="0"/>
                        <a:ea typeface="Calibri" charset="0"/>
                        <a:cs typeface="Calibri" charset="0"/>
                      </a:endParaRPr>
                    </a:p>
                  </a:txBody>
                  <a:tcPr marL="36576" marR="36576" marT="36576" marB="36576" anchor="ctr">
                    <a:lnL w="9525" cap="flat" cmpd="sng" algn="ctr">
                      <a:solidFill>
                        <a:srgbClr val="D8DEE9"/>
                      </a:solidFill>
                      <a:prstDash val="solid"/>
                      <a:round/>
                      <a:headEnd type="none" w="med" len="med"/>
                      <a:tailEnd type="none" w="med" len="med"/>
                    </a:lnL>
                    <a:lnR w="9525" cap="flat" cmpd="sng" algn="ctr">
                      <a:solidFill>
                        <a:srgbClr val="D8DEE9"/>
                      </a:solidFill>
                      <a:prstDash val="solid"/>
                      <a:round/>
                      <a:headEnd type="none" w="med" len="med"/>
                      <a:tailEnd type="none" w="med" len="med"/>
                    </a:lnR>
                    <a:lnT w="9525" cap="flat" cmpd="sng" algn="ctr">
                      <a:solidFill>
                        <a:srgbClr val="D8DEE9"/>
                      </a:solidFill>
                      <a:prstDash val="solid"/>
                      <a:round/>
                      <a:headEnd type="none" w="med" len="med"/>
                      <a:tailEnd type="none" w="med" len="med"/>
                    </a:lnT>
                    <a:lnB w="9525" cap="flat" cmpd="sng" algn="ctr">
                      <a:solidFill>
                        <a:srgbClr val="D8DEE9"/>
                      </a:solidFill>
                      <a:prstDash val="solid"/>
                      <a:round/>
                      <a:headEnd type="none" w="med" len="med"/>
                      <a:tailEnd type="none" w="med" len="med"/>
                    </a:lnB>
                    <a:solidFill>
                      <a:srgbClr val="FFFFFF"/>
                    </a:solidFill>
                  </a:tcPr>
                </a:tc>
                <a:tc>
                  <a:txBody>
                    <a:bodyPr/>
                    <a:lstStyle/>
                    <a:p>
                      <a:pPr indent="0" marL="0">
                        <a:buNone/>
                      </a:pPr>
                      <a:r>
                        <a:rPr lang="en-US" sz="1100" dirty="0">
                          <a:solidFill>
                            <a:srgbClr val="1A2233"/>
                          </a:solidFill>
                          <a:latin typeface="Calibri" pitchFamily="34" charset="0"/>
                          <a:ea typeface="Calibri" pitchFamily="34" charset="-122"/>
                          <a:cs typeface="Calibri" pitchFamily="34" charset="-120"/>
                        </a:rPr>
                        <a:t>test_rag.py</a:t>
                      </a:r>
                      <a:endParaRPr lang="en-US" sz="1100" dirty="0">
                        <a:latin typeface="Calibri" charset="0"/>
                        <a:ea typeface="Calibri" charset="0"/>
                        <a:cs typeface="Calibri" charset="0"/>
                      </a:endParaRPr>
                    </a:p>
                  </a:txBody>
                  <a:tcPr marL="36576" marR="36576" marT="36576" marB="36576" anchor="ctr">
                    <a:lnL w="9525" cap="flat" cmpd="sng" algn="ctr">
                      <a:solidFill>
                        <a:srgbClr val="D8DEE9"/>
                      </a:solidFill>
                      <a:prstDash val="solid"/>
                      <a:round/>
                      <a:headEnd type="none" w="med" len="med"/>
                      <a:tailEnd type="none" w="med" len="med"/>
                    </a:lnL>
                    <a:lnR w="9525" cap="flat" cmpd="sng" algn="ctr">
                      <a:solidFill>
                        <a:srgbClr val="D8DEE9"/>
                      </a:solidFill>
                      <a:prstDash val="solid"/>
                      <a:round/>
                      <a:headEnd type="none" w="med" len="med"/>
                      <a:tailEnd type="none" w="med" len="med"/>
                    </a:lnR>
                    <a:lnT w="9525" cap="flat" cmpd="sng" algn="ctr">
                      <a:solidFill>
                        <a:srgbClr val="D8DEE9"/>
                      </a:solidFill>
                      <a:prstDash val="solid"/>
                      <a:round/>
                      <a:headEnd type="none" w="med" len="med"/>
                      <a:tailEnd type="none" w="med" len="med"/>
                    </a:lnT>
                    <a:lnB w="9525" cap="flat" cmpd="sng" algn="ctr">
                      <a:solidFill>
                        <a:srgbClr val="D8DEE9"/>
                      </a:solidFill>
                      <a:prstDash val="solid"/>
                      <a:round/>
                      <a:headEnd type="none" w="med" len="med"/>
                      <a:tailEnd type="none" w="med" len="med"/>
                    </a:lnB>
                    <a:solidFill>
                      <a:srgbClr val="FFFFFF"/>
                    </a:solidFill>
                  </a:tcPr>
                </a:tc>
                <a:tc>
                  <a:txBody>
                    <a:bodyPr/>
                    <a:lstStyle/>
                    <a:p>
                      <a:pPr indent="0" marL="0">
                        <a:buNone/>
                      </a:pPr>
                      <a:r>
                        <a:rPr lang="en-US" sz="1100" dirty="0">
                          <a:solidFill>
                            <a:srgbClr val="1A2233"/>
                          </a:solidFill>
                          <a:latin typeface="Calibri" pitchFamily="34" charset="0"/>
                          <a:ea typeface="Calibri" pitchFamily="34" charset="-122"/>
                          <a:cs typeface="Calibri" pitchFamily="34" charset="-120"/>
                        </a:rPr>
                        <a:t>§4</a:t>
                      </a:r>
                      <a:endParaRPr lang="en-US" sz="1100" dirty="0">
                        <a:latin typeface="Calibri" charset="0"/>
                        <a:ea typeface="Calibri" charset="0"/>
                        <a:cs typeface="Calibri" charset="0"/>
                      </a:endParaRPr>
                    </a:p>
                  </a:txBody>
                  <a:tcPr marL="36576" marR="36576" marT="36576" marB="36576" anchor="ctr">
                    <a:lnL w="9525" cap="flat" cmpd="sng" algn="ctr">
                      <a:solidFill>
                        <a:srgbClr val="D8DEE9"/>
                      </a:solidFill>
                      <a:prstDash val="solid"/>
                      <a:round/>
                      <a:headEnd type="none" w="med" len="med"/>
                      <a:tailEnd type="none" w="med" len="med"/>
                    </a:lnL>
                    <a:lnR w="9525" cap="flat" cmpd="sng" algn="ctr">
                      <a:solidFill>
                        <a:srgbClr val="D8DEE9"/>
                      </a:solidFill>
                      <a:prstDash val="solid"/>
                      <a:round/>
                      <a:headEnd type="none" w="med" len="med"/>
                      <a:tailEnd type="none" w="med" len="med"/>
                    </a:lnR>
                    <a:lnT w="9525" cap="flat" cmpd="sng" algn="ctr">
                      <a:solidFill>
                        <a:srgbClr val="D8DEE9"/>
                      </a:solidFill>
                      <a:prstDash val="solid"/>
                      <a:round/>
                      <a:headEnd type="none" w="med" len="med"/>
                      <a:tailEnd type="none" w="med" len="med"/>
                    </a:lnT>
                    <a:lnB w="9525" cap="flat" cmpd="sng" algn="ctr">
                      <a:solidFill>
                        <a:srgbClr val="D8DEE9"/>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A2233"/>
                          </a:solidFill>
                          <a:latin typeface="Calibri" pitchFamily="34" charset="0"/>
                          <a:ea typeface="Calibri" pitchFamily="34" charset="-122"/>
                          <a:cs typeface="Calibri" pitchFamily="34" charset="-120"/>
                        </a:rPr>
                        <a:t>4 · Context &amp; state</a:t>
                      </a:r>
                      <a:endParaRPr lang="en-US" sz="1100" dirty="0">
                        <a:latin typeface="Calibri" charset="0"/>
                        <a:ea typeface="Calibri" charset="0"/>
                        <a:cs typeface="Calibri" charset="0"/>
                      </a:endParaRPr>
                    </a:p>
                  </a:txBody>
                  <a:tcPr marL="36576" marR="36576" marT="36576" marB="36576" anchor="ctr">
                    <a:lnL w="9525" cap="flat" cmpd="sng" algn="ctr">
                      <a:solidFill>
                        <a:srgbClr val="D8DEE9"/>
                      </a:solidFill>
                      <a:prstDash val="solid"/>
                      <a:round/>
                      <a:headEnd type="none" w="med" len="med"/>
                      <a:tailEnd type="none" w="med" len="med"/>
                    </a:lnL>
                    <a:lnR w="9525" cap="flat" cmpd="sng" algn="ctr">
                      <a:solidFill>
                        <a:srgbClr val="D8DEE9"/>
                      </a:solidFill>
                      <a:prstDash val="solid"/>
                      <a:round/>
                      <a:headEnd type="none" w="med" len="med"/>
                      <a:tailEnd type="none" w="med" len="med"/>
                    </a:lnR>
                    <a:lnT w="9525" cap="flat" cmpd="sng" algn="ctr">
                      <a:solidFill>
                        <a:srgbClr val="D8DEE9"/>
                      </a:solidFill>
                      <a:prstDash val="solid"/>
                      <a:round/>
                      <a:headEnd type="none" w="med" len="med"/>
                      <a:tailEnd type="none" w="med" len="med"/>
                    </a:lnT>
                    <a:lnB w="9525" cap="flat" cmpd="sng" algn="ctr">
                      <a:solidFill>
                        <a:srgbClr val="D8DEE9"/>
                      </a:solidFill>
                      <a:prstDash val="solid"/>
                      <a:round/>
                      <a:headEnd type="none" w="med" len="med"/>
                      <a:tailEnd type="none" w="med" len="med"/>
                    </a:lnB>
                    <a:solidFill>
                      <a:srgbClr val="F4F6FA"/>
                    </a:solidFill>
                  </a:tcPr>
                </a:tc>
                <a:tc>
                  <a:txBody>
                    <a:bodyPr/>
                    <a:lstStyle/>
                    <a:p>
                      <a:pPr indent="0" marL="0">
                        <a:buNone/>
                      </a:pPr>
                      <a:r>
                        <a:rPr lang="en-US" sz="1100" dirty="0">
                          <a:solidFill>
                            <a:srgbClr val="1A2233"/>
                          </a:solidFill>
                          <a:latin typeface="Calibri" pitchFamily="34" charset="0"/>
                          <a:ea typeface="Calibri" pitchFamily="34" charset="-122"/>
                          <a:cs typeface="Calibri" pitchFamily="34" charset="-120"/>
                        </a:rPr>
                        <a:t>memory.py (Saver + Store)</a:t>
                      </a:r>
                      <a:endParaRPr lang="en-US" sz="1100" dirty="0">
                        <a:latin typeface="Calibri" charset="0"/>
                        <a:ea typeface="Calibri" charset="0"/>
                        <a:cs typeface="Calibri" charset="0"/>
                      </a:endParaRPr>
                    </a:p>
                  </a:txBody>
                  <a:tcPr marL="36576" marR="36576" marT="36576" marB="36576" anchor="ctr">
                    <a:lnL w="9525" cap="flat" cmpd="sng" algn="ctr">
                      <a:solidFill>
                        <a:srgbClr val="D8DEE9"/>
                      </a:solidFill>
                      <a:prstDash val="solid"/>
                      <a:round/>
                      <a:headEnd type="none" w="med" len="med"/>
                      <a:tailEnd type="none" w="med" len="med"/>
                    </a:lnL>
                    <a:lnR w="9525" cap="flat" cmpd="sng" algn="ctr">
                      <a:solidFill>
                        <a:srgbClr val="D8DEE9"/>
                      </a:solidFill>
                      <a:prstDash val="solid"/>
                      <a:round/>
                      <a:headEnd type="none" w="med" len="med"/>
                      <a:tailEnd type="none" w="med" len="med"/>
                    </a:lnR>
                    <a:lnT w="9525" cap="flat" cmpd="sng" algn="ctr">
                      <a:solidFill>
                        <a:srgbClr val="D8DEE9"/>
                      </a:solidFill>
                      <a:prstDash val="solid"/>
                      <a:round/>
                      <a:headEnd type="none" w="med" len="med"/>
                      <a:tailEnd type="none" w="med" len="med"/>
                    </a:lnT>
                    <a:lnB w="9525" cap="flat" cmpd="sng" algn="ctr">
                      <a:solidFill>
                        <a:srgbClr val="D8DEE9"/>
                      </a:solidFill>
                      <a:prstDash val="solid"/>
                      <a:round/>
                      <a:headEnd type="none" w="med" len="med"/>
                      <a:tailEnd type="none" w="med" len="med"/>
                    </a:lnB>
                    <a:solidFill>
                      <a:srgbClr val="F4F6FA"/>
                    </a:solidFill>
                  </a:tcPr>
                </a:tc>
                <a:tc>
                  <a:txBody>
                    <a:bodyPr/>
                    <a:lstStyle/>
                    <a:p>
                      <a:pPr indent="0" marL="0">
                        <a:buNone/>
                      </a:pPr>
                      <a:r>
                        <a:rPr lang="en-US" sz="1100" dirty="0">
                          <a:solidFill>
                            <a:srgbClr val="1A2233"/>
                          </a:solidFill>
                          <a:latin typeface="Calibri" pitchFamily="34" charset="0"/>
                          <a:ea typeface="Calibri" pitchFamily="34" charset="-122"/>
                          <a:cs typeface="Calibri" pitchFamily="34" charset="-120"/>
                        </a:rPr>
                        <a:t>test_memory.py</a:t>
                      </a:r>
                      <a:endParaRPr lang="en-US" sz="1100" dirty="0">
                        <a:latin typeface="Calibri" charset="0"/>
                        <a:ea typeface="Calibri" charset="0"/>
                        <a:cs typeface="Calibri" charset="0"/>
                      </a:endParaRPr>
                    </a:p>
                  </a:txBody>
                  <a:tcPr marL="36576" marR="36576" marT="36576" marB="36576" anchor="ctr">
                    <a:lnL w="9525" cap="flat" cmpd="sng" algn="ctr">
                      <a:solidFill>
                        <a:srgbClr val="D8DEE9"/>
                      </a:solidFill>
                      <a:prstDash val="solid"/>
                      <a:round/>
                      <a:headEnd type="none" w="med" len="med"/>
                      <a:tailEnd type="none" w="med" len="med"/>
                    </a:lnL>
                    <a:lnR w="9525" cap="flat" cmpd="sng" algn="ctr">
                      <a:solidFill>
                        <a:srgbClr val="D8DEE9"/>
                      </a:solidFill>
                      <a:prstDash val="solid"/>
                      <a:round/>
                      <a:headEnd type="none" w="med" len="med"/>
                      <a:tailEnd type="none" w="med" len="med"/>
                    </a:lnR>
                    <a:lnT w="9525" cap="flat" cmpd="sng" algn="ctr">
                      <a:solidFill>
                        <a:srgbClr val="D8DEE9"/>
                      </a:solidFill>
                      <a:prstDash val="solid"/>
                      <a:round/>
                      <a:headEnd type="none" w="med" len="med"/>
                      <a:tailEnd type="none" w="med" len="med"/>
                    </a:lnT>
                    <a:lnB w="9525" cap="flat" cmpd="sng" algn="ctr">
                      <a:solidFill>
                        <a:srgbClr val="D8DEE9"/>
                      </a:solidFill>
                      <a:prstDash val="solid"/>
                      <a:round/>
                      <a:headEnd type="none" w="med" len="med"/>
                      <a:tailEnd type="none" w="med" len="med"/>
                    </a:lnB>
                    <a:solidFill>
                      <a:srgbClr val="F4F6FA"/>
                    </a:solidFill>
                  </a:tcPr>
                </a:tc>
                <a:tc>
                  <a:txBody>
                    <a:bodyPr/>
                    <a:lstStyle/>
                    <a:p>
                      <a:pPr indent="0" marL="0">
                        <a:buNone/>
                      </a:pPr>
                      <a:r>
                        <a:rPr lang="en-US" sz="1100" dirty="0">
                          <a:solidFill>
                            <a:srgbClr val="1A2233"/>
                          </a:solidFill>
                          <a:latin typeface="Calibri" pitchFamily="34" charset="0"/>
                          <a:ea typeface="Calibri" pitchFamily="34" charset="-122"/>
                          <a:cs typeface="Calibri" pitchFamily="34" charset="-120"/>
                        </a:rPr>
                        <a:t>§5</a:t>
                      </a:r>
                      <a:endParaRPr lang="en-US" sz="1100" dirty="0">
                        <a:latin typeface="Calibri" charset="0"/>
                        <a:ea typeface="Calibri" charset="0"/>
                        <a:cs typeface="Calibri" charset="0"/>
                      </a:endParaRPr>
                    </a:p>
                  </a:txBody>
                  <a:tcPr marL="36576" marR="36576" marT="36576" marB="36576" anchor="ctr">
                    <a:lnL w="9525" cap="flat" cmpd="sng" algn="ctr">
                      <a:solidFill>
                        <a:srgbClr val="D8DEE9"/>
                      </a:solidFill>
                      <a:prstDash val="solid"/>
                      <a:round/>
                      <a:headEnd type="none" w="med" len="med"/>
                      <a:tailEnd type="none" w="med" len="med"/>
                    </a:lnL>
                    <a:lnR w="9525" cap="flat" cmpd="sng" algn="ctr">
                      <a:solidFill>
                        <a:srgbClr val="D8DEE9"/>
                      </a:solidFill>
                      <a:prstDash val="solid"/>
                      <a:round/>
                      <a:headEnd type="none" w="med" len="med"/>
                      <a:tailEnd type="none" w="med" len="med"/>
                    </a:lnR>
                    <a:lnT w="9525" cap="flat" cmpd="sng" algn="ctr">
                      <a:solidFill>
                        <a:srgbClr val="D8DEE9"/>
                      </a:solidFill>
                      <a:prstDash val="solid"/>
                      <a:round/>
                      <a:headEnd type="none" w="med" len="med"/>
                      <a:tailEnd type="none" w="med" len="med"/>
                    </a:lnT>
                    <a:lnB w="9525" cap="flat" cmpd="sng" algn="ctr">
                      <a:solidFill>
                        <a:srgbClr val="D8DEE9"/>
                      </a:solidFill>
                      <a:prstDash val="solid"/>
                      <a:round/>
                      <a:headEnd type="none" w="med" len="med"/>
                      <a:tailEnd type="none" w="med" len="med"/>
                    </a:lnB>
                    <a:solidFill>
                      <a:srgbClr val="F4F6FA"/>
                    </a:solidFill>
                  </a:tcPr>
                </a:tc>
              </a:tr>
              <a:tr h="0">
                <a:tc>
                  <a:txBody>
                    <a:bodyPr/>
                    <a:lstStyle/>
                    <a:p>
                      <a:pPr indent="0" marL="0">
                        <a:buNone/>
                      </a:pPr>
                      <a:r>
                        <a:rPr lang="en-US" sz="1100" dirty="0">
                          <a:solidFill>
                            <a:srgbClr val="1A2233"/>
                          </a:solidFill>
                          <a:latin typeface="Calibri" pitchFamily="34" charset="0"/>
                          <a:ea typeface="Calibri" pitchFamily="34" charset="-122"/>
                          <a:cs typeface="Calibri" pitchFamily="34" charset="-120"/>
                        </a:rPr>
                        <a:t>5 · Human-in-the-loop</a:t>
                      </a:r>
                      <a:endParaRPr lang="en-US" sz="1100" dirty="0">
                        <a:latin typeface="Calibri" charset="0"/>
                        <a:ea typeface="Calibri" charset="0"/>
                        <a:cs typeface="Calibri" charset="0"/>
                      </a:endParaRPr>
                    </a:p>
                  </a:txBody>
                  <a:tcPr marL="36576" marR="36576" marT="36576" marB="36576" anchor="ctr">
                    <a:lnL w="9525" cap="flat" cmpd="sng" algn="ctr">
                      <a:solidFill>
                        <a:srgbClr val="D8DEE9"/>
                      </a:solidFill>
                      <a:prstDash val="solid"/>
                      <a:round/>
                      <a:headEnd type="none" w="med" len="med"/>
                      <a:tailEnd type="none" w="med" len="med"/>
                    </a:lnL>
                    <a:lnR w="9525" cap="flat" cmpd="sng" algn="ctr">
                      <a:solidFill>
                        <a:srgbClr val="D8DEE9"/>
                      </a:solidFill>
                      <a:prstDash val="solid"/>
                      <a:round/>
                      <a:headEnd type="none" w="med" len="med"/>
                      <a:tailEnd type="none" w="med" len="med"/>
                    </a:lnR>
                    <a:lnT w="9525" cap="flat" cmpd="sng" algn="ctr">
                      <a:solidFill>
                        <a:srgbClr val="D8DEE9"/>
                      </a:solidFill>
                      <a:prstDash val="solid"/>
                      <a:round/>
                      <a:headEnd type="none" w="med" len="med"/>
                      <a:tailEnd type="none" w="med" len="med"/>
                    </a:lnT>
                    <a:lnB w="9525" cap="flat" cmpd="sng" algn="ctr">
                      <a:solidFill>
                        <a:srgbClr val="D8DEE9"/>
                      </a:solidFill>
                      <a:prstDash val="solid"/>
                      <a:round/>
                      <a:headEnd type="none" w="med" len="med"/>
                      <a:tailEnd type="none" w="med" len="med"/>
                    </a:lnB>
                    <a:solidFill>
                      <a:srgbClr val="FFFFFF"/>
                    </a:solidFill>
                  </a:tcPr>
                </a:tc>
                <a:tc>
                  <a:txBody>
                    <a:bodyPr/>
                    <a:lstStyle/>
                    <a:p>
                      <a:pPr indent="0" marL="0">
                        <a:buNone/>
                      </a:pPr>
                      <a:r>
                        <a:rPr lang="en-US" sz="1100" dirty="0">
                          <a:solidFill>
                            <a:srgbClr val="1A2233"/>
                          </a:solidFill>
                          <a:latin typeface="Calibri" pitchFamily="34" charset="0"/>
                          <a:ea typeface="Calibri" pitchFamily="34" charset="-122"/>
                          <a:cs typeface="Calibri" pitchFamily="34" charset="-120"/>
                        </a:rPr>
                        <a:t>app.py (interrupt/resume)</a:t>
                      </a:r>
                      <a:endParaRPr lang="en-US" sz="1100" dirty="0">
                        <a:latin typeface="Calibri" charset="0"/>
                        <a:ea typeface="Calibri" charset="0"/>
                        <a:cs typeface="Calibri" charset="0"/>
                      </a:endParaRPr>
                    </a:p>
                  </a:txBody>
                  <a:tcPr marL="36576" marR="36576" marT="36576" marB="36576" anchor="ctr">
                    <a:lnL w="9525" cap="flat" cmpd="sng" algn="ctr">
                      <a:solidFill>
                        <a:srgbClr val="D8DEE9"/>
                      </a:solidFill>
                      <a:prstDash val="solid"/>
                      <a:round/>
                      <a:headEnd type="none" w="med" len="med"/>
                      <a:tailEnd type="none" w="med" len="med"/>
                    </a:lnL>
                    <a:lnR w="9525" cap="flat" cmpd="sng" algn="ctr">
                      <a:solidFill>
                        <a:srgbClr val="D8DEE9"/>
                      </a:solidFill>
                      <a:prstDash val="solid"/>
                      <a:round/>
                      <a:headEnd type="none" w="med" len="med"/>
                      <a:tailEnd type="none" w="med" len="med"/>
                    </a:lnR>
                    <a:lnT w="9525" cap="flat" cmpd="sng" algn="ctr">
                      <a:solidFill>
                        <a:srgbClr val="D8DEE9"/>
                      </a:solidFill>
                      <a:prstDash val="solid"/>
                      <a:round/>
                      <a:headEnd type="none" w="med" len="med"/>
                      <a:tailEnd type="none" w="med" len="med"/>
                    </a:lnT>
                    <a:lnB w="9525" cap="flat" cmpd="sng" algn="ctr">
                      <a:solidFill>
                        <a:srgbClr val="D8DEE9"/>
                      </a:solidFill>
                      <a:prstDash val="solid"/>
                      <a:round/>
                      <a:headEnd type="none" w="med" len="med"/>
                      <a:tailEnd type="none" w="med" len="med"/>
                    </a:lnB>
                    <a:solidFill>
                      <a:srgbClr val="FFFFFF"/>
                    </a:solidFill>
                  </a:tcPr>
                </a:tc>
                <a:tc>
                  <a:txBody>
                    <a:bodyPr/>
                    <a:lstStyle/>
                    <a:p>
                      <a:pPr indent="0" marL="0">
                        <a:buNone/>
                      </a:pPr>
                      <a:r>
                        <a:rPr lang="en-US" sz="1100" dirty="0">
                          <a:solidFill>
                            <a:srgbClr val="1A2233"/>
                          </a:solidFill>
                          <a:latin typeface="Calibri" pitchFamily="34" charset="0"/>
                          <a:ea typeface="Calibri" pitchFamily="34" charset="-122"/>
                          <a:cs typeface="Calibri" pitchFamily="34" charset="-120"/>
                        </a:rPr>
                        <a:t>test_hitl.py</a:t>
                      </a:r>
                      <a:endParaRPr lang="en-US" sz="1100" dirty="0">
                        <a:latin typeface="Calibri" charset="0"/>
                        <a:ea typeface="Calibri" charset="0"/>
                        <a:cs typeface="Calibri" charset="0"/>
                      </a:endParaRPr>
                    </a:p>
                  </a:txBody>
                  <a:tcPr marL="36576" marR="36576" marT="36576" marB="36576" anchor="ctr">
                    <a:lnL w="9525" cap="flat" cmpd="sng" algn="ctr">
                      <a:solidFill>
                        <a:srgbClr val="D8DEE9"/>
                      </a:solidFill>
                      <a:prstDash val="solid"/>
                      <a:round/>
                      <a:headEnd type="none" w="med" len="med"/>
                      <a:tailEnd type="none" w="med" len="med"/>
                    </a:lnL>
                    <a:lnR w="9525" cap="flat" cmpd="sng" algn="ctr">
                      <a:solidFill>
                        <a:srgbClr val="D8DEE9"/>
                      </a:solidFill>
                      <a:prstDash val="solid"/>
                      <a:round/>
                      <a:headEnd type="none" w="med" len="med"/>
                      <a:tailEnd type="none" w="med" len="med"/>
                    </a:lnR>
                    <a:lnT w="9525" cap="flat" cmpd="sng" algn="ctr">
                      <a:solidFill>
                        <a:srgbClr val="D8DEE9"/>
                      </a:solidFill>
                      <a:prstDash val="solid"/>
                      <a:round/>
                      <a:headEnd type="none" w="med" len="med"/>
                      <a:tailEnd type="none" w="med" len="med"/>
                    </a:lnT>
                    <a:lnB w="9525" cap="flat" cmpd="sng" algn="ctr">
                      <a:solidFill>
                        <a:srgbClr val="D8DEE9"/>
                      </a:solidFill>
                      <a:prstDash val="solid"/>
                      <a:round/>
                      <a:headEnd type="none" w="med" len="med"/>
                      <a:tailEnd type="none" w="med" len="med"/>
                    </a:lnB>
                    <a:solidFill>
                      <a:srgbClr val="FFFFFF"/>
                    </a:solidFill>
                  </a:tcPr>
                </a:tc>
                <a:tc>
                  <a:txBody>
                    <a:bodyPr/>
                    <a:lstStyle/>
                    <a:p>
                      <a:pPr indent="0" marL="0">
                        <a:buNone/>
                      </a:pPr>
                      <a:r>
                        <a:rPr lang="en-US" sz="1100" dirty="0">
                          <a:solidFill>
                            <a:srgbClr val="1A2233"/>
                          </a:solidFill>
                          <a:latin typeface="Calibri" pitchFamily="34" charset="0"/>
                          <a:ea typeface="Calibri" pitchFamily="34" charset="-122"/>
                          <a:cs typeface="Calibri" pitchFamily="34" charset="-120"/>
                        </a:rPr>
                        <a:t>§6</a:t>
                      </a:r>
                      <a:endParaRPr lang="en-US" sz="1100" dirty="0">
                        <a:latin typeface="Calibri" charset="0"/>
                        <a:ea typeface="Calibri" charset="0"/>
                        <a:cs typeface="Calibri" charset="0"/>
                      </a:endParaRPr>
                    </a:p>
                  </a:txBody>
                  <a:tcPr marL="36576" marR="36576" marT="36576" marB="36576" anchor="ctr">
                    <a:lnL w="9525" cap="flat" cmpd="sng" algn="ctr">
                      <a:solidFill>
                        <a:srgbClr val="D8DEE9"/>
                      </a:solidFill>
                      <a:prstDash val="solid"/>
                      <a:round/>
                      <a:headEnd type="none" w="med" len="med"/>
                      <a:tailEnd type="none" w="med" len="med"/>
                    </a:lnL>
                    <a:lnR w="9525" cap="flat" cmpd="sng" algn="ctr">
                      <a:solidFill>
                        <a:srgbClr val="D8DEE9"/>
                      </a:solidFill>
                      <a:prstDash val="solid"/>
                      <a:round/>
                      <a:headEnd type="none" w="med" len="med"/>
                      <a:tailEnd type="none" w="med" len="med"/>
                    </a:lnR>
                    <a:lnT w="9525" cap="flat" cmpd="sng" algn="ctr">
                      <a:solidFill>
                        <a:srgbClr val="D8DEE9"/>
                      </a:solidFill>
                      <a:prstDash val="solid"/>
                      <a:round/>
                      <a:headEnd type="none" w="med" len="med"/>
                      <a:tailEnd type="none" w="med" len="med"/>
                    </a:lnT>
                    <a:lnB w="9525" cap="flat" cmpd="sng" algn="ctr">
                      <a:solidFill>
                        <a:srgbClr val="D8DEE9"/>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A2233"/>
                          </a:solidFill>
                          <a:latin typeface="Calibri" pitchFamily="34" charset="0"/>
                          <a:ea typeface="Calibri" pitchFamily="34" charset="-122"/>
                          <a:cs typeface="Calibri" pitchFamily="34" charset="-120"/>
                        </a:rPr>
                        <a:t>6 · Functional API + errors</a:t>
                      </a:r>
                      <a:endParaRPr lang="en-US" sz="1100" dirty="0">
                        <a:latin typeface="Calibri" charset="0"/>
                        <a:ea typeface="Calibri" charset="0"/>
                        <a:cs typeface="Calibri" charset="0"/>
                      </a:endParaRPr>
                    </a:p>
                  </a:txBody>
                  <a:tcPr marL="36576" marR="36576" marT="36576" marB="36576" anchor="ctr">
                    <a:lnL w="9525" cap="flat" cmpd="sng" algn="ctr">
                      <a:solidFill>
                        <a:srgbClr val="D8DEE9"/>
                      </a:solidFill>
                      <a:prstDash val="solid"/>
                      <a:round/>
                      <a:headEnd type="none" w="med" len="med"/>
                      <a:tailEnd type="none" w="med" len="med"/>
                    </a:lnL>
                    <a:lnR w="9525" cap="flat" cmpd="sng" algn="ctr">
                      <a:solidFill>
                        <a:srgbClr val="D8DEE9"/>
                      </a:solidFill>
                      <a:prstDash val="solid"/>
                      <a:round/>
                      <a:headEnd type="none" w="med" len="med"/>
                      <a:tailEnd type="none" w="med" len="med"/>
                    </a:lnR>
                    <a:lnT w="9525" cap="flat" cmpd="sng" algn="ctr">
                      <a:solidFill>
                        <a:srgbClr val="D8DEE9"/>
                      </a:solidFill>
                      <a:prstDash val="solid"/>
                      <a:round/>
                      <a:headEnd type="none" w="med" len="med"/>
                      <a:tailEnd type="none" w="med" len="med"/>
                    </a:lnT>
                    <a:lnB w="9525" cap="flat" cmpd="sng" algn="ctr">
                      <a:solidFill>
                        <a:srgbClr val="D8DEE9"/>
                      </a:solidFill>
                      <a:prstDash val="solid"/>
                      <a:round/>
                      <a:headEnd type="none" w="med" len="med"/>
                      <a:tailEnd type="none" w="med" len="med"/>
                    </a:lnB>
                    <a:solidFill>
                      <a:srgbClr val="F4F6FA"/>
                    </a:solidFill>
                  </a:tcPr>
                </a:tc>
                <a:tc>
                  <a:txBody>
                    <a:bodyPr/>
                    <a:lstStyle/>
                    <a:p>
                      <a:pPr indent="0" marL="0">
                        <a:buNone/>
                      </a:pPr>
                      <a:r>
                        <a:rPr lang="en-US" sz="1100" dirty="0">
                          <a:solidFill>
                            <a:srgbClr val="1A2233"/>
                          </a:solidFill>
                          <a:latin typeface="Calibri" pitchFamily="34" charset="0"/>
                          <a:ea typeface="Calibri" pitchFamily="34" charset="-122"/>
                          <a:cs typeface="Calibri" pitchFamily="34" charset="-120"/>
                        </a:rPr>
                        <a:t>app.py + workers.py</a:t>
                      </a:r>
                      <a:endParaRPr lang="en-US" sz="1100" dirty="0">
                        <a:latin typeface="Calibri" charset="0"/>
                        <a:ea typeface="Calibri" charset="0"/>
                        <a:cs typeface="Calibri" charset="0"/>
                      </a:endParaRPr>
                    </a:p>
                  </a:txBody>
                  <a:tcPr marL="36576" marR="36576" marT="36576" marB="36576" anchor="ctr">
                    <a:lnL w="9525" cap="flat" cmpd="sng" algn="ctr">
                      <a:solidFill>
                        <a:srgbClr val="D8DEE9"/>
                      </a:solidFill>
                      <a:prstDash val="solid"/>
                      <a:round/>
                      <a:headEnd type="none" w="med" len="med"/>
                      <a:tailEnd type="none" w="med" len="med"/>
                    </a:lnL>
                    <a:lnR w="9525" cap="flat" cmpd="sng" algn="ctr">
                      <a:solidFill>
                        <a:srgbClr val="D8DEE9"/>
                      </a:solidFill>
                      <a:prstDash val="solid"/>
                      <a:round/>
                      <a:headEnd type="none" w="med" len="med"/>
                      <a:tailEnd type="none" w="med" len="med"/>
                    </a:lnR>
                    <a:lnT w="9525" cap="flat" cmpd="sng" algn="ctr">
                      <a:solidFill>
                        <a:srgbClr val="D8DEE9"/>
                      </a:solidFill>
                      <a:prstDash val="solid"/>
                      <a:round/>
                      <a:headEnd type="none" w="med" len="med"/>
                      <a:tailEnd type="none" w="med" len="med"/>
                    </a:lnT>
                    <a:lnB w="9525" cap="flat" cmpd="sng" algn="ctr">
                      <a:solidFill>
                        <a:srgbClr val="D8DEE9"/>
                      </a:solidFill>
                      <a:prstDash val="solid"/>
                      <a:round/>
                      <a:headEnd type="none" w="med" len="med"/>
                      <a:tailEnd type="none" w="med" len="med"/>
                    </a:lnB>
                    <a:solidFill>
                      <a:srgbClr val="F4F6FA"/>
                    </a:solidFill>
                  </a:tcPr>
                </a:tc>
                <a:tc>
                  <a:txBody>
                    <a:bodyPr/>
                    <a:lstStyle/>
                    <a:p>
                      <a:pPr indent="0" marL="0">
                        <a:buNone/>
                      </a:pPr>
                      <a:r>
                        <a:rPr lang="en-US" sz="1100" dirty="0">
                          <a:solidFill>
                            <a:srgbClr val="1A2233"/>
                          </a:solidFill>
                          <a:latin typeface="Calibri" pitchFamily="34" charset="0"/>
                          <a:ea typeface="Calibri" pitchFamily="34" charset="-122"/>
                          <a:cs typeface="Calibri" pitchFamily="34" charset="-120"/>
                        </a:rPr>
                        <a:t>test_reliability.py</a:t>
                      </a:r>
                      <a:endParaRPr lang="en-US" sz="1100" dirty="0">
                        <a:latin typeface="Calibri" charset="0"/>
                        <a:ea typeface="Calibri" charset="0"/>
                        <a:cs typeface="Calibri" charset="0"/>
                      </a:endParaRPr>
                    </a:p>
                  </a:txBody>
                  <a:tcPr marL="36576" marR="36576" marT="36576" marB="36576" anchor="ctr">
                    <a:lnL w="9525" cap="flat" cmpd="sng" algn="ctr">
                      <a:solidFill>
                        <a:srgbClr val="D8DEE9"/>
                      </a:solidFill>
                      <a:prstDash val="solid"/>
                      <a:round/>
                      <a:headEnd type="none" w="med" len="med"/>
                      <a:tailEnd type="none" w="med" len="med"/>
                    </a:lnL>
                    <a:lnR w="9525" cap="flat" cmpd="sng" algn="ctr">
                      <a:solidFill>
                        <a:srgbClr val="D8DEE9"/>
                      </a:solidFill>
                      <a:prstDash val="solid"/>
                      <a:round/>
                      <a:headEnd type="none" w="med" len="med"/>
                      <a:tailEnd type="none" w="med" len="med"/>
                    </a:lnR>
                    <a:lnT w="9525" cap="flat" cmpd="sng" algn="ctr">
                      <a:solidFill>
                        <a:srgbClr val="D8DEE9"/>
                      </a:solidFill>
                      <a:prstDash val="solid"/>
                      <a:round/>
                      <a:headEnd type="none" w="med" len="med"/>
                      <a:tailEnd type="none" w="med" len="med"/>
                    </a:lnT>
                    <a:lnB w="9525" cap="flat" cmpd="sng" algn="ctr">
                      <a:solidFill>
                        <a:srgbClr val="D8DEE9"/>
                      </a:solidFill>
                      <a:prstDash val="solid"/>
                      <a:round/>
                      <a:headEnd type="none" w="med" len="med"/>
                      <a:tailEnd type="none" w="med" len="med"/>
                    </a:lnB>
                    <a:solidFill>
                      <a:srgbClr val="F4F6FA"/>
                    </a:solidFill>
                  </a:tcPr>
                </a:tc>
                <a:tc>
                  <a:txBody>
                    <a:bodyPr/>
                    <a:lstStyle/>
                    <a:p>
                      <a:pPr indent="0" marL="0">
                        <a:buNone/>
                      </a:pPr>
                      <a:r>
                        <a:rPr lang="en-US" sz="1100" dirty="0">
                          <a:solidFill>
                            <a:srgbClr val="1A2233"/>
                          </a:solidFill>
                          <a:latin typeface="Calibri" pitchFamily="34" charset="0"/>
                          <a:ea typeface="Calibri" pitchFamily="34" charset="-122"/>
                          <a:cs typeface="Calibri" pitchFamily="34" charset="-120"/>
                        </a:rPr>
                        <a:t>§7</a:t>
                      </a:r>
                      <a:endParaRPr lang="en-US" sz="1100" dirty="0">
                        <a:latin typeface="Calibri" charset="0"/>
                        <a:ea typeface="Calibri" charset="0"/>
                        <a:cs typeface="Calibri" charset="0"/>
                      </a:endParaRPr>
                    </a:p>
                  </a:txBody>
                  <a:tcPr marL="36576" marR="36576" marT="36576" marB="36576" anchor="ctr">
                    <a:lnL w="9525" cap="flat" cmpd="sng" algn="ctr">
                      <a:solidFill>
                        <a:srgbClr val="D8DEE9"/>
                      </a:solidFill>
                      <a:prstDash val="solid"/>
                      <a:round/>
                      <a:headEnd type="none" w="med" len="med"/>
                      <a:tailEnd type="none" w="med" len="med"/>
                    </a:lnL>
                    <a:lnR w="9525" cap="flat" cmpd="sng" algn="ctr">
                      <a:solidFill>
                        <a:srgbClr val="D8DEE9"/>
                      </a:solidFill>
                      <a:prstDash val="solid"/>
                      <a:round/>
                      <a:headEnd type="none" w="med" len="med"/>
                      <a:tailEnd type="none" w="med" len="med"/>
                    </a:lnR>
                    <a:lnT w="9525" cap="flat" cmpd="sng" algn="ctr">
                      <a:solidFill>
                        <a:srgbClr val="D8DEE9"/>
                      </a:solidFill>
                      <a:prstDash val="solid"/>
                      <a:round/>
                      <a:headEnd type="none" w="med" len="med"/>
                      <a:tailEnd type="none" w="med" len="med"/>
                    </a:lnT>
                    <a:lnB w="9525" cap="flat" cmpd="sng" algn="ctr">
                      <a:solidFill>
                        <a:srgbClr val="D8DEE9"/>
                      </a:solidFill>
                      <a:prstDash val="solid"/>
                      <a:round/>
                      <a:headEnd type="none" w="med" len="med"/>
                      <a:tailEnd type="none" w="med" len="med"/>
                    </a:lnB>
                    <a:solidFill>
                      <a:srgbClr val="F4F6FA"/>
                    </a:solidFill>
                  </a:tcPr>
                </a:tc>
              </a:tr>
              <a:tr h="0">
                <a:tc>
                  <a:txBody>
                    <a:bodyPr/>
                    <a:lstStyle/>
                    <a:p>
                      <a:pPr indent="0" marL="0">
                        <a:buNone/>
                      </a:pPr>
                      <a:r>
                        <a:rPr lang="en-US" sz="1100" dirty="0">
                          <a:solidFill>
                            <a:srgbClr val="1A2233"/>
                          </a:solidFill>
                          <a:latin typeface="Calibri" pitchFamily="34" charset="0"/>
                          <a:ea typeface="Calibri" pitchFamily="34" charset="-122"/>
                          <a:cs typeface="Calibri" pitchFamily="34" charset="-120"/>
                        </a:rPr>
                        <a:t>7 · Named pattern</a:t>
                      </a:r>
                      <a:endParaRPr lang="en-US" sz="1100" dirty="0">
                        <a:latin typeface="Calibri" charset="0"/>
                        <a:ea typeface="Calibri" charset="0"/>
                        <a:cs typeface="Calibri" charset="0"/>
                      </a:endParaRPr>
                    </a:p>
                  </a:txBody>
                  <a:tcPr marL="36576" marR="36576" marT="36576" marB="36576" anchor="ctr">
                    <a:lnL w="9525" cap="flat" cmpd="sng" algn="ctr">
                      <a:solidFill>
                        <a:srgbClr val="D8DEE9"/>
                      </a:solidFill>
                      <a:prstDash val="solid"/>
                      <a:round/>
                      <a:headEnd type="none" w="med" len="med"/>
                      <a:tailEnd type="none" w="med" len="med"/>
                    </a:lnL>
                    <a:lnR w="9525" cap="flat" cmpd="sng" algn="ctr">
                      <a:solidFill>
                        <a:srgbClr val="D8DEE9"/>
                      </a:solidFill>
                      <a:prstDash val="solid"/>
                      <a:round/>
                      <a:headEnd type="none" w="med" len="med"/>
                      <a:tailEnd type="none" w="med" len="med"/>
                    </a:lnR>
                    <a:lnT w="9525" cap="flat" cmpd="sng" algn="ctr">
                      <a:solidFill>
                        <a:srgbClr val="D8DEE9"/>
                      </a:solidFill>
                      <a:prstDash val="solid"/>
                      <a:round/>
                      <a:headEnd type="none" w="med" len="med"/>
                      <a:tailEnd type="none" w="med" len="med"/>
                    </a:lnT>
                    <a:lnB w="9525" cap="flat" cmpd="sng" algn="ctr">
                      <a:solidFill>
                        <a:srgbClr val="D8DEE9"/>
                      </a:solidFill>
                      <a:prstDash val="solid"/>
                      <a:round/>
                      <a:headEnd type="none" w="med" len="med"/>
                      <a:tailEnd type="none" w="med" len="med"/>
                    </a:lnB>
                    <a:solidFill>
                      <a:srgbClr val="FFFFFF"/>
                    </a:solidFill>
                  </a:tcPr>
                </a:tc>
                <a:tc>
                  <a:txBody>
                    <a:bodyPr/>
                    <a:lstStyle/>
                    <a:p>
                      <a:pPr indent="0" marL="0">
                        <a:buNone/>
                      </a:pPr>
                      <a:r>
                        <a:rPr lang="en-US" sz="1100" dirty="0">
                          <a:solidFill>
                            <a:srgbClr val="1A2233"/>
                          </a:solidFill>
                          <a:latin typeface="Calibri" pitchFamily="34" charset="0"/>
                          <a:ea typeface="Calibri" pitchFamily="34" charset="-122"/>
                          <a:cs typeface="Calibri" pitchFamily="34" charset="-120"/>
                        </a:rPr>
                        <a:t>Evaluator-Optimizer in app.py</a:t>
                      </a:r>
                      <a:endParaRPr lang="en-US" sz="1100" dirty="0">
                        <a:latin typeface="Calibri" charset="0"/>
                        <a:ea typeface="Calibri" charset="0"/>
                        <a:cs typeface="Calibri" charset="0"/>
                      </a:endParaRPr>
                    </a:p>
                  </a:txBody>
                  <a:tcPr marL="36576" marR="36576" marT="36576" marB="36576" anchor="ctr">
                    <a:lnL w="9525" cap="flat" cmpd="sng" algn="ctr">
                      <a:solidFill>
                        <a:srgbClr val="D8DEE9"/>
                      </a:solidFill>
                      <a:prstDash val="solid"/>
                      <a:round/>
                      <a:headEnd type="none" w="med" len="med"/>
                      <a:tailEnd type="none" w="med" len="med"/>
                    </a:lnL>
                    <a:lnR w="9525" cap="flat" cmpd="sng" algn="ctr">
                      <a:solidFill>
                        <a:srgbClr val="D8DEE9"/>
                      </a:solidFill>
                      <a:prstDash val="solid"/>
                      <a:round/>
                      <a:headEnd type="none" w="med" len="med"/>
                      <a:tailEnd type="none" w="med" len="med"/>
                    </a:lnR>
                    <a:lnT w="9525" cap="flat" cmpd="sng" algn="ctr">
                      <a:solidFill>
                        <a:srgbClr val="D8DEE9"/>
                      </a:solidFill>
                      <a:prstDash val="solid"/>
                      <a:round/>
                      <a:headEnd type="none" w="med" len="med"/>
                      <a:tailEnd type="none" w="med" len="med"/>
                    </a:lnT>
                    <a:lnB w="9525" cap="flat" cmpd="sng" algn="ctr">
                      <a:solidFill>
                        <a:srgbClr val="D8DEE9"/>
                      </a:solidFill>
                      <a:prstDash val="solid"/>
                      <a:round/>
                      <a:headEnd type="none" w="med" len="med"/>
                      <a:tailEnd type="none" w="med" len="med"/>
                    </a:lnB>
                    <a:solidFill>
                      <a:srgbClr val="FFFFFF"/>
                    </a:solidFill>
                  </a:tcPr>
                </a:tc>
                <a:tc>
                  <a:txBody>
                    <a:bodyPr/>
                    <a:lstStyle/>
                    <a:p>
                      <a:pPr indent="0" marL="0">
                        <a:buNone/>
                      </a:pPr>
                      <a:r>
                        <a:rPr lang="en-US" sz="1100" dirty="0">
                          <a:solidFill>
                            <a:srgbClr val="1A2233"/>
                          </a:solidFill>
                          <a:latin typeface="Calibri" pitchFamily="34" charset="0"/>
                          <a:ea typeface="Calibri" pitchFamily="34" charset="-122"/>
                          <a:cs typeface="Calibri" pitchFamily="34" charset="-120"/>
                        </a:rPr>
                        <a:t>test_reliability.py</a:t>
                      </a:r>
                      <a:endParaRPr lang="en-US" sz="1100" dirty="0">
                        <a:latin typeface="Calibri" charset="0"/>
                        <a:ea typeface="Calibri" charset="0"/>
                        <a:cs typeface="Calibri" charset="0"/>
                      </a:endParaRPr>
                    </a:p>
                  </a:txBody>
                  <a:tcPr marL="36576" marR="36576" marT="36576" marB="36576" anchor="ctr">
                    <a:lnL w="9525" cap="flat" cmpd="sng" algn="ctr">
                      <a:solidFill>
                        <a:srgbClr val="D8DEE9"/>
                      </a:solidFill>
                      <a:prstDash val="solid"/>
                      <a:round/>
                      <a:headEnd type="none" w="med" len="med"/>
                      <a:tailEnd type="none" w="med" len="med"/>
                    </a:lnL>
                    <a:lnR w="9525" cap="flat" cmpd="sng" algn="ctr">
                      <a:solidFill>
                        <a:srgbClr val="D8DEE9"/>
                      </a:solidFill>
                      <a:prstDash val="solid"/>
                      <a:round/>
                      <a:headEnd type="none" w="med" len="med"/>
                      <a:tailEnd type="none" w="med" len="med"/>
                    </a:lnR>
                    <a:lnT w="9525" cap="flat" cmpd="sng" algn="ctr">
                      <a:solidFill>
                        <a:srgbClr val="D8DEE9"/>
                      </a:solidFill>
                      <a:prstDash val="solid"/>
                      <a:round/>
                      <a:headEnd type="none" w="med" len="med"/>
                      <a:tailEnd type="none" w="med" len="med"/>
                    </a:lnT>
                    <a:lnB w="9525" cap="flat" cmpd="sng" algn="ctr">
                      <a:solidFill>
                        <a:srgbClr val="D8DEE9"/>
                      </a:solidFill>
                      <a:prstDash val="solid"/>
                      <a:round/>
                      <a:headEnd type="none" w="med" len="med"/>
                      <a:tailEnd type="none" w="med" len="med"/>
                    </a:lnB>
                    <a:solidFill>
                      <a:srgbClr val="FFFFFF"/>
                    </a:solidFill>
                  </a:tcPr>
                </a:tc>
                <a:tc>
                  <a:txBody>
                    <a:bodyPr/>
                    <a:lstStyle/>
                    <a:p>
                      <a:pPr indent="0" marL="0">
                        <a:buNone/>
                      </a:pPr>
                      <a:r>
                        <a:rPr lang="en-US" sz="1100" dirty="0">
                          <a:solidFill>
                            <a:srgbClr val="1A2233"/>
                          </a:solidFill>
                          <a:latin typeface="Calibri" pitchFamily="34" charset="0"/>
                          <a:ea typeface="Calibri" pitchFamily="34" charset="-122"/>
                          <a:cs typeface="Calibri" pitchFamily="34" charset="-120"/>
                        </a:rPr>
                        <a:t>§8</a:t>
                      </a:r>
                      <a:endParaRPr lang="en-US" sz="1100" dirty="0">
                        <a:latin typeface="Calibri" charset="0"/>
                        <a:ea typeface="Calibri" charset="0"/>
                        <a:cs typeface="Calibri" charset="0"/>
                      </a:endParaRPr>
                    </a:p>
                  </a:txBody>
                  <a:tcPr marL="36576" marR="36576" marT="36576" marB="36576" anchor="ctr">
                    <a:lnL w="9525" cap="flat" cmpd="sng" algn="ctr">
                      <a:solidFill>
                        <a:srgbClr val="D8DEE9"/>
                      </a:solidFill>
                      <a:prstDash val="solid"/>
                      <a:round/>
                      <a:headEnd type="none" w="med" len="med"/>
                      <a:tailEnd type="none" w="med" len="med"/>
                    </a:lnL>
                    <a:lnR w="9525" cap="flat" cmpd="sng" algn="ctr">
                      <a:solidFill>
                        <a:srgbClr val="D8DEE9"/>
                      </a:solidFill>
                      <a:prstDash val="solid"/>
                      <a:round/>
                      <a:headEnd type="none" w="med" len="med"/>
                      <a:tailEnd type="none" w="med" len="med"/>
                    </a:lnR>
                    <a:lnT w="9525" cap="flat" cmpd="sng" algn="ctr">
                      <a:solidFill>
                        <a:srgbClr val="D8DEE9"/>
                      </a:solidFill>
                      <a:prstDash val="solid"/>
                      <a:round/>
                      <a:headEnd type="none" w="med" len="med"/>
                      <a:tailEnd type="none" w="med" len="med"/>
                    </a:lnT>
                    <a:lnB w="9525" cap="flat" cmpd="sng" algn="ctr">
                      <a:solidFill>
                        <a:srgbClr val="D8DEE9"/>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A2233"/>
                          </a:solidFill>
                          <a:latin typeface="Calibri" pitchFamily="34" charset="0"/>
                          <a:ea typeface="Calibri" pitchFamily="34" charset="-122"/>
                          <a:cs typeface="Calibri" pitchFamily="34" charset="-120"/>
                        </a:rPr>
                        <a:t>8 · LangSmith</a:t>
                      </a:r>
                      <a:endParaRPr lang="en-US" sz="1100" dirty="0">
                        <a:latin typeface="Calibri" charset="0"/>
                        <a:ea typeface="Calibri" charset="0"/>
                        <a:cs typeface="Calibri" charset="0"/>
                      </a:endParaRPr>
                    </a:p>
                  </a:txBody>
                  <a:tcPr marL="36576" marR="36576" marT="36576" marB="36576" anchor="ctr">
                    <a:lnL w="9525" cap="flat" cmpd="sng" algn="ctr">
                      <a:solidFill>
                        <a:srgbClr val="D8DEE9"/>
                      </a:solidFill>
                      <a:prstDash val="solid"/>
                      <a:round/>
                      <a:headEnd type="none" w="med" len="med"/>
                      <a:tailEnd type="none" w="med" len="med"/>
                    </a:lnL>
                    <a:lnR w="9525" cap="flat" cmpd="sng" algn="ctr">
                      <a:solidFill>
                        <a:srgbClr val="D8DEE9"/>
                      </a:solidFill>
                      <a:prstDash val="solid"/>
                      <a:round/>
                      <a:headEnd type="none" w="med" len="med"/>
                      <a:tailEnd type="none" w="med" len="med"/>
                    </a:lnR>
                    <a:lnT w="9525" cap="flat" cmpd="sng" algn="ctr">
                      <a:solidFill>
                        <a:srgbClr val="D8DEE9"/>
                      </a:solidFill>
                      <a:prstDash val="solid"/>
                      <a:round/>
                      <a:headEnd type="none" w="med" len="med"/>
                      <a:tailEnd type="none" w="med" len="med"/>
                    </a:lnT>
                    <a:lnB w="9525" cap="flat" cmpd="sng" algn="ctr">
                      <a:solidFill>
                        <a:srgbClr val="D8DEE9"/>
                      </a:solidFill>
                      <a:prstDash val="solid"/>
                      <a:round/>
                      <a:headEnd type="none" w="med" len="med"/>
                      <a:tailEnd type="none" w="med" len="med"/>
                    </a:lnB>
                    <a:solidFill>
                      <a:srgbClr val="F4F6FA"/>
                    </a:solidFill>
                  </a:tcPr>
                </a:tc>
                <a:tc>
                  <a:txBody>
                    <a:bodyPr/>
                    <a:lstStyle/>
                    <a:p>
                      <a:pPr indent="0" marL="0">
                        <a:buNone/>
                      </a:pPr>
                      <a:r>
                        <a:rPr lang="en-US" sz="1100" dirty="0">
                          <a:solidFill>
                            <a:srgbClr val="1A2233"/>
                          </a:solidFill>
                          <a:latin typeface="Calibri" pitchFamily="34" charset="0"/>
                          <a:ea typeface="Calibri" pitchFamily="34" charset="-122"/>
                          <a:cs typeface="Calibri" pitchFamily="34" charset="-120"/>
                        </a:rPr>
                        <a:t>tracing.py + verify_trace.py</a:t>
                      </a:r>
                      <a:endParaRPr lang="en-US" sz="1100" dirty="0">
                        <a:latin typeface="Calibri" charset="0"/>
                        <a:ea typeface="Calibri" charset="0"/>
                        <a:cs typeface="Calibri" charset="0"/>
                      </a:endParaRPr>
                    </a:p>
                  </a:txBody>
                  <a:tcPr marL="36576" marR="36576" marT="36576" marB="36576" anchor="ctr">
                    <a:lnL w="9525" cap="flat" cmpd="sng" algn="ctr">
                      <a:solidFill>
                        <a:srgbClr val="D8DEE9"/>
                      </a:solidFill>
                      <a:prstDash val="solid"/>
                      <a:round/>
                      <a:headEnd type="none" w="med" len="med"/>
                      <a:tailEnd type="none" w="med" len="med"/>
                    </a:lnL>
                    <a:lnR w="9525" cap="flat" cmpd="sng" algn="ctr">
                      <a:solidFill>
                        <a:srgbClr val="D8DEE9"/>
                      </a:solidFill>
                      <a:prstDash val="solid"/>
                      <a:round/>
                      <a:headEnd type="none" w="med" len="med"/>
                      <a:tailEnd type="none" w="med" len="med"/>
                    </a:lnR>
                    <a:lnT w="9525" cap="flat" cmpd="sng" algn="ctr">
                      <a:solidFill>
                        <a:srgbClr val="D8DEE9"/>
                      </a:solidFill>
                      <a:prstDash val="solid"/>
                      <a:round/>
                      <a:headEnd type="none" w="med" len="med"/>
                      <a:tailEnd type="none" w="med" len="med"/>
                    </a:lnT>
                    <a:lnB w="9525" cap="flat" cmpd="sng" algn="ctr">
                      <a:solidFill>
                        <a:srgbClr val="D8DEE9"/>
                      </a:solidFill>
                      <a:prstDash val="solid"/>
                      <a:round/>
                      <a:headEnd type="none" w="med" len="med"/>
                      <a:tailEnd type="none" w="med" len="med"/>
                    </a:lnB>
                    <a:solidFill>
                      <a:srgbClr val="F4F6FA"/>
                    </a:solidFill>
                  </a:tcPr>
                </a:tc>
                <a:tc>
                  <a:txBody>
                    <a:bodyPr/>
                    <a:lstStyle/>
                    <a:p>
                      <a:pPr indent="0" marL="0">
                        <a:buNone/>
                      </a:pPr>
                      <a:r>
                        <a:rPr lang="en-US" sz="1100" dirty="0">
                          <a:solidFill>
                            <a:srgbClr val="1A2233"/>
                          </a:solidFill>
                          <a:latin typeface="Calibri" pitchFamily="34" charset="0"/>
                          <a:ea typeface="Calibri" pitchFamily="34" charset="-122"/>
                          <a:cs typeface="Calibri" pitchFamily="34" charset="-120"/>
                        </a:rPr>
                        <a:t>test_tracing.py</a:t>
                      </a:r>
                      <a:endParaRPr lang="en-US" sz="1100" dirty="0">
                        <a:latin typeface="Calibri" charset="0"/>
                        <a:ea typeface="Calibri" charset="0"/>
                        <a:cs typeface="Calibri" charset="0"/>
                      </a:endParaRPr>
                    </a:p>
                  </a:txBody>
                  <a:tcPr marL="36576" marR="36576" marT="36576" marB="36576" anchor="ctr">
                    <a:lnL w="9525" cap="flat" cmpd="sng" algn="ctr">
                      <a:solidFill>
                        <a:srgbClr val="D8DEE9"/>
                      </a:solidFill>
                      <a:prstDash val="solid"/>
                      <a:round/>
                      <a:headEnd type="none" w="med" len="med"/>
                      <a:tailEnd type="none" w="med" len="med"/>
                    </a:lnL>
                    <a:lnR w="9525" cap="flat" cmpd="sng" algn="ctr">
                      <a:solidFill>
                        <a:srgbClr val="D8DEE9"/>
                      </a:solidFill>
                      <a:prstDash val="solid"/>
                      <a:round/>
                      <a:headEnd type="none" w="med" len="med"/>
                      <a:tailEnd type="none" w="med" len="med"/>
                    </a:lnR>
                    <a:lnT w="9525" cap="flat" cmpd="sng" algn="ctr">
                      <a:solidFill>
                        <a:srgbClr val="D8DEE9"/>
                      </a:solidFill>
                      <a:prstDash val="solid"/>
                      <a:round/>
                      <a:headEnd type="none" w="med" len="med"/>
                      <a:tailEnd type="none" w="med" len="med"/>
                    </a:lnT>
                    <a:lnB w="9525" cap="flat" cmpd="sng" algn="ctr">
                      <a:solidFill>
                        <a:srgbClr val="D8DEE9"/>
                      </a:solidFill>
                      <a:prstDash val="solid"/>
                      <a:round/>
                      <a:headEnd type="none" w="med" len="med"/>
                      <a:tailEnd type="none" w="med" len="med"/>
                    </a:lnB>
                    <a:solidFill>
                      <a:srgbClr val="F4F6FA"/>
                    </a:solidFill>
                  </a:tcPr>
                </a:tc>
                <a:tc>
                  <a:txBody>
                    <a:bodyPr/>
                    <a:lstStyle/>
                    <a:p>
                      <a:pPr indent="0" marL="0">
                        <a:buNone/>
                      </a:pPr>
                      <a:r>
                        <a:rPr lang="en-US" sz="1100" dirty="0">
                          <a:solidFill>
                            <a:srgbClr val="1A2233"/>
                          </a:solidFill>
                          <a:latin typeface="Calibri" pitchFamily="34" charset="0"/>
                          <a:ea typeface="Calibri" pitchFamily="34" charset="-122"/>
                          <a:cs typeface="Calibri" pitchFamily="34" charset="-120"/>
                        </a:rPr>
                        <a:t>§9</a:t>
                      </a:r>
                      <a:endParaRPr lang="en-US" sz="1100" dirty="0">
                        <a:latin typeface="Calibri" charset="0"/>
                        <a:ea typeface="Calibri" charset="0"/>
                        <a:cs typeface="Calibri" charset="0"/>
                      </a:endParaRPr>
                    </a:p>
                  </a:txBody>
                  <a:tcPr marL="36576" marR="36576" marT="36576" marB="36576" anchor="ctr">
                    <a:lnL w="9525" cap="flat" cmpd="sng" algn="ctr">
                      <a:solidFill>
                        <a:srgbClr val="D8DEE9"/>
                      </a:solidFill>
                      <a:prstDash val="solid"/>
                      <a:round/>
                      <a:headEnd type="none" w="med" len="med"/>
                      <a:tailEnd type="none" w="med" len="med"/>
                    </a:lnL>
                    <a:lnR w="9525" cap="flat" cmpd="sng" algn="ctr">
                      <a:solidFill>
                        <a:srgbClr val="D8DEE9"/>
                      </a:solidFill>
                      <a:prstDash val="solid"/>
                      <a:round/>
                      <a:headEnd type="none" w="med" len="med"/>
                      <a:tailEnd type="none" w="med" len="med"/>
                    </a:lnR>
                    <a:lnT w="9525" cap="flat" cmpd="sng" algn="ctr">
                      <a:solidFill>
                        <a:srgbClr val="D8DEE9"/>
                      </a:solidFill>
                      <a:prstDash val="solid"/>
                      <a:round/>
                      <a:headEnd type="none" w="med" len="med"/>
                      <a:tailEnd type="none" w="med" len="med"/>
                    </a:lnT>
                    <a:lnB w="9525" cap="flat" cmpd="sng" algn="ctr">
                      <a:solidFill>
                        <a:srgbClr val="D8DEE9"/>
                      </a:solidFill>
                      <a:prstDash val="solid"/>
                      <a:round/>
                      <a:headEnd type="none" w="med" len="med"/>
                      <a:tailEnd type="none" w="med" len="med"/>
                    </a:lnB>
                    <a:solidFill>
                      <a:srgbClr val="F4F6FA"/>
                    </a:solidFill>
                  </a:tcPr>
                </a:tc>
              </a:tr>
            </a:tbl>
          </a:graphicData>
        </a:graphic>
      </p:graphicFrame>
      <p:sp>
        <p:nvSpPr>
          <p:cNvPr id="4" name="Shape 1"/>
          <p:cNvSpPr/>
          <p:nvPr/>
        </p:nvSpPr>
        <p:spPr>
          <a:xfrm>
            <a:off x="502920" y="5623560"/>
            <a:ext cx="7498080" cy="777240"/>
          </a:xfrm>
          <a:prstGeom prst="roundRect">
            <a:avLst>
              <a:gd name="adj" fmla="val 5882"/>
            </a:avLst>
          </a:prstGeom>
          <a:solidFill>
            <a:srgbClr val="F4F6FA"/>
          </a:solidFill>
          <a:ln w="12700">
            <a:solidFill>
              <a:srgbClr val="D8DEE9"/>
            </a:solidFill>
            <a:prstDash val="solid"/>
          </a:ln>
        </p:spPr>
      </p:sp>
      <p:sp>
        <p:nvSpPr>
          <p:cNvPr id="5" name="Text 2"/>
          <p:cNvSpPr/>
          <p:nvPr/>
        </p:nvSpPr>
        <p:spPr>
          <a:xfrm>
            <a:off x="640080" y="5696712"/>
            <a:ext cx="7223760" cy="630936"/>
          </a:xfrm>
          <a:prstGeom prst="rect">
            <a:avLst/>
          </a:prstGeom>
          <a:noFill/>
          <a:ln/>
        </p:spPr>
        <p:txBody>
          <a:bodyPr wrap="square" lIns="0" tIns="0" rIns="0" bIns="0" rtlCol="0" anchor="t"/>
          <a:lstStyle/>
          <a:p>
            <a:pPr indent="0" marL="0">
              <a:buNone/>
            </a:pPr>
            <a:r>
              <a:rPr lang="en-US" sz="1150" dirty="0">
                <a:solidFill>
                  <a:srgbClr val="233047"/>
                </a:solidFill>
                <a:latin typeface="Courier New" pitchFamily="34" charset="0"/>
                <a:ea typeface="Courier New" pitchFamily="34" charset="-122"/>
                <a:cs typeface="Courier New" pitchFamily="34" charset="-120"/>
              </a:rPr>
              <a:t>pytest -m "not api"     # 31 tests, no keys burned</a:t>
            </a:r>
            <a:endParaRPr lang="en-US" sz="1150" dirty="0"/>
          </a:p>
          <a:p>
            <a:pPr indent="0" marL="0">
              <a:buNone/>
            </a:pPr>
            <a:r>
              <a:rPr lang="en-US" sz="1150" dirty="0">
                <a:solidFill>
                  <a:srgbClr val="233047"/>
                </a:solidFill>
                <a:latin typeface="Courier New" pitchFamily="34" charset="0"/>
                <a:ea typeface="Courier New" pitchFamily="34" charset="-122"/>
                <a:cs typeface="Courier New" pitchFamily="34" charset="-120"/>
              </a:rPr>
              <a:t>pytest &amp;&amp; jupyter notebook munassiq_capstone.ipynb</a:t>
            </a:r>
            <a:endParaRPr lang="en-US" sz="1150" dirty="0"/>
          </a:p>
        </p:txBody>
      </p:sp>
      <p:sp>
        <p:nvSpPr>
          <p:cNvPr id="6" name="Text 3"/>
          <p:cNvSpPr/>
          <p:nvPr/>
        </p:nvSpPr>
        <p:spPr>
          <a:xfrm>
            <a:off x="8229600" y="5760720"/>
            <a:ext cx="3474720" cy="457200"/>
          </a:xfrm>
          <a:prstGeom prst="rect">
            <a:avLst/>
          </a:prstGeom>
          <a:noFill/>
          <a:ln/>
        </p:spPr>
        <p:txBody>
          <a:bodyPr wrap="square" lIns="0" tIns="0" rIns="0" bIns="0" rtlCol="0" anchor="ctr"/>
          <a:lstStyle/>
          <a:p>
            <a:pPr indent="0" marL="0">
              <a:buNone/>
            </a:pPr>
            <a:r>
              <a:rPr lang="en-US" sz="1300" b="1" dirty="0">
                <a:solidFill>
                  <a:srgbClr val="1E2A45"/>
                </a:solidFill>
                <a:latin typeface="Arial" pitchFamily="34" charset="0"/>
                <a:ea typeface="Arial" pitchFamily="34" charset="-122"/>
                <a:cs typeface="Arial" pitchFamily="34" charset="-120"/>
              </a:rPr>
              <a:t>github.com/AK7Amin/Capstone-SDAIA-Building-AI-Agents-Systems</a:t>
            </a:r>
            <a:endParaRPr lang="en-US" sz="13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502920" y="292608"/>
            <a:ext cx="11183112" cy="777240"/>
          </a:xfrm>
          <a:prstGeom prst="rect">
            <a:avLst/>
          </a:prstGeom>
          <a:noFill/>
          <a:ln/>
        </p:spPr>
        <p:txBody>
          <a:bodyPr wrap="square" lIns="0" tIns="0" rIns="0" bIns="0" rtlCol="0" anchor="ctr"/>
          <a:lstStyle/>
          <a:p>
            <a:pPr algn="l" indent="0" marL="0">
              <a:buNone/>
            </a:pPr>
            <a:r>
              <a:rPr lang="en-US" sz="2700" b="1" dirty="0">
                <a:solidFill>
                  <a:srgbClr val="1E2A45"/>
                </a:solidFill>
                <a:latin typeface="Arial" pitchFamily="34" charset="0"/>
                <a:ea typeface="Arial" pitchFamily="34" charset="-122"/>
                <a:cs typeface="Arial" pitchFamily="34" charset="-120"/>
              </a:rPr>
              <a:t>Not built — declared honestly</a:t>
            </a:r>
            <a:endParaRPr lang="en-US" sz="2700" dirty="0"/>
          </a:p>
        </p:txBody>
      </p:sp>
      <p:sp>
        <p:nvSpPr>
          <p:cNvPr id="3" name="Text 1"/>
          <p:cNvSpPr/>
          <p:nvPr/>
        </p:nvSpPr>
        <p:spPr>
          <a:xfrm>
            <a:off x="502920" y="1280160"/>
            <a:ext cx="6766560" cy="2926080"/>
          </a:xfrm>
          <a:prstGeom prst="rect">
            <a:avLst/>
          </a:prstGeom>
          <a:noFill/>
          <a:ln/>
        </p:spPr>
        <p:txBody>
          <a:bodyPr wrap="square" lIns="0" tIns="0" rIns="0" bIns="0" rtlCol="0" anchor="t"/>
          <a:lstStyle/>
          <a:p>
            <a:pPr algn="l" marL="127000" indent="-127000">
              <a:spcAft>
                <a:spcPts val="1200"/>
              </a:spcAft>
              <a:buSzPct val="100000"/>
              <a:buChar char="•"/>
            </a:pPr>
            <a:r>
              <a:rPr lang="en-US" sz="1400" dirty="0">
                <a:solidFill>
                  <a:srgbClr val="1A2233"/>
                </a:solidFill>
                <a:latin typeface="Calibri" pitchFamily="34" charset="0"/>
                <a:ea typeface="Calibri" pitchFamily="34" charset="-122"/>
                <a:cs typeface="Calibri" pitchFamily="34" charset="-120"/>
              </a:rPr>
              <a:t>No FastAPI serving layer — the rubric does not ask for one.</a:t>
            </a:r>
            <a:endParaRPr lang="en-US" sz="1400" dirty="0"/>
          </a:p>
          <a:p>
            <a:pPr algn="l" marL="127000" indent="-127000">
              <a:spcAft>
                <a:spcPts val="1200"/>
              </a:spcAft>
              <a:buSzPct val="100000"/>
              <a:buChar char="•"/>
            </a:pPr>
            <a:r>
              <a:rPr lang="en-US" sz="1400" dirty="0">
                <a:solidFill>
                  <a:srgbClr val="1A2233"/>
                </a:solidFill>
                <a:latin typeface="Calibri" pitchFamily="34" charset="0"/>
                <a:ea typeface="Calibri" pitchFamily="34" charset="-122"/>
                <a:cs typeface="Calibri" pitchFamily="34" charset="-120"/>
              </a:rPr>
              <a:t>No UI — the notebook and the tests are the interfaces.</a:t>
            </a:r>
            <a:endParaRPr lang="en-US" sz="1400" dirty="0"/>
          </a:p>
          <a:p>
            <a:pPr algn="l" marL="127000" indent="-127000">
              <a:spcAft>
                <a:spcPts val="1200"/>
              </a:spcAft>
              <a:buSzPct val="100000"/>
              <a:buChar char="•"/>
            </a:pPr>
            <a:r>
              <a:rPr lang="en-US" sz="1400" dirty="0">
                <a:solidFill>
                  <a:srgbClr val="1A2233"/>
                </a:solidFill>
                <a:latin typeface="Calibri" pitchFamily="34" charset="0"/>
                <a:ea typeface="Calibri" pitchFamily="34" charset="-122"/>
                <a:cs typeface="Calibri" pitchFamily="34" charset="-120"/>
              </a:rPr>
              <a:t>No real e-mail transport — the outbox directory is the terminal, by design.</a:t>
            </a:r>
            <a:endParaRPr lang="en-US" sz="1400" dirty="0"/>
          </a:p>
          <a:p>
            <a:pPr algn="l" marL="127000" indent="-127000">
              <a:spcAft>
                <a:spcPts val="1200"/>
              </a:spcAft>
              <a:buSzPct val="100000"/>
              <a:buChar char="•"/>
            </a:pPr>
            <a:r>
              <a:rPr lang="en-US" sz="1400" dirty="0">
                <a:solidFill>
                  <a:srgbClr val="1A2233"/>
                </a:solidFill>
                <a:latin typeface="Calibri" pitchFamily="34" charset="0"/>
                <a:ea typeface="Calibri" pitchFamily="34" charset="-122"/>
                <a:cs typeface="Calibri" pitchFamily="34" charset="-120"/>
              </a:rPr>
              <a:t>No deployment — documented as the next step, not claimed as done.</a:t>
            </a:r>
            <a:endParaRPr lang="en-US" sz="1400" dirty="0"/>
          </a:p>
        </p:txBody>
      </p:sp>
      <p:sp>
        <p:nvSpPr>
          <p:cNvPr id="4" name="Text 2"/>
          <p:cNvSpPr/>
          <p:nvPr/>
        </p:nvSpPr>
        <p:spPr>
          <a:xfrm>
            <a:off x="7680960" y="1280160"/>
            <a:ext cx="3931920" cy="365760"/>
          </a:xfrm>
          <a:prstGeom prst="rect">
            <a:avLst/>
          </a:prstGeom>
          <a:noFill/>
          <a:ln/>
        </p:spPr>
        <p:txBody>
          <a:bodyPr wrap="square" lIns="0" tIns="0" rIns="0" bIns="0" rtlCol="0" anchor="ctr"/>
          <a:lstStyle/>
          <a:p>
            <a:pPr indent="0" marL="0">
              <a:buNone/>
            </a:pPr>
            <a:r>
              <a:rPr lang="en-US" sz="1400" b="1" dirty="0">
                <a:solidFill>
                  <a:srgbClr val="1E2A45"/>
                </a:solidFill>
                <a:latin typeface="Arial" pitchFamily="34" charset="0"/>
                <a:ea typeface="Arial" pitchFamily="34" charset="-122"/>
                <a:cs typeface="Arial" pitchFamily="34" charset="-120"/>
              </a:rPr>
              <a:t>Documented next steps</a:t>
            </a:r>
            <a:endParaRPr lang="en-US" sz="1400" dirty="0"/>
          </a:p>
        </p:txBody>
      </p:sp>
      <p:sp>
        <p:nvSpPr>
          <p:cNvPr id="5" name="Shape 3"/>
          <p:cNvSpPr/>
          <p:nvPr/>
        </p:nvSpPr>
        <p:spPr>
          <a:xfrm>
            <a:off x="7680960" y="1691640"/>
            <a:ext cx="3977640" cy="1005840"/>
          </a:xfrm>
          <a:prstGeom prst="roundRect">
            <a:avLst>
              <a:gd name="adj" fmla="val 5455"/>
            </a:avLst>
          </a:prstGeom>
          <a:solidFill>
            <a:srgbClr val="EDF2FB"/>
          </a:solidFill>
          <a:ln w="12700">
            <a:solidFill>
              <a:srgbClr val="3457A0"/>
            </a:solidFill>
            <a:prstDash val="solid"/>
          </a:ln>
        </p:spPr>
      </p:sp>
      <p:sp>
        <p:nvSpPr>
          <p:cNvPr id="6" name="Text 4"/>
          <p:cNvSpPr/>
          <p:nvPr/>
        </p:nvSpPr>
        <p:spPr>
          <a:xfrm>
            <a:off x="7808976" y="1746504"/>
            <a:ext cx="3721608" cy="896112"/>
          </a:xfrm>
          <a:prstGeom prst="rect">
            <a:avLst/>
          </a:prstGeom>
          <a:noFill/>
          <a:ln/>
        </p:spPr>
        <p:txBody>
          <a:bodyPr wrap="square" lIns="0" tIns="0" rIns="0" bIns="0" rtlCol="0" anchor="ctr"/>
          <a:lstStyle/>
          <a:p>
            <a:pPr indent="0" marL="0">
              <a:buNone/>
            </a:pPr>
            <a:r>
              <a:rPr lang="en-US" sz="1250" dirty="0">
                <a:solidFill>
                  <a:srgbClr val="24406E"/>
                </a:solidFill>
                <a:latin typeface="Calibri" pitchFamily="34" charset="0"/>
                <a:ea typeface="Calibri" pitchFamily="34" charset="-122"/>
                <a:cs typeface="Calibri" pitchFamily="34" charset="-120"/>
              </a:rPr>
              <a:t>PostgresSaver / PostgresStore for multi-instance durable state.</a:t>
            </a:r>
            <a:endParaRPr lang="en-US" sz="1250" dirty="0"/>
          </a:p>
        </p:txBody>
      </p:sp>
      <p:sp>
        <p:nvSpPr>
          <p:cNvPr id="7" name="Shape 5"/>
          <p:cNvSpPr/>
          <p:nvPr/>
        </p:nvSpPr>
        <p:spPr>
          <a:xfrm>
            <a:off x="7680960" y="2834640"/>
            <a:ext cx="3977640" cy="1005840"/>
          </a:xfrm>
          <a:prstGeom prst="roundRect">
            <a:avLst>
              <a:gd name="adj" fmla="val 5455"/>
            </a:avLst>
          </a:prstGeom>
          <a:solidFill>
            <a:srgbClr val="EDF2FB"/>
          </a:solidFill>
          <a:ln w="12700">
            <a:solidFill>
              <a:srgbClr val="3457A0"/>
            </a:solidFill>
            <a:prstDash val="solid"/>
          </a:ln>
        </p:spPr>
      </p:sp>
      <p:sp>
        <p:nvSpPr>
          <p:cNvPr id="8" name="Text 6"/>
          <p:cNvSpPr/>
          <p:nvPr/>
        </p:nvSpPr>
        <p:spPr>
          <a:xfrm>
            <a:off x="7808976" y="2889504"/>
            <a:ext cx="3721608" cy="896112"/>
          </a:xfrm>
          <a:prstGeom prst="rect">
            <a:avLst/>
          </a:prstGeom>
          <a:noFill/>
          <a:ln/>
        </p:spPr>
        <p:txBody>
          <a:bodyPr wrap="square" lIns="0" tIns="0" rIns="0" bIns="0" rtlCol="0" anchor="ctr"/>
          <a:lstStyle/>
          <a:p>
            <a:pPr indent="0" marL="0">
              <a:buNone/>
            </a:pPr>
            <a:r>
              <a:rPr lang="en-US" sz="1250" dirty="0">
                <a:solidFill>
                  <a:srgbClr val="24406E"/>
                </a:solidFill>
                <a:latin typeface="Calibri" pitchFamily="34" charset="0"/>
                <a:ea typeface="Calibri" pitchFamily="34" charset="-122"/>
                <a:cs typeface="Calibri" pitchFamily="34" charset="-120"/>
              </a:rPr>
              <a:t>/ask + /approve endpoints — the course's Day-5 production path.</a:t>
            </a:r>
            <a:endParaRPr lang="en-US" sz="1250" dirty="0"/>
          </a:p>
        </p:txBody>
      </p:sp>
      <p:sp>
        <p:nvSpPr>
          <p:cNvPr id="9" name="Shape 7"/>
          <p:cNvSpPr/>
          <p:nvPr/>
        </p:nvSpPr>
        <p:spPr>
          <a:xfrm>
            <a:off x="502920" y="5120640"/>
            <a:ext cx="11183112" cy="868680"/>
          </a:xfrm>
          <a:prstGeom prst="roundRect">
            <a:avLst>
              <a:gd name="adj" fmla="val 6316"/>
            </a:avLst>
          </a:prstGeom>
          <a:solidFill>
            <a:srgbClr val="FFF6DF"/>
          </a:solidFill>
          <a:ln w="12700">
            <a:solidFill>
              <a:srgbClr val="B7791F"/>
            </a:solidFill>
            <a:prstDash val="solid"/>
          </a:ln>
        </p:spPr>
      </p:sp>
      <p:sp>
        <p:nvSpPr>
          <p:cNvPr id="10" name="Text 8"/>
          <p:cNvSpPr/>
          <p:nvPr/>
        </p:nvSpPr>
        <p:spPr>
          <a:xfrm>
            <a:off x="630936" y="5175504"/>
            <a:ext cx="10927080" cy="758952"/>
          </a:xfrm>
          <a:prstGeom prst="rect">
            <a:avLst/>
          </a:prstGeom>
          <a:noFill/>
          <a:ln/>
        </p:spPr>
        <p:txBody>
          <a:bodyPr wrap="square" lIns="0" tIns="0" rIns="0" bIns="0" rtlCol="0" anchor="ctr"/>
          <a:lstStyle/>
          <a:p>
            <a:pPr indent="0" marL="0">
              <a:buNone/>
            </a:pPr>
            <a:r>
              <a:rPr lang="en-US" sz="1400" b="1" dirty="0">
                <a:solidFill>
                  <a:srgbClr val="7A5310"/>
                </a:solidFill>
                <a:latin typeface="Calibri" pitchFamily="34" charset="0"/>
                <a:ea typeface="Calibri" pitchFamily="34" charset="-122"/>
                <a:cs typeface="Calibri" pitchFamily="34" charset="-120"/>
              </a:rPr>
              <a:t>An honest gap costs a few points. A claim your own output contradicts costs credibility across the whole submission.</a:t>
            </a:r>
            <a:endParaRPr lang="en-US" sz="1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E2A45"/>
        </a:solidFill>
      </p:bgPr>
    </p:bg>
    <p:spTree>
      <p:nvGrpSpPr>
        <p:cNvPr id="1" name=""/>
        <p:cNvGrpSpPr/>
        <p:nvPr/>
      </p:nvGrpSpPr>
      <p:grpSpPr>
        <a:xfrm>
          <a:off x="0" y="0"/>
          <a:ext cx="0" cy="0"/>
          <a:chOff x="0" y="0"/>
          <a:chExt cx="0" cy="0"/>
        </a:xfrm>
      </p:grpSpPr>
      <p:sp>
        <p:nvSpPr>
          <p:cNvPr id="2" name="Text 0"/>
          <p:cNvSpPr/>
          <p:nvPr/>
        </p:nvSpPr>
        <p:spPr>
          <a:xfrm>
            <a:off x="502920" y="1920240"/>
            <a:ext cx="5486400" cy="457200"/>
          </a:xfrm>
          <a:prstGeom prst="rect">
            <a:avLst/>
          </a:prstGeom>
          <a:noFill/>
          <a:ln/>
        </p:spPr>
        <p:txBody>
          <a:bodyPr wrap="square" lIns="0" tIns="0" rIns="0" bIns="0" rtlCol="0" anchor="ctr"/>
          <a:lstStyle/>
          <a:p>
            <a:pPr indent="0" marL="0">
              <a:buNone/>
            </a:pPr>
            <a:r>
              <a:rPr lang="en-US" sz="1400" b="1" spc="300" kern="0" dirty="0">
                <a:solidFill>
                  <a:srgbClr val="F2A900"/>
                </a:solidFill>
                <a:latin typeface="Arial" pitchFamily="34" charset="0"/>
                <a:ea typeface="Arial" pitchFamily="34" charset="-122"/>
                <a:cs typeface="Arial" pitchFamily="34" charset="-120"/>
              </a:rPr>
              <a:t>THANK YOU</a:t>
            </a:r>
            <a:endParaRPr lang="en-US" sz="1400" dirty="0"/>
          </a:p>
        </p:txBody>
      </p:sp>
      <p:sp>
        <p:nvSpPr>
          <p:cNvPr id="3" name="Text 1"/>
          <p:cNvSpPr/>
          <p:nvPr/>
        </p:nvSpPr>
        <p:spPr>
          <a:xfrm>
            <a:off x="502920" y="2377440"/>
            <a:ext cx="8229600" cy="1097280"/>
          </a:xfrm>
          <a:prstGeom prst="rect">
            <a:avLst/>
          </a:prstGeom>
          <a:noFill/>
          <a:ln/>
        </p:spPr>
        <p:txBody>
          <a:bodyPr wrap="square" lIns="0" tIns="0" rIns="0" bIns="0" rtlCol="0" anchor="ctr"/>
          <a:lstStyle/>
          <a:p>
            <a:pPr indent="0" marL="0">
              <a:buNone/>
            </a:pPr>
            <a:r>
              <a:rPr lang="en-US" sz="5400" b="1" dirty="0">
                <a:solidFill>
                  <a:srgbClr val="FFFFFF"/>
                </a:solidFill>
                <a:latin typeface="Arial" pitchFamily="34" charset="0"/>
                <a:ea typeface="Arial" pitchFamily="34" charset="-122"/>
                <a:cs typeface="Arial" pitchFamily="34" charset="-120"/>
              </a:rPr>
              <a:t>Questions</a:t>
            </a:r>
            <a:endParaRPr lang="en-US" sz="5400" dirty="0"/>
          </a:p>
        </p:txBody>
      </p:sp>
      <p:sp>
        <p:nvSpPr>
          <p:cNvPr id="4" name="Text 2"/>
          <p:cNvSpPr/>
          <p:nvPr/>
        </p:nvSpPr>
        <p:spPr>
          <a:xfrm>
            <a:off x="502920" y="3657600"/>
            <a:ext cx="9144000" cy="457200"/>
          </a:xfrm>
          <a:prstGeom prst="rect">
            <a:avLst/>
          </a:prstGeom>
          <a:noFill/>
          <a:ln/>
        </p:spPr>
        <p:txBody>
          <a:bodyPr wrap="square" lIns="0" tIns="0" rIns="0" bIns="0" rtlCol="0" anchor="ctr"/>
          <a:lstStyle/>
          <a:p>
            <a:pPr indent="0" marL="0">
              <a:buNone/>
            </a:pPr>
            <a:r>
              <a:rPr lang="en-US" sz="1600" dirty="0">
                <a:solidFill>
                  <a:srgbClr val="C9D3E8"/>
                </a:solidFill>
                <a:latin typeface="Calibri" pitchFamily="34" charset="0"/>
                <a:ea typeface="Calibri" pitchFamily="34" charset="-122"/>
                <a:cs typeface="Calibri" pitchFamily="34" charset="-120"/>
              </a:rPr>
              <a:t>Munassiq — every claim in this deck has a captured run behind it.</a:t>
            </a:r>
            <a:endParaRPr lang="en-US" sz="1600" dirty="0"/>
          </a:p>
        </p:txBody>
      </p:sp>
      <p:sp>
        <p:nvSpPr>
          <p:cNvPr id="5" name="Text 3"/>
          <p:cNvSpPr/>
          <p:nvPr/>
        </p:nvSpPr>
        <p:spPr>
          <a:xfrm>
            <a:off x="502920" y="6035040"/>
            <a:ext cx="10972800" cy="365760"/>
          </a:xfrm>
          <a:prstGeom prst="rect">
            <a:avLst/>
          </a:prstGeom>
          <a:noFill/>
          <a:ln/>
        </p:spPr>
        <p:txBody>
          <a:bodyPr wrap="square" lIns="0" tIns="0" rIns="0" bIns="0" rtlCol="0" anchor="ctr"/>
          <a:lstStyle/>
          <a:p>
            <a:pPr indent="0" marL="0">
              <a:buNone/>
            </a:pPr>
            <a:r>
              <a:rPr lang="en-US" sz="1200" dirty="0">
                <a:solidFill>
                  <a:srgbClr val="9FB0CE"/>
                </a:solidFill>
                <a:latin typeface="Calibri" pitchFamily="34" charset="0"/>
                <a:ea typeface="Calibri" pitchFamily="34" charset="-122"/>
                <a:cs typeface="Calibri" pitchFamily="34" charset="-120"/>
              </a:rPr>
              <a:t>SDAIA Academy — Building AI Agent Systems · 16–20 August 2026 · Abdulaziz Mulia — github.com/AK7Amin</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E2A45"/>
        </a:solidFill>
      </p:bgPr>
    </p:bg>
    <p:spTree>
      <p:nvGrpSpPr>
        <p:cNvPr id="1" name=""/>
        <p:cNvGrpSpPr/>
        <p:nvPr/>
      </p:nvGrpSpPr>
      <p:grpSpPr>
        <a:xfrm>
          <a:off x="0" y="0"/>
          <a:ext cx="0" cy="0"/>
          <a:chOff x="0" y="0"/>
          <a:chExt cx="0" cy="0"/>
        </a:xfrm>
      </p:grpSpPr>
      <p:sp>
        <p:nvSpPr>
          <p:cNvPr id="2" name="Text 0"/>
          <p:cNvSpPr/>
          <p:nvPr/>
        </p:nvSpPr>
        <p:spPr>
          <a:xfrm>
            <a:off x="822960" y="2377440"/>
            <a:ext cx="7315200" cy="1280160"/>
          </a:xfrm>
          <a:prstGeom prst="rect">
            <a:avLst/>
          </a:prstGeom>
          <a:noFill/>
          <a:ln/>
        </p:spPr>
        <p:txBody>
          <a:bodyPr wrap="square" lIns="0" tIns="0" rIns="0" bIns="0" rtlCol="0" anchor="ctr"/>
          <a:lstStyle/>
          <a:p>
            <a:pPr indent="0" marL="0">
              <a:buNone/>
            </a:pPr>
            <a:r>
              <a:rPr lang="en-US" sz="6000" b="1" dirty="0">
                <a:solidFill>
                  <a:srgbClr val="F2A900"/>
                </a:solidFill>
                <a:latin typeface="Arial" pitchFamily="34" charset="0"/>
                <a:ea typeface="Arial" pitchFamily="34" charset="-122"/>
                <a:cs typeface="Arial" pitchFamily="34" charset="-120"/>
              </a:rPr>
              <a:t>Appendix</a:t>
            </a:r>
            <a:endParaRPr lang="en-US" sz="6000" dirty="0"/>
          </a:p>
        </p:txBody>
      </p:sp>
      <p:sp>
        <p:nvSpPr>
          <p:cNvPr id="3" name="Text 1"/>
          <p:cNvSpPr/>
          <p:nvPr/>
        </p:nvSpPr>
        <p:spPr>
          <a:xfrm>
            <a:off x="868680" y="3749040"/>
            <a:ext cx="8229600" cy="548640"/>
          </a:xfrm>
          <a:prstGeom prst="rect">
            <a:avLst/>
          </a:prstGeom>
          <a:noFill/>
          <a:ln/>
        </p:spPr>
        <p:txBody>
          <a:bodyPr wrap="square" lIns="0" tIns="0" rIns="0" bIns="0" rtlCol="0" anchor="ctr"/>
          <a:lstStyle/>
          <a:p>
            <a:pPr indent="0" marL="0">
              <a:buNone/>
            </a:pPr>
            <a:r>
              <a:rPr lang="en-US" sz="1600" dirty="0">
                <a:solidFill>
                  <a:srgbClr val="C9D3E8"/>
                </a:solidFill>
                <a:latin typeface="Calibri" pitchFamily="34" charset="0"/>
                <a:ea typeface="Calibri" pitchFamily="34" charset="-122"/>
                <a:cs typeface="Calibri" pitchFamily="34" charset="-120"/>
              </a:rPr>
              <a:t>Answers to expected questions. Not presented in sequence.</a:t>
            </a:r>
            <a:endParaRPr lang="en-US" sz="16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502920" y="292608"/>
            <a:ext cx="11183112" cy="777240"/>
          </a:xfrm>
          <a:prstGeom prst="rect">
            <a:avLst/>
          </a:prstGeom>
          <a:noFill/>
          <a:ln/>
        </p:spPr>
        <p:txBody>
          <a:bodyPr wrap="square" lIns="0" tIns="0" rIns="0" bIns="0" rtlCol="0" anchor="ctr"/>
          <a:lstStyle/>
          <a:p>
            <a:pPr algn="l" indent="0" marL="0">
              <a:buNone/>
            </a:pPr>
            <a:r>
              <a:rPr lang="en-US" sz="2300" b="1" dirty="0">
                <a:solidFill>
                  <a:srgbClr val="1E2A45"/>
                </a:solidFill>
                <a:latin typeface="Arial" pitchFamily="34" charset="0"/>
                <a:ea typeface="Arial" pitchFamily="34" charset="-122"/>
                <a:cs typeface="Arial" pitchFamily="34" charset="-120"/>
              </a:rPr>
              <a:t>Q · “Is the model really calling tools, or is that hardcoded?”</a:t>
            </a:r>
            <a:endParaRPr lang="en-US" sz="2300" dirty="0"/>
          </a:p>
        </p:txBody>
      </p:sp>
      <p:sp>
        <p:nvSpPr>
          <p:cNvPr id="3" name="Text 1"/>
          <p:cNvSpPr/>
          <p:nvPr/>
        </p:nvSpPr>
        <p:spPr>
          <a:xfrm>
            <a:off x="502920" y="1234440"/>
            <a:ext cx="6675120" cy="3108960"/>
          </a:xfrm>
          <a:prstGeom prst="rect">
            <a:avLst/>
          </a:prstGeom>
          <a:noFill/>
          <a:ln/>
        </p:spPr>
        <p:txBody>
          <a:bodyPr wrap="square" lIns="0" tIns="0" rIns="0" bIns="0" rtlCol="0" anchor="t"/>
          <a:lstStyle/>
          <a:p>
            <a:pPr algn="l" marL="127000" indent="-127000">
              <a:spcAft>
                <a:spcPts val="1200"/>
              </a:spcAft>
              <a:buSzPct val="100000"/>
              <a:buChar char="•"/>
            </a:pPr>
            <a:r>
              <a:rPr lang="en-US" sz="1350" dirty="0">
                <a:solidFill>
                  <a:srgbClr val="1A2233"/>
                </a:solidFill>
                <a:latin typeface="Calibri" pitchFamily="34" charset="0"/>
                <a:ea typeface="Calibri" pitchFamily="34" charset="-122"/>
                <a:cs typeface="Calibri" pitchFamily="34" charset="-120"/>
              </a:rPr>
              <a:t>Every tool uses its arguments: two different inputs must produce two different outputs — asserted in tests (this is the rubric's own trap, quoted).</a:t>
            </a:r>
            <a:endParaRPr lang="en-US" sz="1350" dirty="0"/>
          </a:p>
          <a:p>
            <a:pPr algn="l" marL="127000" indent="-127000">
              <a:spcAft>
                <a:spcPts val="1200"/>
              </a:spcAft>
              <a:buSzPct val="100000"/>
              <a:buChar char="•"/>
            </a:pPr>
            <a:r>
              <a:rPr lang="en-US" sz="1350" dirty="0">
                <a:solidFill>
                  <a:srgbClr val="1A2233"/>
                </a:solidFill>
                <a:latin typeface="Calibri" pitchFamily="34" charset="0"/>
                <a:ea typeface="Calibri" pitchFamily="34" charset="-122"/>
                <a:cs typeface="Calibri" pitchFamily="34" charset="-120"/>
              </a:rPr>
              <a:t>CALENDAR mutates on the model's call; the outbox file's bytes equal the approved text exactly.</a:t>
            </a:r>
            <a:endParaRPr lang="en-US" sz="1350" dirty="0"/>
          </a:p>
          <a:p>
            <a:pPr algn="l" marL="127000" indent="-127000">
              <a:spcAft>
                <a:spcPts val="1200"/>
              </a:spcAft>
              <a:buSzPct val="100000"/>
              <a:buChar char="•"/>
            </a:pPr>
            <a:r>
              <a:rPr lang="en-US" sz="1350" dirty="0">
                <a:solidFill>
                  <a:srgbClr val="1A2233"/>
                </a:solidFill>
                <a:latin typeface="Calibri" pitchFamily="34" charset="0"/>
                <a:ea typeface="Calibri" pitchFamily="34" charset="-122"/>
                <a:cs typeface="Calibri" pitchFamily="34" charset="-120"/>
              </a:rPr>
              <a:t>The trace shows the tool call with its arguments — nothing is pre-scripted.</a:t>
            </a:r>
            <a:endParaRPr lang="en-US" sz="1350" dirty="0"/>
          </a:p>
        </p:txBody>
      </p:sp>
      <p:sp>
        <p:nvSpPr>
          <p:cNvPr id="4" name="Text 2"/>
          <p:cNvSpPr/>
          <p:nvPr/>
        </p:nvSpPr>
        <p:spPr>
          <a:xfrm>
            <a:off x="7589520" y="1234440"/>
            <a:ext cx="4023360" cy="365760"/>
          </a:xfrm>
          <a:prstGeom prst="rect">
            <a:avLst/>
          </a:prstGeom>
          <a:noFill/>
          <a:ln/>
        </p:spPr>
        <p:txBody>
          <a:bodyPr wrap="square" lIns="0" tIns="0" rIns="0" bIns="0" rtlCol="0" anchor="ctr"/>
          <a:lstStyle/>
          <a:p>
            <a:pPr indent="0" marL="0">
              <a:buNone/>
            </a:pPr>
            <a:r>
              <a:rPr lang="en-US" sz="1400" b="1" dirty="0">
                <a:solidFill>
                  <a:srgbClr val="1E2A45"/>
                </a:solidFill>
                <a:latin typeface="Arial" pitchFamily="34" charset="0"/>
                <a:ea typeface="Arial" pitchFamily="34" charset="-122"/>
                <a:cs typeface="Arial" pitchFamily="34" charset="-120"/>
              </a:rPr>
              <a:t>The negative proof</a:t>
            </a:r>
            <a:endParaRPr lang="en-US" sz="1400" dirty="0"/>
          </a:p>
        </p:txBody>
      </p:sp>
      <p:sp>
        <p:nvSpPr>
          <p:cNvPr id="5" name="Shape 3"/>
          <p:cNvSpPr/>
          <p:nvPr/>
        </p:nvSpPr>
        <p:spPr>
          <a:xfrm>
            <a:off x="7589520" y="1645920"/>
            <a:ext cx="4069080" cy="2103120"/>
          </a:xfrm>
          <a:prstGeom prst="roundRect">
            <a:avLst>
              <a:gd name="adj" fmla="val 2609"/>
            </a:avLst>
          </a:prstGeom>
          <a:solidFill>
            <a:srgbClr val="E9F6EC"/>
          </a:solidFill>
          <a:ln w="12700">
            <a:solidFill>
              <a:srgbClr val="2E7D32"/>
            </a:solidFill>
            <a:prstDash val="solid"/>
          </a:ln>
        </p:spPr>
      </p:sp>
      <p:sp>
        <p:nvSpPr>
          <p:cNvPr id="6" name="Text 4"/>
          <p:cNvSpPr/>
          <p:nvPr/>
        </p:nvSpPr>
        <p:spPr>
          <a:xfrm>
            <a:off x="7717536" y="1700784"/>
            <a:ext cx="3813048" cy="1993392"/>
          </a:xfrm>
          <a:prstGeom prst="rect">
            <a:avLst/>
          </a:prstGeom>
          <a:noFill/>
          <a:ln/>
        </p:spPr>
        <p:txBody>
          <a:bodyPr wrap="square" lIns="0" tIns="0" rIns="0" bIns="0" rtlCol="0" anchor="ctr"/>
          <a:lstStyle/>
          <a:p>
            <a:pPr indent="0" marL="0">
              <a:buNone/>
            </a:pPr>
            <a:r>
              <a:rPr lang="en-US" sz="1250" dirty="0">
                <a:solidFill>
                  <a:srgbClr val="1B5E20"/>
                </a:solidFill>
                <a:latin typeface="Calibri" pitchFamily="34" charset="0"/>
                <a:ea typeface="Calibri" pitchFamily="34" charset="-122"/>
                <a:cs typeface="Calibri" pitchFamily="34" charset="-120"/>
              </a:rPr>
              <a:t>The reliability tests were re-run with a planted INVALID API key: 5 passed with zero network. Any hidden model call would have failed with 401 — so the “no-LLM mechanics” claims are honest by construction.</a:t>
            </a:r>
            <a:endParaRPr lang="en-US" sz="12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502920" y="292608"/>
            <a:ext cx="11183112" cy="777240"/>
          </a:xfrm>
          <a:prstGeom prst="rect">
            <a:avLst/>
          </a:prstGeom>
          <a:noFill/>
          <a:ln/>
        </p:spPr>
        <p:txBody>
          <a:bodyPr wrap="square" lIns="0" tIns="0" rIns="0" bIns="0" rtlCol="0" anchor="ctr"/>
          <a:lstStyle/>
          <a:p>
            <a:pPr algn="l" indent="0" marL="0">
              <a:buNone/>
            </a:pPr>
            <a:r>
              <a:rPr lang="en-US" sz="2300" b="1" dirty="0">
                <a:solidFill>
                  <a:srgbClr val="1E2A45"/>
                </a:solidFill>
                <a:latin typeface="Arial" pitchFamily="34" charset="0"/>
                <a:ea typeface="Arial" pitchFamily="34" charset="-122"/>
                <a:cs typeface="Arial" pitchFamily="34" charset="-120"/>
              </a:rPr>
              <a:t>Q · “What if the process dies while waiting for approval?”</a:t>
            </a:r>
            <a:endParaRPr lang="en-US" sz="2300" dirty="0"/>
          </a:p>
        </p:txBody>
      </p:sp>
      <p:sp>
        <p:nvSpPr>
          <p:cNvPr id="3" name="Text 1"/>
          <p:cNvSpPr/>
          <p:nvPr/>
        </p:nvSpPr>
        <p:spPr>
          <a:xfrm>
            <a:off x="502920" y="1234440"/>
            <a:ext cx="6675120" cy="3291840"/>
          </a:xfrm>
          <a:prstGeom prst="rect">
            <a:avLst/>
          </a:prstGeom>
          <a:noFill/>
          <a:ln/>
        </p:spPr>
        <p:txBody>
          <a:bodyPr wrap="square" lIns="0" tIns="0" rIns="0" bIns="0" rtlCol="0" anchor="t"/>
          <a:lstStyle/>
          <a:p>
            <a:pPr algn="l" marL="127000" indent="-127000">
              <a:spcAft>
                <a:spcPts val="1200"/>
              </a:spcAft>
              <a:buSzPct val="100000"/>
              <a:buChar char="•"/>
            </a:pPr>
            <a:r>
              <a:rPr lang="en-US" sz="1350" dirty="0">
                <a:solidFill>
                  <a:srgbClr val="1A2233"/>
                </a:solidFill>
                <a:latin typeface="Calibri" pitchFamily="34" charset="0"/>
                <a:ea typeface="Calibri" pitchFamily="34" charset="-122"/>
                <a:cs typeface="Calibri" pitchFamily="34" charset="-120"/>
              </a:rPr>
              <a:t>State is SQLite on disk — SqliteSaver for the thread, SqliteStore for long-term facts.</a:t>
            </a:r>
            <a:endParaRPr lang="en-US" sz="1350" dirty="0"/>
          </a:p>
          <a:p>
            <a:pPr algn="l" marL="127000" indent="-127000">
              <a:spcAft>
                <a:spcPts val="1200"/>
              </a:spcAft>
              <a:buSzPct val="100000"/>
              <a:buChar char="•"/>
            </a:pPr>
            <a:r>
              <a:rPr lang="en-US" sz="1350" dirty="0">
                <a:solidFill>
                  <a:srgbClr val="1A2233"/>
                </a:solidFill>
                <a:latin typeface="Calibri" pitchFamily="34" charset="0"/>
                <a:ea typeface="Calibri" pitchFamily="34" charset="-122"/>
                <a:cs typeface="Calibri" pitchFamily="34" charset="-120"/>
              </a:rPr>
              <a:t>Kill the process after interrupt(): a NEW OS process reopens the same thread_id and Command(resume=…) completes the run.</a:t>
            </a:r>
            <a:endParaRPr lang="en-US" sz="1350" dirty="0"/>
          </a:p>
          <a:p>
            <a:pPr algn="l" marL="127000" indent="-127000">
              <a:spcAft>
                <a:spcPts val="1200"/>
              </a:spcAft>
              <a:buSzPct val="100000"/>
              <a:buChar char="•"/>
            </a:pPr>
            <a:r>
              <a:rPr lang="en-US" sz="1350" dirty="0">
                <a:solidFill>
                  <a:srgbClr val="1A2233"/>
                </a:solidFill>
                <a:latin typeface="Calibri" pitchFamily="34" charset="0"/>
                <a:ea typeface="Calibri" pitchFamily="34" charset="-122"/>
                <a:cs typeface="Calibri" pitchFamily="34" charset="-120"/>
              </a:rPr>
              <a:t>Demonstrated in a spike across two separate processes before the architecture was committed.</a:t>
            </a:r>
            <a:endParaRPr lang="en-US" sz="1350" dirty="0"/>
          </a:p>
        </p:txBody>
      </p:sp>
      <p:sp>
        <p:nvSpPr>
          <p:cNvPr id="4" name="Shape 2"/>
          <p:cNvSpPr/>
          <p:nvPr/>
        </p:nvSpPr>
        <p:spPr>
          <a:xfrm>
            <a:off x="7589520" y="1645920"/>
            <a:ext cx="4069080" cy="2103120"/>
          </a:xfrm>
          <a:prstGeom prst="roundRect">
            <a:avLst>
              <a:gd name="adj" fmla="val 2609"/>
            </a:avLst>
          </a:prstGeom>
          <a:solidFill>
            <a:srgbClr val="FFF6DF"/>
          </a:solidFill>
          <a:ln w="12700">
            <a:solidFill>
              <a:srgbClr val="B7791F"/>
            </a:solidFill>
            <a:prstDash val="solid"/>
          </a:ln>
        </p:spPr>
      </p:sp>
      <p:sp>
        <p:nvSpPr>
          <p:cNvPr id="5" name="Text 3"/>
          <p:cNvSpPr/>
          <p:nvPr/>
        </p:nvSpPr>
        <p:spPr>
          <a:xfrm>
            <a:off x="7717536" y="1700784"/>
            <a:ext cx="3813048" cy="1993392"/>
          </a:xfrm>
          <a:prstGeom prst="rect">
            <a:avLst/>
          </a:prstGeom>
          <a:noFill/>
          <a:ln/>
        </p:spPr>
        <p:txBody>
          <a:bodyPr wrap="square" lIns="0" tIns="0" rIns="0" bIns="0" rtlCol="0" anchor="ctr"/>
          <a:lstStyle/>
          <a:p>
            <a:pPr indent="0" marL="0">
              <a:buNone/>
            </a:pPr>
            <a:r>
              <a:rPr lang="en-US" sz="1250" dirty="0">
                <a:solidFill>
                  <a:srgbClr val="7A5310"/>
                </a:solidFill>
                <a:latin typeface="Calibri" pitchFamily="34" charset="0"/>
                <a:ea typeface="Calibri" pitchFamily="34" charset="-122"/>
                <a:cs typeface="Calibri" pitchFamily="34" charset="-120"/>
              </a:rPr>
              <a:t>A documented trap: SqliteSaver.from_conn_string() is a context manager — it closes the connection on exit. The build uses a singleton over sqlite3.connect() instead; the notebook shows the two-process pattern for reference.</a:t>
            </a:r>
            <a:endParaRPr lang="en-US" sz="12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502920" y="292608"/>
            <a:ext cx="11183112" cy="777240"/>
          </a:xfrm>
          <a:prstGeom prst="rect">
            <a:avLst/>
          </a:prstGeom>
          <a:noFill/>
          <a:ln/>
        </p:spPr>
        <p:txBody>
          <a:bodyPr wrap="square" lIns="0" tIns="0" rIns="0" bIns="0" rtlCol="0" anchor="ctr"/>
          <a:lstStyle/>
          <a:p>
            <a:pPr algn="l" indent="0" marL="0">
              <a:buNone/>
            </a:pPr>
            <a:r>
              <a:rPr lang="en-US" sz="2400" b="1" dirty="0">
                <a:solidFill>
                  <a:srgbClr val="1E2A45"/>
                </a:solidFill>
                <a:latin typeface="Arial" pitchFamily="34" charset="0"/>
                <a:ea typeface="Arial" pitchFamily="34" charset="-122"/>
                <a:cs typeface="Arial" pitchFamily="34" charset="-120"/>
              </a:rPr>
              <a:t>Q · “Why did behavior differ between providers?”</a:t>
            </a:r>
            <a:endParaRPr lang="en-US" sz="2400" dirty="0"/>
          </a:p>
        </p:txBody>
      </p:sp>
      <p:sp>
        <p:nvSpPr>
          <p:cNvPr id="3" name="Text 1"/>
          <p:cNvSpPr/>
          <p:nvPr/>
        </p:nvSpPr>
        <p:spPr>
          <a:xfrm>
            <a:off x="502920" y="1234440"/>
            <a:ext cx="11155680" cy="2926080"/>
          </a:xfrm>
          <a:prstGeom prst="rect">
            <a:avLst/>
          </a:prstGeom>
          <a:noFill/>
          <a:ln/>
        </p:spPr>
        <p:txBody>
          <a:bodyPr wrap="square" lIns="0" tIns="0" rIns="0" bIns="0" rtlCol="0" anchor="t"/>
          <a:lstStyle/>
          <a:p>
            <a:pPr algn="l" marL="127000" indent="-127000">
              <a:spcAft>
                <a:spcPts val="1200"/>
              </a:spcAft>
              <a:buSzPct val="100000"/>
              <a:buChar char="•"/>
            </a:pPr>
            <a:r>
              <a:rPr lang="en-US" sz="1350" dirty="0">
                <a:solidFill>
                  <a:srgbClr val="1A2233"/>
                </a:solidFill>
                <a:latin typeface="Calibri" pitchFamily="34" charset="0"/>
                <a:ea typeface="Calibri" pitchFamily="34" charset="-122"/>
                <a:cs typeface="Calibri" pitchFamily="34" charset="-120"/>
              </a:rPr>
              <a:t>Same open model, two hosts: the primary routed one clean handoff every time; the second host's internal routing sometimes ping-ponged transfers, and once leaked the model's reasoning channel into the visible answer.</a:t>
            </a:r>
            <a:endParaRPr lang="en-US" sz="1350" dirty="0"/>
          </a:p>
          <a:p>
            <a:pPr algn="l" marL="127000" indent="-127000">
              <a:spcAft>
                <a:spcPts val="1200"/>
              </a:spcAft>
              <a:buSzPct val="100000"/>
              <a:buChar char="•"/>
            </a:pPr>
            <a:r>
              <a:rPr lang="en-US" sz="1350" dirty="0">
                <a:solidFill>
                  <a:srgbClr val="1A2233"/>
                </a:solidFill>
                <a:latin typeface="Calibri" pitchFamily="34" charset="0"/>
                <a:ea typeface="Calibri" pitchFamily="34" charset="-122"/>
                <a:cs typeface="Calibri" pitchFamily="34" charset="-120"/>
              </a:rPr>
              <a:t>Engineering response: an explicit stop rule in the supervisor prompt · output_mode="full_history" so the supervisor relays the worker's answer rather than the transfer receipt · the final evidence run captured on the primary provider.</a:t>
            </a:r>
            <a:endParaRPr lang="en-US" sz="1350" dirty="0"/>
          </a:p>
          <a:p>
            <a:pPr algn="l" marL="127000" indent="-127000">
              <a:spcAft>
                <a:spcPts val="1200"/>
              </a:spcAft>
              <a:buSzPct val="100000"/>
              <a:buChar char="•"/>
            </a:pPr>
            <a:r>
              <a:rPr lang="en-US" sz="1350" dirty="0">
                <a:solidFill>
                  <a:srgbClr val="1A2233"/>
                </a:solidFill>
                <a:latin typeface="Calibri" pitchFamily="34" charset="0"/>
                <a:ea typeface="Calibri" pitchFamily="34" charset="-122"/>
                <a:cs typeface="Calibri" pitchFamily="34" charset="-120"/>
              </a:rPr>
              <a:t>The tests assert the handoff HAPPENED — not how many times. Behavior contracts, not provider trivia.</a:t>
            </a:r>
            <a:endParaRPr lang="en-US" sz="1350" dirty="0"/>
          </a:p>
        </p:txBody>
      </p:sp>
      <p:sp>
        <p:nvSpPr>
          <p:cNvPr id="4" name="Shape 2"/>
          <p:cNvSpPr/>
          <p:nvPr/>
        </p:nvSpPr>
        <p:spPr>
          <a:xfrm>
            <a:off x="502920" y="4754880"/>
            <a:ext cx="11183112" cy="822960"/>
          </a:xfrm>
          <a:prstGeom prst="roundRect">
            <a:avLst>
              <a:gd name="adj" fmla="val 6667"/>
            </a:avLst>
          </a:prstGeom>
          <a:solidFill>
            <a:srgbClr val="E9F6EC"/>
          </a:solidFill>
          <a:ln w="12700">
            <a:solidFill>
              <a:srgbClr val="2E7D32"/>
            </a:solidFill>
            <a:prstDash val="solid"/>
          </a:ln>
        </p:spPr>
      </p:sp>
      <p:sp>
        <p:nvSpPr>
          <p:cNvPr id="5" name="Text 3"/>
          <p:cNvSpPr/>
          <p:nvPr/>
        </p:nvSpPr>
        <p:spPr>
          <a:xfrm>
            <a:off x="630936" y="4809744"/>
            <a:ext cx="10927080" cy="713232"/>
          </a:xfrm>
          <a:prstGeom prst="rect">
            <a:avLst/>
          </a:prstGeom>
          <a:noFill/>
          <a:ln/>
        </p:spPr>
        <p:txBody>
          <a:bodyPr wrap="square" lIns="0" tIns="0" rIns="0" bIns="0" rtlCol="0" anchor="ctr"/>
          <a:lstStyle/>
          <a:p>
            <a:pPr indent="0" marL="0">
              <a:buNone/>
            </a:pPr>
            <a:r>
              <a:rPr lang="en-US" sz="1350" b="1" dirty="0">
                <a:solidFill>
                  <a:srgbClr val="1B5E20"/>
                </a:solidFill>
                <a:latin typeface="Calibri" pitchFamily="34" charset="0"/>
                <a:ea typeface="Calibri" pitchFamily="34" charset="-122"/>
                <a:cs typeface="Calibri" pitchFamily="34" charset="-120"/>
              </a:rPr>
              <a:t>MUNASSIQ_PROVIDER / MUNASSIQ_MODEL swap hosts with zero code changes — the incident became a feature.</a:t>
            </a:r>
            <a:endParaRPr lang="en-US" sz="13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502920" y="292608"/>
            <a:ext cx="11183112" cy="777240"/>
          </a:xfrm>
          <a:prstGeom prst="rect">
            <a:avLst/>
          </a:prstGeom>
          <a:noFill/>
          <a:ln/>
        </p:spPr>
        <p:txBody>
          <a:bodyPr wrap="square" lIns="0" tIns="0" rIns="0" bIns="0" rtlCol="0" anchor="ctr"/>
          <a:lstStyle/>
          <a:p>
            <a:pPr algn="l" indent="0" marL="0">
              <a:buNone/>
            </a:pPr>
            <a:r>
              <a:rPr lang="en-US" sz="2400" b="1" dirty="0">
                <a:solidFill>
                  <a:srgbClr val="1E2A45"/>
                </a:solidFill>
                <a:latin typeface="Arial" pitchFamily="34" charset="0"/>
                <a:ea typeface="Arial" pitchFamily="34" charset="-122"/>
                <a:cs typeface="Arial" pitchFamily="34" charset="-120"/>
              </a:rPr>
              <a:t>Q · “Where exactly did the tokens go?”</a:t>
            </a:r>
            <a:endParaRPr lang="en-US" sz="24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02920" y="1234440"/>
          <a:ext cx="5669280" cy="914400"/>
        </p:xfrm>
        <a:graphic>
          <a:graphicData uri="http://schemas.openxmlformats.org/drawingml/2006/table">
            <a:tbl>
              <a:tblPr/>
              <a:tblGrid>
                <a:gridCol w="2377440"/>
                <a:gridCol w="3291840"/>
              </a:tblGrid>
              <a:tr h="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Node</a:t>
                      </a:r>
                      <a:endParaRPr lang="en-US" sz="1200" dirty="0">
                        <a:latin typeface="Calibri" charset="0"/>
                        <a:ea typeface="Calibri" charset="0"/>
                        <a:cs typeface="Calibri" charset="0"/>
                      </a:endParaRPr>
                    </a:p>
                  </a:txBody>
                  <a:tcPr marL="36576" marR="36576" marT="36576" marB="36576" anchor="ctr">
                    <a:lnL w="9525" cap="flat" cmpd="sng" algn="ctr">
                      <a:solidFill>
                        <a:srgbClr val="D8DEE9"/>
                      </a:solidFill>
                      <a:prstDash val="solid"/>
                      <a:round/>
                      <a:headEnd type="none" w="med" len="med"/>
                      <a:tailEnd type="none" w="med" len="med"/>
                    </a:lnL>
                    <a:lnR w="9525" cap="flat" cmpd="sng" algn="ctr">
                      <a:solidFill>
                        <a:srgbClr val="D8DEE9"/>
                      </a:solidFill>
                      <a:prstDash val="solid"/>
                      <a:round/>
                      <a:headEnd type="none" w="med" len="med"/>
                      <a:tailEnd type="none" w="med" len="med"/>
                    </a:lnR>
                    <a:lnT w="9525" cap="flat" cmpd="sng" algn="ctr">
                      <a:solidFill>
                        <a:srgbClr val="D8DEE9"/>
                      </a:solidFill>
                      <a:prstDash val="solid"/>
                      <a:round/>
                      <a:headEnd type="none" w="med" len="med"/>
                      <a:tailEnd type="none" w="med" len="med"/>
                    </a:lnT>
                    <a:lnB w="9525" cap="flat" cmpd="sng" algn="ctr">
                      <a:solidFill>
                        <a:srgbClr val="D8DEE9"/>
                      </a:solidFill>
                      <a:prstDash val="solid"/>
                      <a:round/>
                      <a:headEnd type="none" w="med" len="med"/>
                      <a:tailEnd type="none" w="med" len="med"/>
                    </a:lnB>
                    <a:solidFill>
                      <a:srgbClr val="1E2A45"/>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Observed</a:t>
                      </a:r>
                      <a:endParaRPr lang="en-US" sz="1200" dirty="0">
                        <a:latin typeface="Calibri" charset="0"/>
                        <a:ea typeface="Calibri" charset="0"/>
                        <a:cs typeface="Calibri" charset="0"/>
                      </a:endParaRPr>
                    </a:p>
                  </a:txBody>
                  <a:tcPr marL="36576" marR="36576" marT="36576" marB="36576" anchor="ctr">
                    <a:lnL w="9525" cap="flat" cmpd="sng" algn="ctr">
                      <a:solidFill>
                        <a:srgbClr val="D8DEE9"/>
                      </a:solidFill>
                      <a:prstDash val="solid"/>
                      <a:round/>
                      <a:headEnd type="none" w="med" len="med"/>
                      <a:tailEnd type="none" w="med" len="med"/>
                    </a:lnL>
                    <a:lnR w="9525" cap="flat" cmpd="sng" algn="ctr">
                      <a:solidFill>
                        <a:srgbClr val="D8DEE9"/>
                      </a:solidFill>
                      <a:prstDash val="solid"/>
                      <a:round/>
                      <a:headEnd type="none" w="med" len="med"/>
                      <a:tailEnd type="none" w="med" len="med"/>
                    </a:lnR>
                    <a:lnT w="9525" cap="flat" cmpd="sng" algn="ctr">
                      <a:solidFill>
                        <a:srgbClr val="D8DEE9"/>
                      </a:solidFill>
                      <a:prstDash val="solid"/>
                      <a:round/>
                      <a:headEnd type="none" w="med" len="med"/>
                      <a:tailEnd type="none" w="med" len="med"/>
                    </a:lnT>
                    <a:lnB w="9525" cap="flat" cmpd="sng" algn="ctr">
                      <a:solidFill>
                        <a:srgbClr val="D8DEE9"/>
                      </a:solidFill>
                      <a:prstDash val="solid"/>
                      <a:round/>
                      <a:headEnd type="none" w="med" len="med"/>
                      <a:tailEnd type="none" w="med" len="med"/>
                    </a:lnB>
                    <a:solidFill>
                      <a:srgbClr val="1E2A45"/>
                    </a:solidFill>
                  </a:tcPr>
                </a:tc>
              </a:tr>
              <a:tr h="0">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evaluate_draft (max)</a:t>
                      </a:r>
                      <a:endParaRPr lang="en-US" sz="1150" dirty="0">
                        <a:latin typeface="Calibri" charset="0"/>
                        <a:ea typeface="Calibri" charset="0"/>
                        <a:cs typeface="Calibri" charset="0"/>
                      </a:endParaRPr>
                    </a:p>
                  </a:txBody>
                  <a:tcPr marL="36576" marR="36576" marT="36576" marB="36576" anchor="ctr">
                    <a:lnL w="9525" cap="flat" cmpd="sng" algn="ctr">
                      <a:solidFill>
                        <a:srgbClr val="D8DEE9"/>
                      </a:solidFill>
                      <a:prstDash val="solid"/>
                      <a:round/>
                      <a:headEnd type="none" w="med" len="med"/>
                      <a:tailEnd type="none" w="med" len="med"/>
                    </a:lnL>
                    <a:lnR w="9525" cap="flat" cmpd="sng" algn="ctr">
                      <a:solidFill>
                        <a:srgbClr val="D8DEE9"/>
                      </a:solidFill>
                      <a:prstDash val="solid"/>
                      <a:round/>
                      <a:headEnd type="none" w="med" len="med"/>
                      <a:tailEnd type="none" w="med" len="med"/>
                    </a:lnR>
                    <a:lnT w="9525" cap="flat" cmpd="sng" algn="ctr">
                      <a:solidFill>
                        <a:srgbClr val="D8DEE9"/>
                      </a:solidFill>
                      <a:prstDash val="solid"/>
                      <a:round/>
                      <a:headEnd type="none" w="med" len="med"/>
                      <a:tailEnd type="none" w="med" len="med"/>
                    </a:lnT>
                    <a:lnB w="9525" cap="flat" cmpd="sng" algn="ctr">
                      <a:solidFill>
                        <a:srgbClr val="D8DEE9"/>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21.7s — the judge outweighs the writer</a:t>
                      </a:r>
                      <a:endParaRPr lang="en-US" sz="1150" dirty="0">
                        <a:latin typeface="Calibri" charset="0"/>
                        <a:ea typeface="Calibri" charset="0"/>
                        <a:cs typeface="Calibri" charset="0"/>
                      </a:endParaRPr>
                    </a:p>
                  </a:txBody>
                  <a:tcPr marL="36576" marR="36576" marT="36576" marB="36576" anchor="ctr">
                    <a:lnL w="9525" cap="flat" cmpd="sng" algn="ctr">
                      <a:solidFill>
                        <a:srgbClr val="D8DEE9"/>
                      </a:solidFill>
                      <a:prstDash val="solid"/>
                      <a:round/>
                      <a:headEnd type="none" w="med" len="med"/>
                      <a:tailEnd type="none" w="med" len="med"/>
                    </a:lnL>
                    <a:lnR w="9525" cap="flat" cmpd="sng" algn="ctr">
                      <a:solidFill>
                        <a:srgbClr val="D8DEE9"/>
                      </a:solidFill>
                      <a:prstDash val="solid"/>
                      <a:round/>
                      <a:headEnd type="none" w="med" len="med"/>
                      <a:tailEnd type="none" w="med" len="med"/>
                    </a:lnR>
                    <a:lnT w="9525" cap="flat" cmpd="sng" algn="ctr">
                      <a:solidFill>
                        <a:srgbClr val="D8DEE9"/>
                      </a:solidFill>
                      <a:prstDash val="solid"/>
                      <a:round/>
                      <a:headEnd type="none" w="med" len="med"/>
                      <a:tailEnd type="none" w="med" len="med"/>
                    </a:lnT>
                    <a:lnB w="9525" cap="flat" cmpd="sng" algn="ctr">
                      <a:solidFill>
                        <a:srgbClr val="D8DEE9"/>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run_tool_with_llm_recovery</a:t>
                      </a:r>
                      <a:endParaRPr lang="en-US" sz="1150" dirty="0">
                        <a:latin typeface="Calibri" charset="0"/>
                        <a:ea typeface="Calibri" charset="0"/>
                        <a:cs typeface="Calibri" charset="0"/>
                      </a:endParaRPr>
                    </a:p>
                  </a:txBody>
                  <a:tcPr marL="36576" marR="36576" marT="36576" marB="36576" anchor="ctr">
                    <a:lnL w="9525" cap="flat" cmpd="sng" algn="ctr">
                      <a:solidFill>
                        <a:srgbClr val="D8DEE9"/>
                      </a:solidFill>
                      <a:prstDash val="solid"/>
                      <a:round/>
                      <a:headEnd type="none" w="med" len="med"/>
                      <a:tailEnd type="none" w="med" len="med"/>
                    </a:lnL>
                    <a:lnR w="9525" cap="flat" cmpd="sng" algn="ctr">
                      <a:solidFill>
                        <a:srgbClr val="D8DEE9"/>
                      </a:solidFill>
                      <a:prstDash val="solid"/>
                      <a:round/>
                      <a:headEnd type="none" w="med" len="med"/>
                      <a:tailEnd type="none" w="med" len="med"/>
                    </a:lnR>
                    <a:lnT w="9525" cap="flat" cmpd="sng" algn="ctr">
                      <a:solidFill>
                        <a:srgbClr val="D8DEE9"/>
                      </a:solidFill>
                      <a:prstDash val="solid"/>
                      <a:round/>
                      <a:headEnd type="none" w="med" len="med"/>
                      <a:tailEnd type="none" w="med" len="med"/>
                    </a:lnT>
                    <a:lnB w="9525" cap="flat" cmpd="sng" algn="ctr">
                      <a:solidFill>
                        <a:srgbClr val="D8DEE9"/>
                      </a:solidFill>
                      <a:prstDash val="solid"/>
                      <a:round/>
                      <a:headEnd type="none" w="med" len="med"/>
                      <a:tailEnd type="none" w="med" len="med"/>
                    </a:lnB>
                    <a:solidFill>
                      <a:srgbClr val="F4F6FA"/>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35.3s — two model calls by design</a:t>
                      </a:r>
                      <a:endParaRPr lang="en-US" sz="1150" dirty="0">
                        <a:latin typeface="Calibri" charset="0"/>
                        <a:ea typeface="Calibri" charset="0"/>
                        <a:cs typeface="Calibri" charset="0"/>
                      </a:endParaRPr>
                    </a:p>
                  </a:txBody>
                  <a:tcPr marL="36576" marR="36576" marT="36576" marB="36576" anchor="ctr">
                    <a:lnL w="9525" cap="flat" cmpd="sng" algn="ctr">
                      <a:solidFill>
                        <a:srgbClr val="D8DEE9"/>
                      </a:solidFill>
                      <a:prstDash val="solid"/>
                      <a:round/>
                      <a:headEnd type="none" w="med" len="med"/>
                      <a:tailEnd type="none" w="med" len="med"/>
                    </a:lnL>
                    <a:lnR w="9525" cap="flat" cmpd="sng" algn="ctr">
                      <a:solidFill>
                        <a:srgbClr val="D8DEE9"/>
                      </a:solidFill>
                      <a:prstDash val="solid"/>
                      <a:round/>
                      <a:headEnd type="none" w="med" len="med"/>
                      <a:tailEnd type="none" w="med" len="med"/>
                    </a:lnR>
                    <a:lnT w="9525" cap="flat" cmpd="sng" algn="ctr">
                      <a:solidFill>
                        <a:srgbClr val="D8DEE9"/>
                      </a:solidFill>
                      <a:prstDash val="solid"/>
                      <a:round/>
                      <a:headEnd type="none" w="med" len="med"/>
                      <a:tailEnd type="none" w="med" len="med"/>
                    </a:lnT>
                    <a:lnB w="9525" cap="flat" cmpd="sng" algn="ctr">
                      <a:solidFill>
                        <a:srgbClr val="D8DEE9"/>
                      </a:solidFill>
                      <a:prstDash val="solid"/>
                      <a:round/>
                      <a:headEnd type="none" w="med" len="med"/>
                      <a:tailEnd type="none" w="med" len="med"/>
                    </a:lnB>
                    <a:solidFill>
                      <a:srgbClr val="F4F6FA"/>
                    </a:solidFill>
                  </a:tcPr>
                </a:tc>
              </a:tr>
              <a:tr h="0">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classify_request</a:t>
                      </a:r>
                      <a:endParaRPr lang="en-US" sz="1150" dirty="0">
                        <a:latin typeface="Calibri" charset="0"/>
                        <a:ea typeface="Calibri" charset="0"/>
                        <a:cs typeface="Calibri" charset="0"/>
                      </a:endParaRPr>
                    </a:p>
                  </a:txBody>
                  <a:tcPr marL="36576" marR="36576" marT="36576" marB="36576" anchor="ctr">
                    <a:lnL w="9525" cap="flat" cmpd="sng" algn="ctr">
                      <a:solidFill>
                        <a:srgbClr val="D8DEE9"/>
                      </a:solidFill>
                      <a:prstDash val="solid"/>
                      <a:round/>
                      <a:headEnd type="none" w="med" len="med"/>
                      <a:tailEnd type="none" w="med" len="med"/>
                    </a:lnL>
                    <a:lnR w="9525" cap="flat" cmpd="sng" algn="ctr">
                      <a:solidFill>
                        <a:srgbClr val="D8DEE9"/>
                      </a:solidFill>
                      <a:prstDash val="solid"/>
                      <a:round/>
                      <a:headEnd type="none" w="med" len="med"/>
                      <a:tailEnd type="none" w="med" len="med"/>
                    </a:lnR>
                    <a:lnT w="9525" cap="flat" cmpd="sng" algn="ctr">
                      <a:solidFill>
                        <a:srgbClr val="D8DEE9"/>
                      </a:solidFill>
                      <a:prstDash val="solid"/>
                      <a:round/>
                      <a:headEnd type="none" w="med" len="med"/>
                      <a:tailEnd type="none" w="med" len="med"/>
                    </a:lnT>
                    <a:lnB w="9525" cap="flat" cmpd="sng" algn="ctr">
                      <a:solidFill>
                        <a:srgbClr val="D8DEE9"/>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11.4s</a:t>
                      </a:r>
                      <a:endParaRPr lang="en-US" sz="1150" dirty="0">
                        <a:latin typeface="Calibri" charset="0"/>
                        <a:ea typeface="Calibri" charset="0"/>
                        <a:cs typeface="Calibri" charset="0"/>
                      </a:endParaRPr>
                    </a:p>
                  </a:txBody>
                  <a:tcPr marL="36576" marR="36576" marT="36576" marB="36576" anchor="ctr">
                    <a:lnL w="9525" cap="flat" cmpd="sng" algn="ctr">
                      <a:solidFill>
                        <a:srgbClr val="D8DEE9"/>
                      </a:solidFill>
                      <a:prstDash val="solid"/>
                      <a:round/>
                      <a:headEnd type="none" w="med" len="med"/>
                      <a:tailEnd type="none" w="med" len="med"/>
                    </a:lnL>
                    <a:lnR w="9525" cap="flat" cmpd="sng" algn="ctr">
                      <a:solidFill>
                        <a:srgbClr val="D8DEE9"/>
                      </a:solidFill>
                      <a:prstDash val="solid"/>
                      <a:round/>
                      <a:headEnd type="none" w="med" len="med"/>
                      <a:tailEnd type="none" w="med" len="med"/>
                    </a:lnR>
                    <a:lnT w="9525" cap="flat" cmpd="sng" algn="ctr">
                      <a:solidFill>
                        <a:srgbClr val="D8DEE9"/>
                      </a:solidFill>
                      <a:prstDash val="solid"/>
                      <a:round/>
                      <a:headEnd type="none" w="med" len="med"/>
                      <a:tailEnd type="none" w="med" len="med"/>
                    </a:lnT>
                    <a:lnB w="9525" cap="flat" cmpd="sng" algn="ctr">
                      <a:solidFill>
                        <a:srgbClr val="D8DEE9"/>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compose_draft</a:t>
                      </a:r>
                      <a:endParaRPr lang="en-US" sz="1150" dirty="0">
                        <a:latin typeface="Calibri" charset="0"/>
                        <a:ea typeface="Calibri" charset="0"/>
                        <a:cs typeface="Calibri" charset="0"/>
                      </a:endParaRPr>
                    </a:p>
                  </a:txBody>
                  <a:tcPr marL="36576" marR="36576" marT="36576" marB="36576" anchor="ctr">
                    <a:lnL w="9525" cap="flat" cmpd="sng" algn="ctr">
                      <a:solidFill>
                        <a:srgbClr val="D8DEE9"/>
                      </a:solidFill>
                      <a:prstDash val="solid"/>
                      <a:round/>
                      <a:headEnd type="none" w="med" len="med"/>
                      <a:tailEnd type="none" w="med" len="med"/>
                    </a:lnL>
                    <a:lnR w="9525" cap="flat" cmpd="sng" algn="ctr">
                      <a:solidFill>
                        <a:srgbClr val="D8DEE9"/>
                      </a:solidFill>
                      <a:prstDash val="solid"/>
                      <a:round/>
                      <a:headEnd type="none" w="med" len="med"/>
                      <a:tailEnd type="none" w="med" len="med"/>
                    </a:lnR>
                    <a:lnT w="9525" cap="flat" cmpd="sng" algn="ctr">
                      <a:solidFill>
                        <a:srgbClr val="D8DEE9"/>
                      </a:solidFill>
                      <a:prstDash val="solid"/>
                      <a:round/>
                      <a:headEnd type="none" w="med" len="med"/>
                      <a:tailEnd type="none" w="med" len="med"/>
                    </a:lnT>
                    <a:lnB w="9525" cap="flat" cmpd="sng" algn="ctr">
                      <a:solidFill>
                        <a:srgbClr val="D8DEE9"/>
                      </a:solidFill>
                      <a:prstDash val="solid"/>
                      <a:round/>
                      <a:headEnd type="none" w="med" len="med"/>
                      <a:tailEnd type="none" w="med" len="med"/>
                    </a:lnB>
                    <a:solidFill>
                      <a:srgbClr val="F4F6FA"/>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3.3s</a:t>
                      </a:r>
                      <a:endParaRPr lang="en-US" sz="1150" dirty="0">
                        <a:latin typeface="Calibri" charset="0"/>
                        <a:ea typeface="Calibri" charset="0"/>
                        <a:cs typeface="Calibri" charset="0"/>
                      </a:endParaRPr>
                    </a:p>
                  </a:txBody>
                  <a:tcPr marL="36576" marR="36576" marT="36576" marB="36576" anchor="ctr">
                    <a:lnL w="9525" cap="flat" cmpd="sng" algn="ctr">
                      <a:solidFill>
                        <a:srgbClr val="D8DEE9"/>
                      </a:solidFill>
                      <a:prstDash val="solid"/>
                      <a:round/>
                      <a:headEnd type="none" w="med" len="med"/>
                      <a:tailEnd type="none" w="med" len="med"/>
                    </a:lnL>
                    <a:lnR w="9525" cap="flat" cmpd="sng" algn="ctr">
                      <a:solidFill>
                        <a:srgbClr val="D8DEE9"/>
                      </a:solidFill>
                      <a:prstDash val="solid"/>
                      <a:round/>
                      <a:headEnd type="none" w="med" len="med"/>
                      <a:tailEnd type="none" w="med" len="med"/>
                    </a:lnR>
                    <a:lnT w="9525" cap="flat" cmpd="sng" algn="ctr">
                      <a:solidFill>
                        <a:srgbClr val="D8DEE9"/>
                      </a:solidFill>
                      <a:prstDash val="solid"/>
                      <a:round/>
                      <a:headEnd type="none" w="med" len="med"/>
                      <a:tailEnd type="none" w="med" len="med"/>
                    </a:lnT>
                    <a:lnB w="9525" cap="flat" cmpd="sng" algn="ctr">
                      <a:solidFill>
                        <a:srgbClr val="D8DEE9"/>
                      </a:solidFill>
                      <a:prstDash val="solid"/>
                      <a:round/>
                      <a:headEnd type="none" w="med" len="med"/>
                      <a:tailEnd type="none" w="med" len="med"/>
                    </a:lnB>
                    <a:solidFill>
                      <a:srgbClr val="F4F6FA"/>
                    </a:solidFill>
                  </a:tcPr>
                </a:tc>
              </a:tr>
            </a:tbl>
          </a:graphicData>
        </a:graphic>
      </p:graphicFrame>
      <p:sp>
        <p:nvSpPr>
          <p:cNvPr id="4" name="Text 1"/>
          <p:cNvSpPr/>
          <p:nvPr/>
        </p:nvSpPr>
        <p:spPr>
          <a:xfrm>
            <a:off x="6492240" y="1234440"/>
            <a:ext cx="5120640" cy="365760"/>
          </a:xfrm>
          <a:prstGeom prst="rect">
            <a:avLst/>
          </a:prstGeom>
          <a:noFill/>
          <a:ln/>
        </p:spPr>
        <p:txBody>
          <a:bodyPr wrap="square" lIns="0" tIns="0" rIns="0" bIns="0" rtlCol="0" anchor="ctr"/>
          <a:lstStyle/>
          <a:p>
            <a:pPr indent="0" marL="0">
              <a:buNone/>
            </a:pPr>
            <a:r>
              <a:rPr lang="en-US" sz="1400" b="1" dirty="0">
                <a:solidFill>
                  <a:srgbClr val="1E2A45"/>
                </a:solidFill>
                <a:latin typeface="Arial" pitchFamily="34" charset="0"/>
                <a:ea typeface="Arial" pitchFamily="34" charset="-122"/>
                <a:cs typeface="Arial" pitchFamily="34" charset="-120"/>
              </a:rPr>
              <a:t>Free-tier arithmetic</a:t>
            </a:r>
            <a:endParaRPr lang="en-US" sz="1400" dirty="0"/>
          </a:p>
        </p:txBody>
      </p:sp>
      <p:sp>
        <p:nvSpPr>
          <p:cNvPr id="5" name="Text 2"/>
          <p:cNvSpPr/>
          <p:nvPr/>
        </p:nvSpPr>
        <p:spPr>
          <a:xfrm>
            <a:off x="6492240" y="1645920"/>
            <a:ext cx="5120640" cy="2926080"/>
          </a:xfrm>
          <a:prstGeom prst="rect">
            <a:avLst/>
          </a:prstGeom>
          <a:noFill/>
          <a:ln/>
        </p:spPr>
        <p:txBody>
          <a:bodyPr wrap="square" lIns="0" tIns="0" rIns="0" bIns="0" rtlCol="0" anchor="t"/>
          <a:lstStyle/>
          <a:p>
            <a:pPr algn="l" marL="127000" indent="-127000">
              <a:spcAft>
                <a:spcPts val="1000"/>
              </a:spcAft>
              <a:buSzPct val="100000"/>
              <a:buChar char="•"/>
            </a:pPr>
            <a:r>
              <a:rPr lang="en-US" sz="1250" dirty="0">
                <a:solidFill>
                  <a:srgbClr val="1A2233"/>
                </a:solidFill>
                <a:latin typeface="Calibri" pitchFamily="34" charset="0"/>
                <a:ea typeface="Calibri" pitchFamily="34" charset="-122"/>
                <a:cs typeface="Calibri" pitchFamily="34" charset="-120"/>
              </a:rPr>
              <a:t>200K tokens/day per model on the free tier — 8K per minute.</a:t>
            </a:r>
            <a:endParaRPr lang="en-US" sz="1250" dirty="0"/>
          </a:p>
          <a:p>
            <a:pPr algn="l" marL="127000" indent="-127000">
              <a:spcAft>
                <a:spcPts val="1000"/>
              </a:spcAft>
              <a:buSzPct val="100000"/>
              <a:buChar char="•"/>
            </a:pPr>
            <a:r>
              <a:rPr lang="en-US" sz="1250" dirty="0">
                <a:solidFill>
                  <a:srgbClr val="1A2233"/>
                </a:solidFill>
                <a:latin typeface="Calibri" pitchFamily="34" charset="0"/>
                <a:ea typeface="Calibri" pitchFamily="34" charset="-122"/>
                <a:cs typeface="Calibri" pitchFamily="34" charset="-120"/>
              </a:rPr>
              <a:t>One agentic request ≈ 5–10K tokens (memory + triage + supervisor + worker round trip).</a:t>
            </a:r>
            <a:endParaRPr lang="en-US" sz="1250" dirty="0"/>
          </a:p>
          <a:p>
            <a:pPr algn="l" marL="127000" indent="-127000">
              <a:spcAft>
                <a:spcPts val="1000"/>
              </a:spcAft>
              <a:buSzPct val="100000"/>
              <a:buChar char="•"/>
            </a:pPr>
            <a:r>
              <a:rPr lang="en-US" sz="1250" dirty="0">
                <a:solidFill>
                  <a:srgbClr val="1A2233"/>
                </a:solidFill>
                <a:latin typeface="Calibri" pitchFamily="34" charset="0"/>
                <a:ea typeface="Calibri" pitchFamily="34" charset="-122"/>
                <a:cs typeface="Calibri" pitchFamily="34" charset="-120"/>
              </a:rPr>
              <a:t>One live suite run ≈ 30–50K — which is exactly why the offline/live split (-m "not api") exists.</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2026-08-19T23:52:38Z</dcterms:created>
  <dcterms:modified xsi:type="dcterms:W3CDTF">2026-08-19T23:52:38Z</dcterms:modified>
</cp:coreProperties>
</file>